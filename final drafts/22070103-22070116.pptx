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0" roundtripDataSignature="AMtx7mh79cljurxnw+eWhuSF0MisUI7g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3459BB-3F7C-4962-BC80-356C0449B5BC}">
  <a:tblStyle styleId="{903459BB-3F7C-4962-BC80-356C0449B5BC}" styleName="Table_0">
    <a:wholeTbl>
      <a:tcTxStyle b="off" i="off">
        <a:font>
          <a:latin typeface="Times New Roman"/>
          <a:ea typeface="Times New Roman"/>
          <a:cs typeface="Times New Roman"/>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Times New Roman"/>
          <a:ea typeface="Times New Roman"/>
          <a:cs typeface="Times New Roman"/>
        </a:font>
        <a:schemeClr val="lt1"/>
      </a:tcTxStyle>
      <a:tcStyle>
        <a:fill>
          <a:solidFill>
            <a:schemeClr val="accent1"/>
          </a:solidFill>
        </a:fill>
      </a:tcStyle>
    </a:lastCol>
    <a:firstCol>
      <a:tcTxStyle b="on" i="off">
        <a:font>
          <a:latin typeface="Times New Roman"/>
          <a:ea typeface="Times New Roman"/>
          <a:cs typeface="Times New Roman"/>
        </a:font>
        <a:schemeClr val="lt1"/>
      </a:tcTxStyle>
      <a:tcStyle>
        <a:fill>
          <a:solidFill>
            <a:schemeClr val="accent1"/>
          </a:solidFill>
        </a:fill>
      </a:tcStyle>
    </a:firstCol>
    <a:lastRow>
      <a:tcTxStyle b="on" i="off">
        <a:font>
          <a:latin typeface="Times New Roman"/>
          <a:ea typeface="Times New Roman"/>
          <a:cs typeface="Times New Roman"/>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imes New Roman"/>
          <a:ea typeface="Times New Roman"/>
          <a:cs typeface="Times New Roman"/>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0B959307-40F0-4002-B6A9-FD7818EFAF6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7267da1b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f7267da1b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f7267da1b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7267da1b4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7267da1b4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f7267da1b4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7267da1b4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f7267da1b4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9a54c778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f9a54c778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lvl1pPr indent="0" lvl="0" marL="0" algn="ctr">
              <a:spcBef>
                <a:spcPts val="0"/>
              </a:spcBef>
              <a:buNone/>
              <a:defRPr b="0" i="0" sz="1200" u="none" cap="none" strike="noStrike">
                <a:solidFill>
                  <a:schemeClr val="lt1"/>
                </a:solidFill>
                <a:latin typeface="Times New Roman"/>
                <a:ea typeface="Times New Roman"/>
                <a:cs typeface="Times New Roman"/>
                <a:sym typeface="Times New Roman"/>
              </a:defRPr>
            </a:lvl1pPr>
            <a:lvl2pPr indent="0" lvl="1" marL="0" algn="ctr">
              <a:spcBef>
                <a:spcPts val="0"/>
              </a:spcBef>
              <a:buNone/>
              <a:defRPr b="0" i="0" sz="1200" u="none" cap="none" strike="noStrike">
                <a:solidFill>
                  <a:schemeClr val="lt1"/>
                </a:solidFill>
                <a:latin typeface="Times New Roman"/>
                <a:ea typeface="Times New Roman"/>
                <a:cs typeface="Times New Roman"/>
                <a:sym typeface="Times New Roman"/>
              </a:defRPr>
            </a:lvl2pPr>
            <a:lvl3pPr indent="0" lvl="2" marL="0" algn="ctr">
              <a:spcBef>
                <a:spcPts val="0"/>
              </a:spcBef>
              <a:buNone/>
              <a:defRPr b="0" i="0" sz="1200" u="none" cap="none" strike="noStrike">
                <a:solidFill>
                  <a:schemeClr val="lt1"/>
                </a:solidFill>
                <a:latin typeface="Times New Roman"/>
                <a:ea typeface="Times New Roman"/>
                <a:cs typeface="Times New Roman"/>
                <a:sym typeface="Times New Roman"/>
              </a:defRPr>
            </a:lvl3pPr>
            <a:lvl4pPr indent="0" lvl="3" marL="0" algn="ctr">
              <a:spcBef>
                <a:spcPts val="0"/>
              </a:spcBef>
              <a:buNone/>
              <a:defRPr b="0" i="0" sz="1200" u="none" cap="none" strike="noStrike">
                <a:solidFill>
                  <a:schemeClr val="lt1"/>
                </a:solidFill>
                <a:latin typeface="Times New Roman"/>
                <a:ea typeface="Times New Roman"/>
                <a:cs typeface="Times New Roman"/>
                <a:sym typeface="Times New Roman"/>
              </a:defRPr>
            </a:lvl4pPr>
            <a:lvl5pPr indent="0" lvl="4" marL="0" algn="ctr">
              <a:spcBef>
                <a:spcPts val="0"/>
              </a:spcBef>
              <a:buNone/>
              <a:defRPr b="0" i="0" sz="1200" u="none" cap="none" strike="noStrike">
                <a:solidFill>
                  <a:schemeClr val="lt1"/>
                </a:solidFill>
                <a:latin typeface="Times New Roman"/>
                <a:ea typeface="Times New Roman"/>
                <a:cs typeface="Times New Roman"/>
                <a:sym typeface="Times New Roman"/>
              </a:defRPr>
            </a:lvl5pPr>
            <a:lvl6pPr indent="0" lvl="5" marL="0" algn="ctr">
              <a:spcBef>
                <a:spcPts val="0"/>
              </a:spcBef>
              <a:buNone/>
              <a:defRPr b="0" i="0" sz="1200" u="none" cap="none" strike="noStrike">
                <a:solidFill>
                  <a:schemeClr val="lt1"/>
                </a:solidFill>
                <a:latin typeface="Times New Roman"/>
                <a:ea typeface="Times New Roman"/>
                <a:cs typeface="Times New Roman"/>
                <a:sym typeface="Times New Roman"/>
              </a:defRPr>
            </a:lvl6pPr>
            <a:lvl7pPr indent="0" lvl="6" marL="0" algn="ctr">
              <a:spcBef>
                <a:spcPts val="0"/>
              </a:spcBef>
              <a:buNone/>
              <a:defRPr b="0" i="0" sz="1200" u="none" cap="none" strike="noStrike">
                <a:solidFill>
                  <a:schemeClr val="lt1"/>
                </a:solidFill>
                <a:latin typeface="Times New Roman"/>
                <a:ea typeface="Times New Roman"/>
                <a:cs typeface="Times New Roman"/>
                <a:sym typeface="Times New Roman"/>
              </a:defRPr>
            </a:lvl7pPr>
            <a:lvl8pPr indent="0" lvl="7" marL="0" algn="ctr">
              <a:spcBef>
                <a:spcPts val="0"/>
              </a:spcBef>
              <a:buNone/>
              <a:defRPr b="0" i="0" sz="1200" u="none" cap="none" strike="noStrike">
                <a:solidFill>
                  <a:schemeClr val="lt1"/>
                </a:solidFill>
                <a:latin typeface="Times New Roman"/>
                <a:ea typeface="Times New Roman"/>
                <a:cs typeface="Times New Roman"/>
                <a:sym typeface="Times New Roman"/>
              </a:defRPr>
            </a:lvl8pPr>
            <a:lvl9pPr indent="0" lvl="8" marL="0" algn="ctr">
              <a:spcBef>
                <a:spcPts val="0"/>
              </a:spcBef>
              <a:buNone/>
              <a:defRPr b="0" i="0" sz="1200" u="none" cap="none" strike="noStrike">
                <a:solidFill>
                  <a:schemeClr val="lt1"/>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3"/>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2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4"/>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2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5"/>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5"/>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2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2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2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8"/>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8"/>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p:nvPr>
            <p:ph idx="2" type="pic"/>
          </p:nvPr>
        </p:nvSpPr>
        <p:spPr>
          <a:xfrm>
            <a:off x="5183188" y="987425"/>
            <a:ext cx="6172200" cy="4873625"/>
          </a:xfrm>
          <a:prstGeom prst="rect">
            <a:avLst/>
          </a:prstGeom>
          <a:noFill/>
          <a:ln>
            <a:noFill/>
          </a:ln>
        </p:spPr>
      </p:sp>
      <p:sp>
        <p:nvSpPr>
          <p:cNvPr id="68" name="Google Shape;6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1"/>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2" name="Google Shape;1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21"/>
          <p:cNvSpPr txBox="1"/>
          <p:nvPr>
            <p:ph idx="11" type="ftr"/>
          </p:nvPr>
        </p:nvSpPr>
        <p:spPr>
          <a:xfrm>
            <a:off x="7845056" y="631190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21"/>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4295776" y="1698484"/>
            <a:ext cx="3333750" cy="58453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Mohammad Mazharul Alam</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30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Roll No:</a:t>
            </a:r>
            <a:r>
              <a:rPr b="1" i="0" lang="en-US" sz="1800" u="none" cap="none" strike="noStrike">
                <a:solidFill>
                  <a:srgbClr val="555555"/>
                </a:solidFill>
                <a:latin typeface="Times New Roman"/>
                <a:ea typeface="Times New Roman"/>
                <a:cs typeface="Times New Roman"/>
                <a:sym typeface="Times New Roman"/>
              </a:rPr>
              <a:t> 22070116</a:t>
            </a:r>
            <a:endParaRPr/>
          </a:p>
          <a:p>
            <a:pPr indent="0" lvl="0" marL="0" marR="0" rtl="0" algn="ctr">
              <a:lnSpc>
                <a:spcPct val="100000"/>
              </a:lnSpc>
              <a:spcBef>
                <a:spcPts val="300"/>
              </a:spcBef>
              <a:spcAft>
                <a:spcPts val="0"/>
              </a:spcAft>
              <a:buClr>
                <a:srgbClr val="555555"/>
              </a:buClr>
              <a:buSzPts val="1800"/>
              <a:buFont typeface="Arial"/>
              <a:buNone/>
            </a:pPr>
            <a:r>
              <a:rPr b="1" i="0" lang="en-US" sz="1800" u="none" cap="none" strike="noStrike">
                <a:solidFill>
                  <a:srgbClr val="555555"/>
                </a:solidFill>
                <a:latin typeface="Calibri"/>
                <a:ea typeface="Calibri"/>
                <a:cs typeface="Calibri"/>
                <a:sym typeface="Calibri"/>
              </a:rPr>
              <a:t>&amp;</a:t>
            </a:r>
            <a:endParaRPr/>
          </a:p>
          <a:p>
            <a:pPr indent="0" lvl="0" marL="0" marR="0" rtl="0" algn="ctr">
              <a:lnSpc>
                <a:spcPct val="100000"/>
              </a:lnSpc>
              <a:spcBef>
                <a:spcPts val="300"/>
              </a:spcBef>
              <a:spcAft>
                <a:spcPts val="0"/>
              </a:spcAft>
              <a:buClr>
                <a:srgbClr val="1A1A1A"/>
              </a:buClr>
              <a:buSzPts val="1800"/>
              <a:buFont typeface="Arial"/>
              <a:buNone/>
            </a:pPr>
            <a:r>
              <a:rPr b="1" i="0" lang="en-US" sz="1800" u="none" cap="none" strike="noStrike">
                <a:solidFill>
                  <a:srgbClr val="1A1A1A"/>
                </a:solidFill>
                <a:latin typeface="Times New Roman"/>
                <a:ea typeface="Times New Roman"/>
                <a:cs typeface="Times New Roman"/>
                <a:sym typeface="Times New Roman"/>
              </a:rPr>
              <a:t>Md. Aftabul Islam</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Clr>
                <a:srgbClr val="555555"/>
              </a:buClr>
              <a:buSzPts val="1800"/>
              <a:buFont typeface="Arial"/>
              <a:buNone/>
            </a:pPr>
            <a:r>
              <a:rPr b="1" i="0" lang="en-US" sz="1800" u="none" cap="none" strike="noStrike">
                <a:solidFill>
                  <a:srgbClr val="555555"/>
                </a:solidFill>
                <a:latin typeface="Times New Roman"/>
                <a:ea typeface="Times New Roman"/>
                <a:cs typeface="Times New Roman"/>
                <a:sym typeface="Times New Roman"/>
              </a:rPr>
              <a:t>Roll No: 22070103</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90000"/>
              </a:lnSpc>
              <a:spcBef>
                <a:spcPts val="30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ctr">
              <a:lnSpc>
                <a:spcPct val="90000"/>
              </a:lnSpc>
              <a:spcBef>
                <a:spcPts val="30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ctr">
              <a:lnSpc>
                <a:spcPct val="90000"/>
              </a:lnSpc>
              <a:spcBef>
                <a:spcPts val="30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89" name="Google Shape;89;p1"/>
          <p:cNvSpPr txBox="1"/>
          <p:nvPr/>
        </p:nvSpPr>
        <p:spPr>
          <a:xfrm>
            <a:off x="2714844" y="3418784"/>
            <a:ext cx="6762303" cy="1911561"/>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chemeClr val="dk1"/>
              </a:buClr>
              <a:buSzPts val="1800"/>
              <a:buFont typeface="Arial"/>
              <a:buNone/>
            </a:pPr>
            <a:r>
              <a:rPr b="0" i="1" lang="en-US" sz="1800" u="none" cap="none" strike="noStrike">
                <a:solidFill>
                  <a:schemeClr val="dk1"/>
                </a:solidFill>
                <a:latin typeface="Times New Roman"/>
                <a:ea typeface="Times New Roman"/>
                <a:cs typeface="Times New Roman"/>
                <a:sym typeface="Times New Roman"/>
              </a:rPr>
              <a:t>Under the guidance of</a:t>
            </a:r>
            <a:endParaRPr/>
          </a:p>
          <a:p>
            <a:pPr indent="0" lvl="0" marL="0" marR="0" rtl="0" algn="ctr">
              <a:lnSpc>
                <a:spcPct val="90000"/>
              </a:lnSpc>
              <a:spcBef>
                <a:spcPts val="60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Mohammad Arif Hasan Chowdhury</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Assistant Professor,</a:t>
            </a:r>
            <a:endParaRPr/>
          </a:p>
          <a:p>
            <a:pPr indent="0" lvl="0" marL="0" marR="0" rtl="0" algn="ctr">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Department of CSE,FSET,USTC</a:t>
            </a:r>
            <a:endParaRPr b="0" i="0" sz="18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20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90" name="Google Shape;90;p1"/>
          <p:cNvSpPr txBox="1"/>
          <p:nvPr/>
        </p:nvSpPr>
        <p:spPr>
          <a:xfrm>
            <a:off x="3514431" y="5114176"/>
            <a:ext cx="5163127" cy="1311941"/>
          </a:xfrm>
          <a:prstGeom prst="rect">
            <a:avLst/>
          </a:prstGeom>
          <a:noFill/>
          <a:ln>
            <a:noFill/>
          </a:ln>
        </p:spPr>
        <p:txBody>
          <a:bodyPr anchorCtr="0" anchor="t" bIns="45700" lIns="91425" spcFirstLastPara="1" rIns="91425" wrap="square" tIns="45700">
            <a:normAutofit fontScale="47500" lnSpcReduction="20000"/>
          </a:bodyPr>
          <a:lstStyle/>
          <a:p>
            <a:pPr indent="0" lvl="0" marL="0" marR="0" rtl="0" algn="ctr">
              <a:lnSpc>
                <a:spcPct val="90000"/>
              </a:lnSpc>
              <a:spcBef>
                <a:spcPts val="0"/>
              </a:spcBef>
              <a:spcAft>
                <a:spcPts val="0"/>
              </a:spcAft>
              <a:buClr>
                <a:schemeClr val="dk1"/>
              </a:buClr>
              <a:buSzPct val="100000"/>
              <a:buFont typeface="Arial"/>
              <a:buNone/>
            </a:pPr>
            <a:r>
              <a:rPr b="1" i="0" lang="en-US" sz="3200" u="none" cap="none" strike="noStrike">
                <a:solidFill>
                  <a:schemeClr val="dk1"/>
                </a:solidFill>
                <a:latin typeface="Times New Roman"/>
                <a:ea typeface="Times New Roman"/>
                <a:cs typeface="Times New Roman"/>
                <a:sym typeface="Times New Roman"/>
              </a:rPr>
              <a:t>Department of Computer Science and Engineering</a:t>
            </a:r>
            <a:endParaRPr/>
          </a:p>
          <a:p>
            <a:pPr indent="0" lvl="0" marL="0" marR="0" rtl="0" algn="ctr">
              <a:lnSpc>
                <a:spcPct val="90000"/>
              </a:lnSpc>
              <a:spcBef>
                <a:spcPts val="500"/>
              </a:spcBef>
              <a:spcAft>
                <a:spcPts val="0"/>
              </a:spcAft>
              <a:buClr>
                <a:schemeClr val="dk1"/>
              </a:buClr>
              <a:buSzPct val="100000"/>
              <a:buFont typeface="Arial"/>
              <a:buNone/>
            </a:pPr>
            <a:r>
              <a:rPr b="1" i="0" lang="en-US" sz="3200" u="none" cap="none" strike="noStrike">
                <a:solidFill>
                  <a:schemeClr val="dk1"/>
                </a:solidFill>
                <a:latin typeface="Times New Roman"/>
                <a:ea typeface="Times New Roman"/>
                <a:cs typeface="Times New Roman"/>
                <a:sym typeface="Times New Roman"/>
              </a:rPr>
              <a:t>University of Science and Technology Chittagong (USTC)</a:t>
            </a:r>
            <a:endParaRPr/>
          </a:p>
          <a:p>
            <a:pPr indent="0" lvl="0" marL="0" marR="0" rtl="0" algn="ctr">
              <a:lnSpc>
                <a:spcPct val="90000"/>
              </a:lnSpc>
              <a:spcBef>
                <a:spcPts val="600"/>
              </a:spcBef>
              <a:spcAft>
                <a:spcPts val="0"/>
              </a:spcAft>
              <a:buClr>
                <a:schemeClr val="dk1"/>
              </a:buClr>
              <a:buSzPct val="100000"/>
              <a:buFont typeface="Arial"/>
              <a:buNone/>
            </a:pPr>
            <a:r>
              <a:rPr b="0" i="0" lang="en-US" sz="3200" u="none" cap="none" strike="noStrike">
                <a:solidFill>
                  <a:schemeClr val="dk1"/>
                </a:solidFill>
                <a:latin typeface="Times New Roman"/>
                <a:ea typeface="Times New Roman"/>
                <a:cs typeface="Times New Roman"/>
                <a:sym typeface="Times New Roman"/>
              </a:rPr>
              <a:t>Foy’s Lake, Khulshi, Chattogram -4202</a:t>
            </a:r>
            <a:endParaRPr/>
          </a:p>
          <a:p>
            <a:pPr indent="0" lvl="0" marL="0" marR="0" rtl="0" algn="ctr">
              <a:lnSpc>
                <a:spcPct val="90000"/>
              </a:lnSpc>
              <a:spcBef>
                <a:spcPts val="300"/>
              </a:spcBef>
              <a:spcAft>
                <a:spcPts val="0"/>
              </a:spcAft>
              <a:buClr>
                <a:schemeClr val="dk1"/>
              </a:buClr>
              <a:buSzPct val="100000"/>
              <a:buFont typeface="Arial"/>
              <a:buNone/>
            </a:pPr>
            <a:r>
              <a:rPr b="0" i="0" lang="en-US" sz="3200" u="none" cap="none" strike="noStrike">
                <a:solidFill>
                  <a:schemeClr val="dk1"/>
                </a:solidFill>
                <a:latin typeface="Times New Roman"/>
                <a:ea typeface="Times New Roman"/>
                <a:cs typeface="Times New Roman"/>
                <a:sym typeface="Times New Roman"/>
              </a:rPr>
              <a:t>Bangladesh</a:t>
            </a:r>
            <a:endParaRPr/>
          </a:p>
          <a:p>
            <a:pPr indent="0" lvl="0" marL="0" marR="0" rtl="0" algn="ctr">
              <a:lnSpc>
                <a:spcPct val="90000"/>
              </a:lnSpc>
              <a:spcBef>
                <a:spcPts val="1200"/>
              </a:spcBef>
              <a:spcAft>
                <a:spcPts val="0"/>
              </a:spcAft>
              <a:buClr>
                <a:srgbClr val="1E4E79"/>
              </a:buClr>
              <a:buSzPct val="100000"/>
              <a:buFont typeface="Arial"/>
              <a:buNone/>
            </a:pPr>
            <a:r>
              <a:rPr b="1" i="0" lang="en-US" sz="3200" u="none" cap="none" strike="noStrike">
                <a:solidFill>
                  <a:srgbClr val="1E4E79"/>
                </a:solidFill>
                <a:latin typeface="Times New Roman"/>
                <a:ea typeface="Times New Roman"/>
                <a:cs typeface="Times New Roman"/>
                <a:sym typeface="Times New Roman"/>
              </a:rPr>
              <a:t>16</a:t>
            </a:r>
            <a:r>
              <a:rPr b="1" baseline="30000" i="0" lang="en-US" sz="3200" u="none" cap="none" strike="noStrike">
                <a:solidFill>
                  <a:srgbClr val="1E4E79"/>
                </a:solidFill>
                <a:latin typeface="Times New Roman"/>
                <a:ea typeface="Times New Roman"/>
                <a:cs typeface="Times New Roman"/>
                <a:sym typeface="Times New Roman"/>
              </a:rPr>
              <a:t>th</a:t>
            </a:r>
            <a:r>
              <a:rPr b="1" i="0" lang="en-US" sz="3200" u="none" cap="none" strike="noStrike">
                <a:solidFill>
                  <a:srgbClr val="1E4E79"/>
                </a:solidFill>
                <a:latin typeface="Times New Roman"/>
                <a:ea typeface="Times New Roman"/>
                <a:cs typeface="Times New Roman"/>
                <a:sym typeface="Times New Roman"/>
              </a:rPr>
              <a:t> August 2026</a:t>
            </a:r>
            <a:endParaRPr b="0" i="0" sz="3200" u="none" cap="none" strike="noStrike">
              <a:solidFill>
                <a:schemeClr val="dk1"/>
              </a:solidFill>
              <a:latin typeface="Times New Roman"/>
              <a:ea typeface="Times New Roman"/>
              <a:cs typeface="Times New Roman"/>
              <a:sym typeface="Times New Roman"/>
            </a:endParaRPr>
          </a:p>
          <a:p>
            <a:pPr indent="0" lvl="0" marL="0" marR="0" rtl="0" algn="ctr">
              <a:lnSpc>
                <a:spcPct val="90000"/>
              </a:lnSpc>
              <a:spcBef>
                <a:spcPts val="1000"/>
              </a:spcBef>
              <a:spcAft>
                <a:spcPts val="0"/>
              </a:spcAft>
              <a:buClr>
                <a:schemeClr val="dk1"/>
              </a:buClr>
              <a:buSzPct val="1000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sp>
        <p:nvSpPr>
          <p:cNvPr id="91" name="Google Shape;91;p1"/>
          <p:cNvSpPr/>
          <p:nvPr/>
        </p:nvSpPr>
        <p:spPr>
          <a:xfrm>
            <a:off x="122548" y="108284"/>
            <a:ext cx="11802359" cy="878305"/>
          </a:xfrm>
          <a:prstGeom prst="roundRect">
            <a:avLst>
              <a:gd fmla="val 16667" name="adj"/>
            </a:avLst>
          </a:prstGeom>
          <a:noFill/>
          <a:ln>
            <a:noFill/>
          </a:ln>
          <a:effectLst>
            <a:outerShdw blurRad="57150" rotWithShape="0" algn="ctr" dir="5400000" dist="19050">
              <a:srgbClr val="000000">
                <a:alpha val="6313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200" u="none" cap="none" strike="noStrike">
              <a:solidFill>
                <a:schemeClr val="lt1"/>
              </a:solidFill>
              <a:latin typeface="Times New Roman"/>
              <a:ea typeface="Times New Roman"/>
              <a:cs typeface="Times New Roman"/>
              <a:sym typeface="Times New Roman"/>
            </a:endParaRPr>
          </a:p>
        </p:txBody>
      </p:sp>
      <p:sp>
        <p:nvSpPr>
          <p:cNvPr id="92" name="Google Shape;92;p1"/>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93" name="Google Shape;93;p1"/>
          <p:cNvSpPr txBox="1"/>
          <p:nvPr/>
        </p:nvSpPr>
        <p:spPr>
          <a:xfrm>
            <a:off x="179698" y="103840"/>
            <a:ext cx="11552545"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FFFFFF"/>
                </a:solidFill>
                <a:latin typeface="Times New Roman"/>
                <a:ea typeface="Times New Roman"/>
                <a:cs typeface="Times New Roman"/>
                <a:sym typeface="Times New Roman"/>
              </a:rPr>
              <a:t>Pediatric vs Adult Dengue Severity Prediction with Subgroup-Specific SHAP Explanations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0" y="24883"/>
            <a:ext cx="12046688" cy="12403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Times New Roman"/>
              <a:buNone/>
            </a:pPr>
            <a:r>
              <a:rPr lang="en-US">
                <a:solidFill>
                  <a:schemeClr val="lt1"/>
                </a:solidFill>
                <a:latin typeface="Times New Roman"/>
                <a:ea typeface="Times New Roman"/>
                <a:cs typeface="Times New Roman"/>
                <a:sym typeface="Times New Roman"/>
              </a:rPr>
              <a:t>                                 </a:t>
            </a:r>
            <a:r>
              <a:rPr b="1" lang="en-US">
                <a:solidFill>
                  <a:schemeClr val="lt1"/>
                </a:solidFill>
                <a:latin typeface="Times New Roman"/>
                <a:ea typeface="Times New Roman"/>
                <a:cs typeface="Times New Roman"/>
                <a:sym typeface="Times New Roman"/>
              </a:rPr>
              <a:t>Overview</a:t>
            </a:r>
            <a:endParaRPr/>
          </a:p>
        </p:txBody>
      </p:sp>
      <p:sp>
        <p:nvSpPr>
          <p:cNvPr id="99" name="Google Shape;99;p2"/>
          <p:cNvSpPr txBox="1"/>
          <p:nvPr>
            <p:ph idx="1" type="body"/>
          </p:nvPr>
        </p:nvSpPr>
        <p:spPr>
          <a:xfrm>
            <a:off x="723900" y="1809750"/>
            <a:ext cx="9401175" cy="394335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Background &amp; Introduction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Objectives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Problem Statement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Related Works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Proposed Methodology</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Results &amp; Discussion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Conclusion &amp; Future Work</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References</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
        <p:nvSpPr>
          <p:cNvPr id="100" name="Google Shape;100;p2"/>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857250" y="88900"/>
            <a:ext cx="10515600" cy="9874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Times New Roman"/>
              <a:buNone/>
            </a:pPr>
            <a:r>
              <a:rPr lang="en-US">
                <a:solidFill>
                  <a:schemeClr val="lt1"/>
                </a:solidFill>
                <a:latin typeface="Times New Roman"/>
                <a:ea typeface="Times New Roman"/>
                <a:cs typeface="Times New Roman"/>
                <a:sym typeface="Times New Roman"/>
              </a:rPr>
              <a:t>Background</a:t>
            </a:r>
            <a:endParaRPr/>
          </a:p>
        </p:txBody>
      </p:sp>
      <p:sp>
        <p:nvSpPr>
          <p:cNvPr id="106" name="Google Shape;106;p3"/>
          <p:cNvSpPr txBox="1"/>
          <p:nvPr>
            <p:ph idx="1" type="body"/>
          </p:nvPr>
        </p:nvSpPr>
        <p:spPr>
          <a:xfrm>
            <a:off x="838199" y="1825625"/>
            <a:ext cx="10525125" cy="10604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Dengue severity models are usually trained on pooled, all-age cohorts - masking how children and adults actually differ.</a:t>
            </a:r>
            <a:endParaRPr/>
          </a:p>
          <a:p>
            <a:pPr indent="0" lvl="0" marL="0" rtl="0" algn="l">
              <a:lnSpc>
                <a:spcPct val="90000"/>
              </a:lnSpc>
              <a:spcBef>
                <a:spcPts val="1000"/>
              </a:spcBef>
              <a:spcAft>
                <a:spcPts val="0"/>
              </a:spcAft>
              <a:buClr>
                <a:schemeClr val="dk1"/>
              </a:buClr>
              <a:buSzPts val="1800"/>
              <a:buNone/>
            </a:pPr>
            <a:r>
              <a:t/>
            </a:r>
            <a:endParaRPr sz="1800"/>
          </a:p>
        </p:txBody>
      </p:sp>
      <p:sp>
        <p:nvSpPr>
          <p:cNvPr id="107" name="Google Shape;107;p3"/>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08" name="Google Shape;108;p3"/>
          <p:cNvSpPr txBox="1"/>
          <p:nvPr/>
        </p:nvSpPr>
        <p:spPr>
          <a:xfrm>
            <a:off x="390526" y="3124200"/>
            <a:ext cx="2857500" cy="2585323"/>
          </a:xfrm>
          <a:prstGeom prst="rect">
            <a:avLst/>
          </a:prstGeom>
          <a:noFill/>
          <a:ln>
            <a:noFill/>
          </a:ln>
        </p:spPr>
        <p:txBody>
          <a:bodyPr anchorCtr="0" anchor="t" bIns="45700" lIns="91425" spcFirstLastPara="1" rIns="91425" wrap="square" tIns="45700">
            <a:spAutoFit/>
          </a:bodyPr>
          <a:lstStyle/>
          <a:p>
            <a:pPr indent="0" lvl="0" marL="75565" marR="0" rtl="0" algn="l">
              <a:lnSpc>
                <a:spcPct val="150000"/>
              </a:lnSpc>
              <a:spcBef>
                <a:spcPts val="0"/>
              </a:spcBef>
              <a:spcAft>
                <a:spcPts val="0"/>
              </a:spcAft>
              <a:buNone/>
            </a:pPr>
            <a:r>
              <a:rPr b="1" i="0" lang="en-US" sz="1800" u="none" cap="none" strike="noStrike">
                <a:solidFill>
                  <a:srgbClr val="065B06"/>
                </a:solidFill>
                <a:latin typeface="Times New Roman"/>
                <a:ea typeface="Times New Roman"/>
                <a:cs typeface="Times New Roman"/>
                <a:sym typeface="Times New Roman"/>
              </a:rPr>
              <a:t>Why</a:t>
            </a:r>
            <a:endParaRPr b="0" i="0" sz="1800" u="none" cap="none" strike="noStrike">
              <a:solidFill>
                <a:schemeClr val="dk1"/>
              </a:solidFill>
              <a:latin typeface="Times New Roman"/>
              <a:ea typeface="Times New Roman"/>
              <a:cs typeface="Times New Roman"/>
              <a:sym typeface="Times New Roman"/>
            </a:endParaRPr>
          </a:p>
          <a:p>
            <a:pPr indent="0" lvl="0" marL="12700" marR="5080" rtl="0" algn="just">
              <a:lnSpc>
                <a:spcPct val="150000"/>
              </a:lnSpc>
              <a:spcBef>
                <a:spcPts val="45"/>
              </a:spcBef>
              <a:spcAft>
                <a:spcPts val="0"/>
              </a:spcAft>
              <a:buNone/>
            </a:pPr>
            <a:r>
              <a:rPr b="0" i="0" lang="en-US" sz="1800" u="none" cap="none" strike="noStrike">
                <a:solidFill>
                  <a:schemeClr val="dk1"/>
                </a:solidFill>
                <a:latin typeface="Times New Roman"/>
                <a:ea typeface="Times New Roman"/>
                <a:cs typeface="Times New Roman"/>
                <a:sym typeface="Times New Roman"/>
              </a:rPr>
              <a:t>Pediatric and adult dengue patients show different physiology - plasma leakage, comorbidities, hemorrhagic patterns.</a:t>
            </a:r>
            <a:endParaRPr b="0" i="0" sz="1800" u="none" cap="none" strike="noStrike">
              <a:solidFill>
                <a:schemeClr val="dk1"/>
              </a:solidFill>
              <a:latin typeface="Times New Roman"/>
              <a:ea typeface="Times New Roman"/>
              <a:cs typeface="Times New Roman"/>
              <a:sym typeface="Times New Roman"/>
            </a:endParaRPr>
          </a:p>
        </p:txBody>
      </p:sp>
      <p:sp>
        <p:nvSpPr>
          <p:cNvPr id="109" name="Google Shape;109;p3"/>
          <p:cNvSpPr txBox="1"/>
          <p:nvPr/>
        </p:nvSpPr>
        <p:spPr>
          <a:xfrm>
            <a:off x="3705226" y="3124199"/>
            <a:ext cx="3667124" cy="3000821"/>
          </a:xfrm>
          <a:prstGeom prst="rect">
            <a:avLst/>
          </a:prstGeom>
          <a:noFill/>
          <a:ln>
            <a:noFill/>
          </a:ln>
        </p:spPr>
        <p:txBody>
          <a:bodyPr anchorCtr="0" anchor="t" bIns="45700" lIns="91425" spcFirstLastPara="1" rIns="91425" wrap="square" tIns="45700">
            <a:spAutoFit/>
          </a:bodyPr>
          <a:lstStyle/>
          <a:p>
            <a:pPr indent="0" lvl="0" marL="75565" marR="0" rtl="0" algn="l">
              <a:lnSpc>
                <a:spcPct val="150000"/>
              </a:lnSpc>
              <a:spcBef>
                <a:spcPts val="0"/>
              </a:spcBef>
              <a:spcAft>
                <a:spcPts val="0"/>
              </a:spcAft>
              <a:buNone/>
            </a:pPr>
            <a:r>
              <a:rPr b="1" i="0" lang="en-US" sz="1800" u="none" cap="none" strike="noStrike">
                <a:solidFill>
                  <a:srgbClr val="065B06"/>
                </a:solidFill>
                <a:latin typeface="Times New Roman"/>
                <a:ea typeface="Times New Roman"/>
                <a:cs typeface="Times New Roman"/>
                <a:sym typeface="Times New Roman"/>
              </a:rPr>
              <a:t>What is missing</a:t>
            </a:r>
            <a:endParaRPr b="0" i="0" sz="1800" u="none" cap="none" strike="noStrike">
              <a:solidFill>
                <a:schemeClr val="dk1"/>
              </a:solidFill>
              <a:latin typeface="Times New Roman"/>
              <a:ea typeface="Times New Roman"/>
              <a:cs typeface="Times New Roman"/>
              <a:sym typeface="Times New Roman"/>
            </a:endParaRPr>
          </a:p>
          <a:p>
            <a:pPr indent="0" lvl="0" marL="12700" marR="5080" rtl="0" algn="just">
              <a:lnSpc>
                <a:spcPct val="150000"/>
              </a:lnSpc>
              <a:spcBef>
                <a:spcPts val="45"/>
              </a:spcBef>
              <a:spcAft>
                <a:spcPts val="0"/>
              </a:spcAft>
              <a:buNone/>
            </a:pPr>
            <a:r>
              <a:rPr b="0" i="0" lang="en-US" sz="1800" u="none" cap="none" strike="noStrike">
                <a:solidFill>
                  <a:schemeClr val="dk1"/>
                </a:solidFill>
                <a:latin typeface="Times New Roman"/>
                <a:ea typeface="Times New Roman"/>
                <a:cs typeface="Times New Roman"/>
                <a:sym typeface="Times New Roman"/>
              </a:rPr>
              <a:t>Most ML studies use a single pooled model and a single global SHAP summary. No dengue study quantitatively compares SHAP feature attribution between pediatric and adult subgroups.</a:t>
            </a:r>
            <a:endParaRPr b="0" i="0" sz="1800" u="none" cap="none" strike="noStrike">
              <a:solidFill>
                <a:schemeClr val="dk1"/>
              </a:solidFill>
              <a:latin typeface="Times New Roman"/>
              <a:ea typeface="Times New Roman"/>
              <a:cs typeface="Times New Roman"/>
              <a:sym typeface="Times New Roman"/>
            </a:endParaRPr>
          </a:p>
        </p:txBody>
      </p:sp>
      <p:sp>
        <p:nvSpPr>
          <p:cNvPr id="110" name="Google Shape;110;p3"/>
          <p:cNvSpPr txBox="1"/>
          <p:nvPr/>
        </p:nvSpPr>
        <p:spPr>
          <a:xfrm>
            <a:off x="7896224" y="3124199"/>
            <a:ext cx="2714625" cy="2169825"/>
          </a:xfrm>
          <a:prstGeom prst="rect">
            <a:avLst/>
          </a:prstGeom>
          <a:noFill/>
          <a:ln>
            <a:noFill/>
          </a:ln>
        </p:spPr>
        <p:txBody>
          <a:bodyPr anchorCtr="0" anchor="t" bIns="45700" lIns="91425" spcFirstLastPara="1" rIns="91425" wrap="square" tIns="45700">
            <a:spAutoFit/>
          </a:bodyPr>
          <a:lstStyle/>
          <a:p>
            <a:pPr indent="0" lvl="0" marL="75565" marR="0" rtl="0" algn="l">
              <a:lnSpc>
                <a:spcPct val="150000"/>
              </a:lnSpc>
              <a:spcBef>
                <a:spcPts val="0"/>
              </a:spcBef>
              <a:spcAft>
                <a:spcPts val="0"/>
              </a:spcAft>
              <a:buNone/>
            </a:pPr>
            <a:r>
              <a:rPr b="1" i="0" lang="en-US" sz="1800" u="none" cap="none" strike="noStrike">
                <a:solidFill>
                  <a:srgbClr val="065B06"/>
                </a:solidFill>
                <a:latin typeface="Times New Roman"/>
                <a:ea typeface="Times New Roman"/>
                <a:cs typeface="Times New Roman"/>
                <a:sym typeface="Times New Roman"/>
              </a:rPr>
              <a:t>What we have done</a:t>
            </a:r>
            <a:endParaRPr b="0" i="0" sz="1800" u="none" cap="none" strike="noStrike">
              <a:solidFill>
                <a:schemeClr val="dk1"/>
              </a:solidFill>
              <a:latin typeface="Times New Roman"/>
              <a:ea typeface="Times New Roman"/>
              <a:cs typeface="Times New Roman"/>
              <a:sym typeface="Times New Roman"/>
            </a:endParaRPr>
          </a:p>
          <a:p>
            <a:pPr indent="0" lvl="0" marL="12700" marR="5080" rtl="0" algn="just">
              <a:lnSpc>
                <a:spcPct val="150000"/>
              </a:lnSpc>
              <a:spcBef>
                <a:spcPts val="45"/>
              </a:spcBef>
              <a:spcAft>
                <a:spcPts val="0"/>
              </a:spcAft>
              <a:buNone/>
            </a:pPr>
            <a:r>
              <a:rPr b="0" i="0" lang="en-US" sz="1800" u="none" cap="none" strike="noStrike">
                <a:solidFill>
                  <a:schemeClr val="dk1"/>
                </a:solidFill>
                <a:latin typeface="Times New Roman"/>
                <a:ea typeface="Times New Roman"/>
                <a:cs typeface="Times New Roman"/>
                <a:sym typeface="Times New Roman"/>
              </a:rPr>
              <a:t>Age-stratified models + subgroup SHAP + an early-stage risk-assessment dashboard.</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type="title"/>
          </p:nvPr>
        </p:nvSpPr>
        <p:spPr>
          <a:xfrm>
            <a:off x="0" y="92365"/>
            <a:ext cx="12062691" cy="10714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Times New Roman"/>
              <a:buNone/>
            </a:pPr>
            <a:r>
              <a:rPr lang="en-US">
                <a:solidFill>
                  <a:schemeClr val="lt1"/>
                </a:solidFill>
                <a:latin typeface="Times New Roman"/>
                <a:ea typeface="Times New Roman"/>
                <a:cs typeface="Times New Roman"/>
                <a:sym typeface="Times New Roman"/>
              </a:rPr>
              <a:t>                               </a:t>
            </a:r>
            <a:r>
              <a:rPr b="1" lang="en-US" sz="4800">
                <a:solidFill>
                  <a:schemeClr val="lt1"/>
                </a:solidFill>
                <a:latin typeface="Times New Roman"/>
                <a:ea typeface="Times New Roman"/>
                <a:cs typeface="Times New Roman"/>
                <a:sym typeface="Times New Roman"/>
              </a:rPr>
              <a:t>Introduction</a:t>
            </a:r>
            <a:endParaRPr b="1">
              <a:solidFill>
                <a:schemeClr val="lt1"/>
              </a:solidFill>
            </a:endParaRPr>
          </a:p>
        </p:txBody>
      </p:sp>
      <p:sp>
        <p:nvSpPr>
          <p:cNvPr id="116" name="Google Shape;116;p4"/>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17" name="Google Shape;117;p4"/>
          <p:cNvSpPr txBox="1"/>
          <p:nvPr>
            <p:ph idx="1" type="body"/>
          </p:nvPr>
        </p:nvSpPr>
        <p:spPr>
          <a:xfrm>
            <a:off x="2343150" y="4359275"/>
            <a:ext cx="6962775" cy="197485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0B790B"/>
              </a:buClr>
              <a:buSzPts val="1800"/>
              <a:buNone/>
            </a:pPr>
            <a:r>
              <a:rPr b="1" lang="en-US" sz="1800">
                <a:solidFill>
                  <a:srgbClr val="0B790B"/>
                </a:solidFill>
              </a:rPr>
              <a:t>Why this matters ?</a:t>
            </a:r>
            <a:endParaRPr sz="1800"/>
          </a:p>
          <a:p>
            <a:pPr indent="0" lvl="0" marL="0" rtl="0" algn="l">
              <a:lnSpc>
                <a:spcPct val="90000"/>
              </a:lnSpc>
              <a:spcBef>
                <a:spcPts val="1000"/>
              </a:spcBef>
              <a:spcAft>
                <a:spcPts val="0"/>
              </a:spcAft>
              <a:buClr>
                <a:schemeClr val="dk1"/>
              </a:buClr>
              <a:buSzPts val="1800"/>
              <a:buNone/>
            </a:pPr>
            <a:r>
              <a:rPr lang="en-US" sz="1800"/>
              <a:t>Dengue is a mosquito-borne viral infection (Aedes aegypti, Aedes albopictus) and a major public health burden across tropical and subtropical regions.</a:t>
            </a:r>
            <a:endParaRPr/>
          </a:p>
          <a:p>
            <a:pPr indent="0" lvl="0" marL="0" rtl="0" algn="l">
              <a:lnSpc>
                <a:spcPct val="90000"/>
              </a:lnSpc>
              <a:spcBef>
                <a:spcPts val="1000"/>
              </a:spcBef>
              <a:spcAft>
                <a:spcPts val="0"/>
              </a:spcAft>
              <a:buClr>
                <a:schemeClr val="dk1"/>
              </a:buClr>
              <a:buSzPts val="1800"/>
              <a:buNone/>
            </a:pPr>
            <a:r>
              <a:rPr lang="en-US" sz="1800"/>
              <a:t>Early identification of patients likely to progress to severe disease is critical for timely fluid management and supportive care.</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18" name="Google Shape;118;p4"/>
          <p:cNvPicPr preferRelativeResize="0"/>
          <p:nvPr/>
        </p:nvPicPr>
        <p:blipFill rotWithShape="1">
          <a:blip r:embed="rId3">
            <a:alphaModFix/>
          </a:blip>
          <a:srcRect b="0" l="0" r="0" t="0"/>
          <a:stretch/>
        </p:blipFill>
        <p:spPr>
          <a:xfrm>
            <a:off x="3194538" y="1338888"/>
            <a:ext cx="4879285" cy="28982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838200" y="136525"/>
            <a:ext cx="105156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Times New Roman"/>
              <a:buNone/>
            </a:pPr>
            <a:r>
              <a:rPr lang="en-US">
                <a:solidFill>
                  <a:schemeClr val="lt1"/>
                </a:solidFill>
                <a:latin typeface="Times New Roman"/>
                <a:ea typeface="Times New Roman"/>
                <a:cs typeface="Times New Roman"/>
                <a:sym typeface="Times New Roman"/>
              </a:rPr>
              <a:t> </a:t>
            </a:r>
            <a:r>
              <a:rPr b="1" lang="en-US">
                <a:solidFill>
                  <a:schemeClr val="lt1"/>
                </a:solidFill>
                <a:latin typeface="Times New Roman"/>
                <a:ea typeface="Times New Roman"/>
                <a:cs typeface="Times New Roman"/>
                <a:sym typeface="Times New Roman"/>
              </a:rPr>
              <a:t>Introduction</a:t>
            </a:r>
            <a:endParaRPr/>
          </a:p>
        </p:txBody>
      </p:sp>
      <p:sp>
        <p:nvSpPr>
          <p:cNvPr id="124" name="Google Shape;124;p5"/>
          <p:cNvSpPr txBox="1"/>
          <p:nvPr>
            <p:ph idx="1" type="body"/>
          </p:nvPr>
        </p:nvSpPr>
        <p:spPr>
          <a:xfrm>
            <a:off x="838200" y="1825625"/>
            <a:ext cx="9915525" cy="21939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B790B"/>
              </a:buClr>
              <a:buSzPts val="1800"/>
              <a:buNone/>
            </a:pPr>
            <a:r>
              <a:rPr b="1" lang="en-US" sz="1800">
                <a:solidFill>
                  <a:srgbClr val="0B790B"/>
                </a:solidFill>
              </a:rPr>
              <a:t>Pooled-model assumption </a:t>
            </a:r>
            <a:r>
              <a:rPr lang="en-US" sz="1800"/>
              <a:t>: Most prior ML work treats age as just one input feature, not a stratification variable.</a:t>
            </a:r>
            <a:endParaRPr/>
          </a:p>
          <a:p>
            <a:pPr indent="0" lvl="0" marL="0" rtl="0" algn="l">
              <a:lnSpc>
                <a:spcPct val="90000"/>
              </a:lnSpc>
              <a:spcBef>
                <a:spcPts val="1000"/>
              </a:spcBef>
              <a:spcAft>
                <a:spcPts val="0"/>
              </a:spcAft>
              <a:buClr>
                <a:srgbClr val="0B790B"/>
              </a:buClr>
              <a:buSzPts val="1800"/>
              <a:buNone/>
            </a:pPr>
            <a:r>
              <a:rPr b="1" lang="en-US" sz="1800">
                <a:solidFill>
                  <a:srgbClr val="0B790B"/>
                </a:solidFill>
              </a:rPr>
              <a:t>Clinical reality</a:t>
            </a:r>
            <a:r>
              <a:rPr lang="en-US" sz="1800"/>
              <a:t> : Children show higher rapid plasma leakage; adults show more comorbidities and hemorrhagic signs.</a:t>
            </a:r>
            <a:endParaRPr/>
          </a:p>
          <a:p>
            <a:pPr indent="0" lvl="0" marL="0" rtl="0" algn="l">
              <a:lnSpc>
                <a:spcPct val="90000"/>
              </a:lnSpc>
              <a:spcBef>
                <a:spcPts val="1000"/>
              </a:spcBef>
              <a:spcAft>
                <a:spcPts val="0"/>
              </a:spcAft>
              <a:buClr>
                <a:srgbClr val="0B790B"/>
              </a:buClr>
              <a:buSzPts val="1800"/>
              <a:buNone/>
            </a:pPr>
            <a:r>
              <a:rPr b="1" lang="en-US" sz="1800">
                <a:solidFill>
                  <a:srgbClr val="0B790B"/>
                </a:solidFill>
              </a:rPr>
              <a:t>Our thesis position </a:t>
            </a:r>
            <a:r>
              <a:rPr lang="en-US" sz="1800"/>
              <a:t>: Compare pooled vs. age-stratified models and their SHAP explanations directly, then expose the result via a dashboard.</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25" name="Google Shape;125;p5"/>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0" y="92365"/>
            <a:ext cx="12062691" cy="10714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Times New Roman"/>
              <a:buNone/>
            </a:pPr>
            <a:r>
              <a:rPr b="1" lang="en-US">
                <a:solidFill>
                  <a:schemeClr val="lt1"/>
                </a:solidFill>
                <a:latin typeface="Times New Roman"/>
                <a:ea typeface="Times New Roman"/>
                <a:cs typeface="Times New Roman"/>
                <a:sym typeface="Times New Roman"/>
              </a:rPr>
              <a:t>                                Problem Statement</a:t>
            </a:r>
            <a:endParaRPr/>
          </a:p>
        </p:txBody>
      </p:sp>
      <p:sp>
        <p:nvSpPr>
          <p:cNvPr id="131" name="Google Shape;131;p6"/>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32" name="Google Shape;132;p6"/>
          <p:cNvSpPr txBox="1"/>
          <p:nvPr/>
        </p:nvSpPr>
        <p:spPr>
          <a:xfrm>
            <a:off x="7705724" y="2495550"/>
            <a:ext cx="3228975" cy="2351926"/>
          </a:xfrm>
          <a:prstGeom prst="rect">
            <a:avLst/>
          </a:prstGeom>
          <a:noFill/>
          <a:ln>
            <a:noFill/>
          </a:ln>
        </p:spPr>
        <p:txBody>
          <a:bodyPr anchorCtr="0" anchor="t" bIns="45700" lIns="91425" spcFirstLastPara="1" rIns="91425" wrap="square" tIns="45700">
            <a:spAutoFit/>
          </a:bodyPr>
          <a:lstStyle/>
          <a:p>
            <a:pPr indent="0" lvl="0" marL="75565" marR="0" rtl="0" algn="l">
              <a:spcBef>
                <a:spcPts val="0"/>
              </a:spcBef>
              <a:spcAft>
                <a:spcPts val="0"/>
              </a:spcAft>
              <a:buNone/>
            </a:pPr>
            <a:r>
              <a:rPr b="1" i="0" lang="en-US" sz="1800" u="none" cap="none" strike="noStrike">
                <a:solidFill>
                  <a:srgbClr val="065B06"/>
                </a:solidFill>
                <a:latin typeface="Times New Roman"/>
                <a:ea typeface="Times New Roman"/>
                <a:cs typeface="Times New Roman"/>
                <a:sym typeface="Times New Roman"/>
              </a:rPr>
              <a:t>Research question</a:t>
            </a:r>
            <a:endParaRPr b="0" i="0" sz="1800" u="none" cap="none" strike="noStrike">
              <a:solidFill>
                <a:schemeClr val="dk1"/>
              </a:solidFill>
              <a:latin typeface="Times New Roman"/>
              <a:ea typeface="Times New Roman"/>
              <a:cs typeface="Times New Roman"/>
              <a:sym typeface="Times New Roman"/>
            </a:endParaRPr>
          </a:p>
          <a:p>
            <a:pPr indent="0" lvl="0" marL="75565" marR="0" rtl="0" algn="l">
              <a:lnSpc>
                <a:spcPct val="100000"/>
              </a:lnSpc>
              <a:spcBef>
                <a:spcPts val="95"/>
              </a:spcBef>
              <a:spcAft>
                <a:spcPts val="0"/>
              </a:spcAft>
              <a:buNone/>
            </a:pPr>
            <a:r>
              <a:rPr b="0" i="0" lang="en-US" sz="1800" u="none" cap="none" strike="noStrike">
                <a:solidFill>
                  <a:schemeClr val="dk1"/>
                </a:solidFill>
                <a:latin typeface="Times New Roman"/>
                <a:ea typeface="Times New Roman"/>
                <a:cs typeface="Times New Roman"/>
                <a:sym typeface="Times New Roman"/>
              </a:rPr>
              <a:t>Do subgroup-trained models and their SHAP explanations differ meaningfully from an age-pooled baseline for dengue severity prediction -and can that difference be made usable through a dashboard?</a:t>
            </a:r>
            <a:endParaRPr b="1" i="0" sz="1800" u="none" cap="none" strike="noStrike">
              <a:solidFill>
                <a:srgbClr val="065B06"/>
              </a:solidFill>
              <a:latin typeface="Times New Roman"/>
              <a:ea typeface="Times New Roman"/>
              <a:cs typeface="Times New Roman"/>
              <a:sym typeface="Times New Roman"/>
            </a:endParaRPr>
          </a:p>
        </p:txBody>
      </p:sp>
      <p:grpSp>
        <p:nvGrpSpPr>
          <p:cNvPr id="133" name="Google Shape;133;p6"/>
          <p:cNvGrpSpPr/>
          <p:nvPr/>
        </p:nvGrpSpPr>
        <p:grpSpPr>
          <a:xfrm>
            <a:off x="524153" y="1521416"/>
            <a:ext cx="6453690" cy="4171142"/>
            <a:chOff x="558836" y="2326626"/>
            <a:chExt cx="2550160" cy="1081112"/>
          </a:xfrm>
        </p:grpSpPr>
        <p:grpSp>
          <p:nvGrpSpPr>
            <p:cNvPr id="134" name="Google Shape;134;p6"/>
            <p:cNvGrpSpPr/>
            <p:nvPr/>
          </p:nvGrpSpPr>
          <p:grpSpPr>
            <a:xfrm>
              <a:off x="558836" y="2326626"/>
              <a:ext cx="2550160" cy="223520"/>
              <a:chOff x="132116" y="1275734"/>
              <a:chExt cx="2550160" cy="223520"/>
            </a:xfrm>
          </p:grpSpPr>
          <p:sp>
            <p:nvSpPr>
              <p:cNvPr id="135" name="Google Shape;135;p6"/>
              <p:cNvSpPr/>
              <p:nvPr/>
            </p:nvSpPr>
            <p:spPr>
              <a:xfrm>
                <a:off x="132116" y="1275734"/>
                <a:ext cx="2550160" cy="223520"/>
              </a:xfrm>
              <a:custGeom>
                <a:rect b="b" l="l" r="r" t="t"/>
                <a:pathLst>
                  <a:path extrusionOk="0" h="223519" w="2550160">
                    <a:moveTo>
                      <a:pt x="2499196" y="0"/>
                    </a:moveTo>
                    <a:lnTo>
                      <a:pt x="50610" y="0"/>
                    </a:lnTo>
                    <a:lnTo>
                      <a:pt x="30910" y="3977"/>
                    </a:lnTo>
                    <a:lnTo>
                      <a:pt x="14823" y="14823"/>
                    </a:lnTo>
                    <a:lnTo>
                      <a:pt x="3977" y="30910"/>
                    </a:lnTo>
                    <a:lnTo>
                      <a:pt x="0" y="50610"/>
                    </a:lnTo>
                    <a:lnTo>
                      <a:pt x="0" y="172589"/>
                    </a:lnTo>
                    <a:lnTo>
                      <a:pt x="3977" y="192290"/>
                    </a:lnTo>
                    <a:lnTo>
                      <a:pt x="14823" y="208377"/>
                    </a:lnTo>
                    <a:lnTo>
                      <a:pt x="30910" y="219223"/>
                    </a:lnTo>
                    <a:lnTo>
                      <a:pt x="50610" y="223200"/>
                    </a:lnTo>
                    <a:lnTo>
                      <a:pt x="2499196" y="223200"/>
                    </a:lnTo>
                    <a:lnTo>
                      <a:pt x="2518896" y="219223"/>
                    </a:lnTo>
                    <a:lnTo>
                      <a:pt x="2534983" y="208377"/>
                    </a:lnTo>
                    <a:lnTo>
                      <a:pt x="2545829" y="192290"/>
                    </a:lnTo>
                    <a:lnTo>
                      <a:pt x="2549807" y="172589"/>
                    </a:lnTo>
                    <a:lnTo>
                      <a:pt x="2549807" y="50610"/>
                    </a:lnTo>
                    <a:lnTo>
                      <a:pt x="2545829" y="30910"/>
                    </a:lnTo>
                    <a:lnTo>
                      <a:pt x="2534983" y="14823"/>
                    </a:lnTo>
                    <a:lnTo>
                      <a:pt x="2518896" y="3977"/>
                    </a:lnTo>
                    <a:lnTo>
                      <a:pt x="2499196" y="0"/>
                    </a:lnTo>
                    <a:close/>
                  </a:path>
                </a:pathLst>
              </a:custGeom>
              <a:solidFill>
                <a:srgbClr val="F9F0F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36" name="Google Shape;136;p6"/>
              <p:cNvSpPr/>
              <p:nvPr/>
            </p:nvSpPr>
            <p:spPr>
              <a:xfrm>
                <a:off x="132116" y="1275734"/>
                <a:ext cx="2550160" cy="223520"/>
              </a:xfrm>
              <a:custGeom>
                <a:rect b="b" l="l" r="r" t="t"/>
                <a:pathLst>
                  <a:path extrusionOk="0" h="223519" w="2550160">
                    <a:moveTo>
                      <a:pt x="2499196" y="0"/>
                    </a:moveTo>
                    <a:lnTo>
                      <a:pt x="50610" y="0"/>
                    </a:lnTo>
                    <a:lnTo>
                      <a:pt x="30910" y="3977"/>
                    </a:lnTo>
                    <a:lnTo>
                      <a:pt x="14823" y="14823"/>
                    </a:lnTo>
                    <a:lnTo>
                      <a:pt x="3977" y="30910"/>
                    </a:lnTo>
                    <a:lnTo>
                      <a:pt x="0" y="50610"/>
                    </a:lnTo>
                    <a:lnTo>
                      <a:pt x="0" y="172589"/>
                    </a:lnTo>
                    <a:lnTo>
                      <a:pt x="3977" y="192290"/>
                    </a:lnTo>
                    <a:lnTo>
                      <a:pt x="14823" y="208377"/>
                    </a:lnTo>
                    <a:lnTo>
                      <a:pt x="30910" y="219223"/>
                    </a:lnTo>
                    <a:lnTo>
                      <a:pt x="50610" y="223200"/>
                    </a:lnTo>
                    <a:lnTo>
                      <a:pt x="2499196" y="223200"/>
                    </a:lnTo>
                    <a:lnTo>
                      <a:pt x="2518896" y="219223"/>
                    </a:lnTo>
                    <a:lnTo>
                      <a:pt x="2534983" y="208377"/>
                    </a:lnTo>
                    <a:lnTo>
                      <a:pt x="2545829" y="192290"/>
                    </a:lnTo>
                    <a:lnTo>
                      <a:pt x="2549807" y="172589"/>
                    </a:lnTo>
                    <a:lnTo>
                      <a:pt x="2549807" y="50610"/>
                    </a:lnTo>
                    <a:lnTo>
                      <a:pt x="2545829" y="30910"/>
                    </a:lnTo>
                    <a:lnTo>
                      <a:pt x="2534983" y="14823"/>
                    </a:lnTo>
                    <a:lnTo>
                      <a:pt x="2518896" y="3977"/>
                    </a:lnTo>
                    <a:lnTo>
                      <a:pt x="2499196" y="0"/>
                    </a:lnTo>
                    <a:close/>
                  </a:path>
                </a:pathLst>
              </a:custGeom>
              <a:noFill/>
              <a:ln cap="flat" cmpd="sng" w="9525">
                <a:solidFill>
                  <a:srgbClr val="CD808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nvGrpSpPr>
            <p:cNvPr id="137" name="Google Shape;137;p6"/>
            <p:cNvGrpSpPr/>
            <p:nvPr/>
          </p:nvGrpSpPr>
          <p:grpSpPr>
            <a:xfrm>
              <a:off x="558836" y="2612490"/>
              <a:ext cx="2550160" cy="223520"/>
              <a:chOff x="132116" y="1561598"/>
              <a:chExt cx="2550160" cy="223520"/>
            </a:xfrm>
          </p:grpSpPr>
          <p:sp>
            <p:nvSpPr>
              <p:cNvPr id="138" name="Google Shape;138;p6"/>
              <p:cNvSpPr/>
              <p:nvPr/>
            </p:nvSpPr>
            <p:spPr>
              <a:xfrm>
                <a:off x="132116" y="1561598"/>
                <a:ext cx="2550160" cy="223520"/>
              </a:xfrm>
              <a:custGeom>
                <a:rect b="b" l="l" r="r" t="t"/>
                <a:pathLst>
                  <a:path extrusionOk="0" h="223519" w="2550160">
                    <a:moveTo>
                      <a:pt x="2499196" y="0"/>
                    </a:moveTo>
                    <a:lnTo>
                      <a:pt x="50610" y="0"/>
                    </a:lnTo>
                    <a:lnTo>
                      <a:pt x="30910" y="3977"/>
                    </a:lnTo>
                    <a:lnTo>
                      <a:pt x="14823" y="14823"/>
                    </a:lnTo>
                    <a:lnTo>
                      <a:pt x="3977" y="30910"/>
                    </a:lnTo>
                    <a:lnTo>
                      <a:pt x="0" y="50610"/>
                    </a:lnTo>
                    <a:lnTo>
                      <a:pt x="0" y="172590"/>
                    </a:lnTo>
                    <a:lnTo>
                      <a:pt x="3977" y="192290"/>
                    </a:lnTo>
                    <a:lnTo>
                      <a:pt x="14823" y="208377"/>
                    </a:lnTo>
                    <a:lnTo>
                      <a:pt x="30910" y="219223"/>
                    </a:lnTo>
                    <a:lnTo>
                      <a:pt x="50610" y="223201"/>
                    </a:lnTo>
                    <a:lnTo>
                      <a:pt x="2499196" y="223201"/>
                    </a:lnTo>
                    <a:lnTo>
                      <a:pt x="2518896" y="219223"/>
                    </a:lnTo>
                    <a:lnTo>
                      <a:pt x="2534983" y="208377"/>
                    </a:lnTo>
                    <a:lnTo>
                      <a:pt x="2545829" y="192290"/>
                    </a:lnTo>
                    <a:lnTo>
                      <a:pt x="2549807" y="172590"/>
                    </a:lnTo>
                    <a:lnTo>
                      <a:pt x="2549807" y="50610"/>
                    </a:lnTo>
                    <a:lnTo>
                      <a:pt x="2545829" y="30910"/>
                    </a:lnTo>
                    <a:lnTo>
                      <a:pt x="2534983" y="14823"/>
                    </a:lnTo>
                    <a:lnTo>
                      <a:pt x="2518896" y="3977"/>
                    </a:lnTo>
                    <a:lnTo>
                      <a:pt x="2499196" y="0"/>
                    </a:lnTo>
                    <a:close/>
                  </a:path>
                </a:pathLst>
              </a:custGeom>
              <a:solidFill>
                <a:srgbClr val="F9F0F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39" name="Google Shape;139;p6"/>
              <p:cNvSpPr/>
              <p:nvPr/>
            </p:nvSpPr>
            <p:spPr>
              <a:xfrm>
                <a:off x="132116" y="1561598"/>
                <a:ext cx="2550160" cy="223520"/>
              </a:xfrm>
              <a:custGeom>
                <a:rect b="b" l="l" r="r" t="t"/>
                <a:pathLst>
                  <a:path extrusionOk="0" h="223519" w="2550160">
                    <a:moveTo>
                      <a:pt x="2499196" y="0"/>
                    </a:moveTo>
                    <a:lnTo>
                      <a:pt x="50610" y="0"/>
                    </a:lnTo>
                    <a:lnTo>
                      <a:pt x="30910" y="3977"/>
                    </a:lnTo>
                    <a:lnTo>
                      <a:pt x="14823" y="14823"/>
                    </a:lnTo>
                    <a:lnTo>
                      <a:pt x="3977" y="30910"/>
                    </a:lnTo>
                    <a:lnTo>
                      <a:pt x="0" y="50610"/>
                    </a:lnTo>
                    <a:lnTo>
                      <a:pt x="0" y="172590"/>
                    </a:lnTo>
                    <a:lnTo>
                      <a:pt x="3977" y="192290"/>
                    </a:lnTo>
                    <a:lnTo>
                      <a:pt x="14823" y="208377"/>
                    </a:lnTo>
                    <a:lnTo>
                      <a:pt x="30910" y="219223"/>
                    </a:lnTo>
                    <a:lnTo>
                      <a:pt x="50610" y="223201"/>
                    </a:lnTo>
                    <a:lnTo>
                      <a:pt x="2499196" y="223201"/>
                    </a:lnTo>
                    <a:lnTo>
                      <a:pt x="2518896" y="219223"/>
                    </a:lnTo>
                    <a:lnTo>
                      <a:pt x="2534983" y="208377"/>
                    </a:lnTo>
                    <a:lnTo>
                      <a:pt x="2545829" y="192290"/>
                    </a:lnTo>
                    <a:lnTo>
                      <a:pt x="2549807" y="172590"/>
                    </a:lnTo>
                    <a:lnTo>
                      <a:pt x="2549807" y="50610"/>
                    </a:lnTo>
                    <a:lnTo>
                      <a:pt x="2545829" y="30910"/>
                    </a:lnTo>
                    <a:lnTo>
                      <a:pt x="2534983" y="14823"/>
                    </a:lnTo>
                    <a:lnTo>
                      <a:pt x="2518896" y="3977"/>
                    </a:lnTo>
                    <a:lnTo>
                      <a:pt x="2499196" y="0"/>
                    </a:lnTo>
                    <a:close/>
                  </a:path>
                </a:pathLst>
              </a:custGeom>
              <a:noFill/>
              <a:ln cap="flat" cmpd="sng" w="9525">
                <a:solidFill>
                  <a:srgbClr val="CD808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nvGrpSpPr>
            <p:cNvPr id="140" name="Google Shape;140;p6"/>
            <p:cNvGrpSpPr/>
            <p:nvPr/>
          </p:nvGrpSpPr>
          <p:grpSpPr>
            <a:xfrm>
              <a:off x="558836" y="2898354"/>
              <a:ext cx="2550160" cy="223520"/>
              <a:chOff x="132116" y="1847462"/>
              <a:chExt cx="2550160" cy="223520"/>
            </a:xfrm>
          </p:grpSpPr>
          <p:sp>
            <p:nvSpPr>
              <p:cNvPr id="141" name="Google Shape;141;p6"/>
              <p:cNvSpPr/>
              <p:nvPr/>
            </p:nvSpPr>
            <p:spPr>
              <a:xfrm>
                <a:off x="132116" y="1847462"/>
                <a:ext cx="2550160" cy="223520"/>
              </a:xfrm>
              <a:custGeom>
                <a:rect b="b" l="l" r="r" t="t"/>
                <a:pathLst>
                  <a:path extrusionOk="0" h="223519" w="2550160">
                    <a:moveTo>
                      <a:pt x="2499196" y="0"/>
                    </a:moveTo>
                    <a:lnTo>
                      <a:pt x="50610" y="0"/>
                    </a:lnTo>
                    <a:lnTo>
                      <a:pt x="30910" y="3977"/>
                    </a:lnTo>
                    <a:lnTo>
                      <a:pt x="14823" y="14823"/>
                    </a:lnTo>
                    <a:lnTo>
                      <a:pt x="3977" y="30910"/>
                    </a:lnTo>
                    <a:lnTo>
                      <a:pt x="0" y="50610"/>
                    </a:lnTo>
                    <a:lnTo>
                      <a:pt x="0" y="172590"/>
                    </a:lnTo>
                    <a:lnTo>
                      <a:pt x="3977" y="192290"/>
                    </a:lnTo>
                    <a:lnTo>
                      <a:pt x="14823" y="208377"/>
                    </a:lnTo>
                    <a:lnTo>
                      <a:pt x="30910" y="219223"/>
                    </a:lnTo>
                    <a:lnTo>
                      <a:pt x="50610" y="223201"/>
                    </a:lnTo>
                    <a:lnTo>
                      <a:pt x="2499196" y="223201"/>
                    </a:lnTo>
                    <a:lnTo>
                      <a:pt x="2518896" y="219223"/>
                    </a:lnTo>
                    <a:lnTo>
                      <a:pt x="2534983" y="208377"/>
                    </a:lnTo>
                    <a:lnTo>
                      <a:pt x="2545829" y="192290"/>
                    </a:lnTo>
                    <a:lnTo>
                      <a:pt x="2549807" y="172590"/>
                    </a:lnTo>
                    <a:lnTo>
                      <a:pt x="2549807" y="50610"/>
                    </a:lnTo>
                    <a:lnTo>
                      <a:pt x="2545829" y="30910"/>
                    </a:lnTo>
                    <a:lnTo>
                      <a:pt x="2534983" y="14823"/>
                    </a:lnTo>
                    <a:lnTo>
                      <a:pt x="2518896" y="3977"/>
                    </a:lnTo>
                    <a:lnTo>
                      <a:pt x="2499196" y="0"/>
                    </a:lnTo>
                    <a:close/>
                  </a:path>
                </a:pathLst>
              </a:custGeom>
              <a:solidFill>
                <a:srgbClr val="F9F0F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42" name="Google Shape;142;p6"/>
              <p:cNvSpPr/>
              <p:nvPr/>
            </p:nvSpPr>
            <p:spPr>
              <a:xfrm>
                <a:off x="132116" y="1847462"/>
                <a:ext cx="2550160" cy="223520"/>
              </a:xfrm>
              <a:custGeom>
                <a:rect b="b" l="l" r="r" t="t"/>
                <a:pathLst>
                  <a:path extrusionOk="0" h="223519" w="2550160">
                    <a:moveTo>
                      <a:pt x="2499196" y="0"/>
                    </a:moveTo>
                    <a:lnTo>
                      <a:pt x="50610" y="0"/>
                    </a:lnTo>
                    <a:lnTo>
                      <a:pt x="30910" y="3977"/>
                    </a:lnTo>
                    <a:lnTo>
                      <a:pt x="14823" y="14823"/>
                    </a:lnTo>
                    <a:lnTo>
                      <a:pt x="3977" y="30910"/>
                    </a:lnTo>
                    <a:lnTo>
                      <a:pt x="0" y="50610"/>
                    </a:lnTo>
                    <a:lnTo>
                      <a:pt x="0" y="172590"/>
                    </a:lnTo>
                    <a:lnTo>
                      <a:pt x="3977" y="192290"/>
                    </a:lnTo>
                    <a:lnTo>
                      <a:pt x="14823" y="208377"/>
                    </a:lnTo>
                    <a:lnTo>
                      <a:pt x="30910" y="219223"/>
                    </a:lnTo>
                    <a:lnTo>
                      <a:pt x="50610" y="223201"/>
                    </a:lnTo>
                    <a:lnTo>
                      <a:pt x="2499196" y="223201"/>
                    </a:lnTo>
                    <a:lnTo>
                      <a:pt x="2518896" y="219223"/>
                    </a:lnTo>
                    <a:lnTo>
                      <a:pt x="2534983" y="208377"/>
                    </a:lnTo>
                    <a:lnTo>
                      <a:pt x="2545829" y="192290"/>
                    </a:lnTo>
                    <a:lnTo>
                      <a:pt x="2549807" y="172590"/>
                    </a:lnTo>
                    <a:lnTo>
                      <a:pt x="2549807" y="50610"/>
                    </a:lnTo>
                    <a:lnTo>
                      <a:pt x="2545829" y="30910"/>
                    </a:lnTo>
                    <a:lnTo>
                      <a:pt x="2534983" y="14823"/>
                    </a:lnTo>
                    <a:lnTo>
                      <a:pt x="2518896" y="3977"/>
                    </a:lnTo>
                    <a:lnTo>
                      <a:pt x="2499196" y="0"/>
                    </a:lnTo>
                    <a:close/>
                  </a:path>
                </a:pathLst>
              </a:custGeom>
              <a:noFill/>
              <a:ln cap="flat" cmpd="sng" w="9525">
                <a:solidFill>
                  <a:srgbClr val="CD808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nvGrpSpPr>
            <p:cNvPr id="143" name="Google Shape;143;p6"/>
            <p:cNvGrpSpPr/>
            <p:nvPr/>
          </p:nvGrpSpPr>
          <p:grpSpPr>
            <a:xfrm>
              <a:off x="558836" y="3184218"/>
              <a:ext cx="2550160" cy="223520"/>
              <a:chOff x="132116" y="2133326"/>
              <a:chExt cx="2550160" cy="223520"/>
            </a:xfrm>
          </p:grpSpPr>
          <p:sp>
            <p:nvSpPr>
              <p:cNvPr id="144" name="Google Shape;144;p6"/>
              <p:cNvSpPr/>
              <p:nvPr/>
            </p:nvSpPr>
            <p:spPr>
              <a:xfrm>
                <a:off x="132116" y="2133326"/>
                <a:ext cx="2550160" cy="223520"/>
              </a:xfrm>
              <a:custGeom>
                <a:rect b="b" l="l" r="r" t="t"/>
                <a:pathLst>
                  <a:path extrusionOk="0" h="223519" w="2550160">
                    <a:moveTo>
                      <a:pt x="2499196" y="0"/>
                    </a:moveTo>
                    <a:lnTo>
                      <a:pt x="50610" y="0"/>
                    </a:lnTo>
                    <a:lnTo>
                      <a:pt x="30910" y="3977"/>
                    </a:lnTo>
                    <a:lnTo>
                      <a:pt x="14823" y="14823"/>
                    </a:lnTo>
                    <a:lnTo>
                      <a:pt x="3977" y="30910"/>
                    </a:lnTo>
                    <a:lnTo>
                      <a:pt x="0" y="50610"/>
                    </a:lnTo>
                    <a:lnTo>
                      <a:pt x="0" y="172589"/>
                    </a:lnTo>
                    <a:lnTo>
                      <a:pt x="3977" y="192290"/>
                    </a:lnTo>
                    <a:lnTo>
                      <a:pt x="14823" y="208377"/>
                    </a:lnTo>
                    <a:lnTo>
                      <a:pt x="30910" y="219223"/>
                    </a:lnTo>
                    <a:lnTo>
                      <a:pt x="50610" y="223200"/>
                    </a:lnTo>
                    <a:lnTo>
                      <a:pt x="2499196" y="223200"/>
                    </a:lnTo>
                    <a:lnTo>
                      <a:pt x="2518896" y="219223"/>
                    </a:lnTo>
                    <a:lnTo>
                      <a:pt x="2534983" y="208377"/>
                    </a:lnTo>
                    <a:lnTo>
                      <a:pt x="2545829" y="192290"/>
                    </a:lnTo>
                    <a:lnTo>
                      <a:pt x="2549807" y="172589"/>
                    </a:lnTo>
                    <a:lnTo>
                      <a:pt x="2549807" y="50610"/>
                    </a:lnTo>
                    <a:lnTo>
                      <a:pt x="2545829" y="30910"/>
                    </a:lnTo>
                    <a:lnTo>
                      <a:pt x="2534983" y="14823"/>
                    </a:lnTo>
                    <a:lnTo>
                      <a:pt x="2518896" y="3977"/>
                    </a:lnTo>
                    <a:lnTo>
                      <a:pt x="2499196" y="0"/>
                    </a:lnTo>
                    <a:close/>
                  </a:path>
                </a:pathLst>
              </a:custGeom>
              <a:solidFill>
                <a:srgbClr val="F9F0F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45" name="Google Shape;145;p6"/>
              <p:cNvSpPr/>
              <p:nvPr/>
            </p:nvSpPr>
            <p:spPr>
              <a:xfrm>
                <a:off x="132116" y="2133326"/>
                <a:ext cx="2550160" cy="223520"/>
              </a:xfrm>
              <a:custGeom>
                <a:rect b="b" l="l" r="r" t="t"/>
                <a:pathLst>
                  <a:path extrusionOk="0" h="223519" w="2550160">
                    <a:moveTo>
                      <a:pt x="2499196" y="0"/>
                    </a:moveTo>
                    <a:lnTo>
                      <a:pt x="50610" y="0"/>
                    </a:lnTo>
                    <a:lnTo>
                      <a:pt x="30910" y="3977"/>
                    </a:lnTo>
                    <a:lnTo>
                      <a:pt x="14823" y="14823"/>
                    </a:lnTo>
                    <a:lnTo>
                      <a:pt x="3977" y="30910"/>
                    </a:lnTo>
                    <a:lnTo>
                      <a:pt x="0" y="50610"/>
                    </a:lnTo>
                    <a:lnTo>
                      <a:pt x="0" y="172589"/>
                    </a:lnTo>
                    <a:lnTo>
                      <a:pt x="3977" y="192290"/>
                    </a:lnTo>
                    <a:lnTo>
                      <a:pt x="14823" y="208377"/>
                    </a:lnTo>
                    <a:lnTo>
                      <a:pt x="30910" y="219223"/>
                    </a:lnTo>
                    <a:lnTo>
                      <a:pt x="50610" y="223200"/>
                    </a:lnTo>
                    <a:lnTo>
                      <a:pt x="2499196" y="223200"/>
                    </a:lnTo>
                    <a:lnTo>
                      <a:pt x="2518896" y="219223"/>
                    </a:lnTo>
                    <a:lnTo>
                      <a:pt x="2534983" y="208377"/>
                    </a:lnTo>
                    <a:lnTo>
                      <a:pt x="2545829" y="192290"/>
                    </a:lnTo>
                    <a:lnTo>
                      <a:pt x="2549807" y="172589"/>
                    </a:lnTo>
                    <a:lnTo>
                      <a:pt x="2549807" y="50610"/>
                    </a:lnTo>
                    <a:lnTo>
                      <a:pt x="2545829" y="30910"/>
                    </a:lnTo>
                    <a:lnTo>
                      <a:pt x="2534983" y="14823"/>
                    </a:lnTo>
                    <a:lnTo>
                      <a:pt x="2518896" y="3977"/>
                    </a:lnTo>
                    <a:lnTo>
                      <a:pt x="2499196" y="0"/>
                    </a:lnTo>
                    <a:close/>
                  </a:path>
                </a:pathLst>
              </a:custGeom>
              <a:noFill/>
              <a:ln cap="flat" cmpd="sng" w="9525">
                <a:solidFill>
                  <a:srgbClr val="CD808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nvGrpSpPr>
            <p:cNvPr id="146" name="Google Shape;146;p6"/>
            <p:cNvGrpSpPr/>
            <p:nvPr/>
          </p:nvGrpSpPr>
          <p:grpSpPr>
            <a:xfrm>
              <a:off x="1816652" y="2543653"/>
              <a:ext cx="34290" cy="614908"/>
              <a:chOff x="1389932" y="1492761"/>
              <a:chExt cx="34290" cy="614908"/>
            </a:xfrm>
          </p:grpSpPr>
          <p:sp>
            <p:nvSpPr>
              <p:cNvPr id="147" name="Google Shape;147;p6"/>
              <p:cNvSpPr/>
              <p:nvPr/>
            </p:nvSpPr>
            <p:spPr>
              <a:xfrm>
                <a:off x="1407020" y="1492761"/>
                <a:ext cx="0" cy="8890"/>
              </a:xfrm>
              <a:custGeom>
                <a:rect b="b" l="l" r="r" t="t"/>
                <a:pathLst>
                  <a:path extrusionOk="0" h="8890" w="120000">
                    <a:moveTo>
                      <a:pt x="0" y="8705"/>
                    </a:moveTo>
                    <a:lnTo>
                      <a:pt x="0" y="0"/>
                    </a:lnTo>
                  </a:path>
                </a:pathLst>
              </a:custGeom>
              <a:noFill/>
              <a:ln cap="flat" cmpd="sng" w="11375">
                <a:solidFill>
                  <a:srgbClr val="B84A4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48" name="Google Shape;148;p6"/>
              <p:cNvSpPr/>
              <p:nvPr/>
            </p:nvSpPr>
            <p:spPr>
              <a:xfrm>
                <a:off x="1389932" y="1492761"/>
                <a:ext cx="34290" cy="43180"/>
              </a:xfrm>
              <a:custGeom>
                <a:rect b="b" l="l" r="r" t="t"/>
                <a:pathLst>
                  <a:path extrusionOk="0" h="43180" w="34290">
                    <a:moveTo>
                      <a:pt x="34174" y="0"/>
                    </a:moveTo>
                    <a:lnTo>
                      <a:pt x="0" y="0"/>
                    </a:lnTo>
                    <a:lnTo>
                      <a:pt x="5946" y="12049"/>
                    </a:lnTo>
                    <a:lnTo>
                      <a:pt x="11123" y="24862"/>
                    </a:lnTo>
                    <a:lnTo>
                      <a:pt x="15010" y="35952"/>
                    </a:lnTo>
                    <a:lnTo>
                      <a:pt x="17087" y="42831"/>
                    </a:lnTo>
                    <a:lnTo>
                      <a:pt x="19164" y="35952"/>
                    </a:lnTo>
                    <a:lnTo>
                      <a:pt x="23051" y="24862"/>
                    </a:lnTo>
                    <a:lnTo>
                      <a:pt x="28228" y="12049"/>
                    </a:lnTo>
                    <a:lnTo>
                      <a:pt x="34174" y="0"/>
                    </a:lnTo>
                    <a:close/>
                  </a:path>
                </a:pathLst>
              </a:custGeom>
              <a:solidFill>
                <a:srgbClr val="B84A4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49" name="Google Shape;149;p6"/>
              <p:cNvSpPr/>
              <p:nvPr/>
            </p:nvSpPr>
            <p:spPr>
              <a:xfrm>
                <a:off x="1389932" y="1492761"/>
                <a:ext cx="34290" cy="43180"/>
              </a:xfrm>
              <a:custGeom>
                <a:rect b="b" l="l" r="r" t="t"/>
                <a:pathLst>
                  <a:path extrusionOk="0" h="43180" w="34290">
                    <a:moveTo>
                      <a:pt x="17087" y="42831"/>
                    </a:moveTo>
                    <a:lnTo>
                      <a:pt x="19164" y="35952"/>
                    </a:lnTo>
                    <a:lnTo>
                      <a:pt x="23051" y="24862"/>
                    </a:lnTo>
                    <a:lnTo>
                      <a:pt x="28228" y="12049"/>
                    </a:lnTo>
                    <a:lnTo>
                      <a:pt x="34174" y="0"/>
                    </a:lnTo>
                    <a:lnTo>
                      <a:pt x="0" y="0"/>
                    </a:lnTo>
                    <a:lnTo>
                      <a:pt x="5946" y="12049"/>
                    </a:lnTo>
                    <a:lnTo>
                      <a:pt x="11123" y="24862"/>
                    </a:lnTo>
                    <a:lnTo>
                      <a:pt x="15010" y="35952"/>
                    </a:lnTo>
                    <a:lnTo>
                      <a:pt x="17087" y="42831"/>
                    </a:lnTo>
                    <a:close/>
                  </a:path>
                </a:pathLst>
              </a:custGeom>
              <a:noFill/>
              <a:ln cap="flat" cmpd="sng" w="11375">
                <a:solidFill>
                  <a:srgbClr val="B84A4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50" name="Google Shape;150;p6"/>
              <p:cNvSpPr/>
              <p:nvPr/>
            </p:nvSpPr>
            <p:spPr>
              <a:xfrm>
                <a:off x="1407020" y="1778625"/>
                <a:ext cx="0" cy="8890"/>
              </a:xfrm>
              <a:custGeom>
                <a:rect b="b" l="l" r="r" t="t"/>
                <a:pathLst>
                  <a:path extrusionOk="0" h="8889" w="120000">
                    <a:moveTo>
                      <a:pt x="0" y="8705"/>
                    </a:moveTo>
                    <a:lnTo>
                      <a:pt x="0" y="0"/>
                    </a:lnTo>
                  </a:path>
                </a:pathLst>
              </a:custGeom>
              <a:noFill/>
              <a:ln cap="flat" cmpd="sng" w="11375">
                <a:solidFill>
                  <a:srgbClr val="B84A4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51" name="Google Shape;151;p6"/>
              <p:cNvSpPr/>
              <p:nvPr/>
            </p:nvSpPr>
            <p:spPr>
              <a:xfrm>
                <a:off x="1389932" y="1778625"/>
                <a:ext cx="34290" cy="43180"/>
              </a:xfrm>
              <a:custGeom>
                <a:rect b="b" l="l" r="r" t="t"/>
                <a:pathLst>
                  <a:path extrusionOk="0" h="43180" w="34290">
                    <a:moveTo>
                      <a:pt x="34174" y="0"/>
                    </a:moveTo>
                    <a:lnTo>
                      <a:pt x="0" y="0"/>
                    </a:lnTo>
                    <a:lnTo>
                      <a:pt x="5946" y="12049"/>
                    </a:lnTo>
                    <a:lnTo>
                      <a:pt x="11123" y="24862"/>
                    </a:lnTo>
                    <a:lnTo>
                      <a:pt x="15010" y="35952"/>
                    </a:lnTo>
                    <a:lnTo>
                      <a:pt x="17087" y="42831"/>
                    </a:lnTo>
                    <a:lnTo>
                      <a:pt x="19164" y="35952"/>
                    </a:lnTo>
                    <a:lnTo>
                      <a:pt x="23051" y="24862"/>
                    </a:lnTo>
                    <a:lnTo>
                      <a:pt x="28228" y="12049"/>
                    </a:lnTo>
                    <a:lnTo>
                      <a:pt x="34174" y="0"/>
                    </a:lnTo>
                    <a:close/>
                  </a:path>
                </a:pathLst>
              </a:custGeom>
              <a:solidFill>
                <a:srgbClr val="B84A4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52" name="Google Shape;152;p6"/>
              <p:cNvSpPr/>
              <p:nvPr/>
            </p:nvSpPr>
            <p:spPr>
              <a:xfrm>
                <a:off x="1389932" y="1778625"/>
                <a:ext cx="34290" cy="43180"/>
              </a:xfrm>
              <a:custGeom>
                <a:rect b="b" l="l" r="r" t="t"/>
                <a:pathLst>
                  <a:path extrusionOk="0" h="43180" w="34290">
                    <a:moveTo>
                      <a:pt x="17087" y="42831"/>
                    </a:moveTo>
                    <a:lnTo>
                      <a:pt x="19164" y="35952"/>
                    </a:lnTo>
                    <a:lnTo>
                      <a:pt x="23051" y="24862"/>
                    </a:lnTo>
                    <a:lnTo>
                      <a:pt x="28228" y="12049"/>
                    </a:lnTo>
                    <a:lnTo>
                      <a:pt x="34174" y="0"/>
                    </a:lnTo>
                    <a:lnTo>
                      <a:pt x="0" y="0"/>
                    </a:lnTo>
                    <a:lnTo>
                      <a:pt x="5946" y="12049"/>
                    </a:lnTo>
                    <a:lnTo>
                      <a:pt x="11123" y="24862"/>
                    </a:lnTo>
                    <a:lnTo>
                      <a:pt x="15010" y="35952"/>
                    </a:lnTo>
                    <a:lnTo>
                      <a:pt x="17087" y="42831"/>
                    </a:lnTo>
                    <a:close/>
                  </a:path>
                </a:pathLst>
              </a:custGeom>
              <a:noFill/>
              <a:ln cap="flat" cmpd="sng" w="11375">
                <a:solidFill>
                  <a:srgbClr val="B84A4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53" name="Google Shape;153;p6"/>
              <p:cNvSpPr/>
              <p:nvPr/>
            </p:nvSpPr>
            <p:spPr>
              <a:xfrm>
                <a:off x="1407020" y="2064489"/>
                <a:ext cx="0" cy="8890"/>
              </a:xfrm>
              <a:custGeom>
                <a:rect b="b" l="l" r="r" t="t"/>
                <a:pathLst>
                  <a:path extrusionOk="0" h="8889" w="120000">
                    <a:moveTo>
                      <a:pt x="0" y="8705"/>
                    </a:moveTo>
                    <a:lnTo>
                      <a:pt x="0" y="0"/>
                    </a:lnTo>
                  </a:path>
                </a:pathLst>
              </a:custGeom>
              <a:noFill/>
              <a:ln cap="flat" cmpd="sng" w="11375">
                <a:solidFill>
                  <a:srgbClr val="B84A4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54" name="Google Shape;154;p6"/>
              <p:cNvSpPr/>
              <p:nvPr/>
            </p:nvSpPr>
            <p:spPr>
              <a:xfrm>
                <a:off x="1389932" y="2064489"/>
                <a:ext cx="34290" cy="43180"/>
              </a:xfrm>
              <a:custGeom>
                <a:rect b="b" l="l" r="r" t="t"/>
                <a:pathLst>
                  <a:path extrusionOk="0" h="43180" w="34290">
                    <a:moveTo>
                      <a:pt x="34174" y="0"/>
                    </a:moveTo>
                    <a:lnTo>
                      <a:pt x="0" y="0"/>
                    </a:lnTo>
                    <a:lnTo>
                      <a:pt x="5946" y="12049"/>
                    </a:lnTo>
                    <a:lnTo>
                      <a:pt x="11123" y="24862"/>
                    </a:lnTo>
                    <a:lnTo>
                      <a:pt x="15010" y="35952"/>
                    </a:lnTo>
                    <a:lnTo>
                      <a:pt x="17087" y="42831"/>
                    </a:lnTo>
                    <a:lnTo>
                      <a:pt x="19164" y="35952"/>
                    </a:lnTo>
                    <a:lnTo>
                      <a:pt x="23051" y="24862"/>
                    </a:lnTo>
                    <a:lnTo>
                      <a:pt x="28228" y="12049"/>
                    </a:lnTo>
                    <a:lnTo>
                      <a:pt x="34174" y="0"/>
                    </a:lnTo>
                    <a:close/>
                  </a:path>
                </a:pathLst>
              </a:custGeom>
              <a:solidFill>
                <a:srgbClr val="B84A4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55" name="Google Shape;155;p6"/>
              <p:cNvSpPr/>
              <p:nvPr/>
            </p:nvSpPr>
            <p:spPr>
              <a:xfrm>
                <a:off x="1389932" y="2064489"/>
                <a:ext cx="34290" cy="43180"/>
              </a:xfrm>
              <a:custGeom>
                <a:rect b="b" l="l" r="r" t="t"/>
                <a:pathLst>
                  <a:path extrusionOk="0" h="43180" w="34290">
                    <a:moveTo>
                      <a:pt x="17087" y="42831"/>
                    </a:moveTo>
                    <a:lnTo>
                      <a:pt x="19164" y="35952"/>
                    </a:lnTo>
                    <a:lnTo>
                      <a:pt x="23051" y="24862"/>
                    </a:lnTo>
                    <a:lnTo>
                      <a:pt x="28228" y="12049"/>
                    </a:lnTo>
                    <a:lnTo>
                      <a:pt x="34174" y="0"/>
                    </a:lnTo>
                    <a:lnTo>
                      <a:pt x="0" y="0"/>
                    </a:lnTo>
                    <a:lnTo>
                      <a:pt x="5946" y="12049"/>
                    </a:lnTo>
                    <a:lnTo>
                      <a:pt x="11123" y="24862"/>
                    </a:lnTo>
                    <a:lnTo>
                      <a:pt x="15010" y="35952"/>
                    </a:lnTo>
                    <a:lnTo>
                      <a:pt x="17087" y="42831"/>
                    </a:lnTo>
                    <a:close/>
                  </a:path>
                </a:pathLst>
              </a:custGeom>
              <a:noFill/>
              <a:ln cap="flat" cmpd="sng" w="11375">
                <a:solidFill>
                  <a:srgbClr val="B84A4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sp>
        <p:nvSpPr>
          <p:cNvPr id="156" name="Google Shape;156;p6"/>
          <p:cNvSpPr/>
          <p:nvPr/>
        </p:nvSpPr>
        <p:spPr>
          <a:xfrm>
            <a:off x="746086" y="1497306"/>
            <a:ext cx="6096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Age-pooled model training: Classifiers are typically trained on pooled pediatric + adult data, assuming one feature–severity relationship fits all ages.</a:t>
            </a:r>
            <a:endParaRPr/>
          </a:p>
        </p:txBody>
      </p:sp>
      <p:sp>
        <p:nvSpPr>
          <p:cNvPr id="157" name="Google Shape;157;p6"/>
          <p:cNvSpPr/>
          <p:nvPr/>
        </p:nvSpPr>
        <p:spPr>
          <a:xfrm>
            <a:off x="659308" y="2596152"/>
            <a:ext cx="6096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Global feature attribution: SHAP explanations are computed for the whole pooled cohort, averaging out subgroup-level differences.</a:t>
            </a:r>
            <a:endParaRPr/>
          </a:p>
        </p:txBody>
      </p:sp>
      <p:sp>
        <p:nvSpPr>
          <p:cNvPr id="158" name="Google Shape;158;p6"/>
          <p:cNvSpPr/>
          <p:nvPr/>
        </p:nvSpPr>
        <p:spPr>
          <a:xfrm>
            <a:off x="702998" y="3699071"/>
            <a:ext cx="6096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Misalignment with clinical practice: Clinicians judge children and adults against age-specific norms; pooled models give one generic boundary.</a:t>
            </a:r>
            <a:endParaRPr/>
          </a:p>
        </p:txBody>
      </p:sp>
      <p:sp>
        <p:nvSpPr>
          <p:cNvPr id="159" name="Google Shape;159;p6"/>
          <p:cNvSpPr/>
          <p:nvPr/>
        </p:nvSpPr>
        <p:spPr>
          <a:xfrm>
            <a:off x="702553" y="4802268"/>
            <a:ext cx="6096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Lack of explainable deployment: Trained models are rarely wired into a system that supports patient-level explanation or structured data collection.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7"/>
          <p:cNvSpPr txBox="1"/>
          <p:nvPr>
            <p:ph type="title"/>
          </p:nvPr>
        </p:nvSpPr>
        <p:spPr>
          <a:xfrm>
            <a:off x="0" y="92365"/>
            <a:ext cx="12062691" cy="107141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Times New Roman"/>
              <a:buNone/>
            </a:pPr>
            <a:r>
              <a:rPr b="1" lang="en-US">
                <a:solidFill>
                  <a:schemeClr val="lt1"/>
                </a:solidFill>
                <a:latin typeface="Times New Roman"/>
                <a:ea typeface="Times New Roman"/>
                <a:cs typeface="Times New Roman"/>
                <a:sym typeface="Times New Roman"/>
              </a:rPr>
              <a:t>Objectives</a:t>
            </a:r>
            <a:endParaRPr/>
          </a:p>
        </p:txBody>
      </p:sp>
      <p:sp>
        <p:nvSpPr>
          <p:cNvPr id="165" name="Google Shape;165;p7"/>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66" name="Google Shape;166;p7"/>
          <p:cNvSpPr txBox="1"/>
          <p:nvPr/>
        </p:nvSpPr>
        <p:spPr>
          <a:xfrm>
            <a:off x="962024" y="1685925"/>
            <a:ext cx="6810375" cy="2195473"/>
          </a:xfrm>
          <a:prstGeom prst="rect">
            <a:avLst/>
          </a:prstGeom>
          <a:noFill/>
          <a:ln>
            <a:noFill/>
          </a:ln>
        </p:spPr>
        <p:txBody>
          <a:bodyPr anchorCtr="0" anchor="t" bIns="45700" lIns="91425" spcFirstLastPara="1" rIns="91425" wrap="square" tIns="45700">
            <a:spAutoFit/>
          </a:bodyPr>
          <a:lstStyle/>
          <a:p>
            <a:pPr indent="0" lvl="0" marL="75565" marR="0" rtl="0" algn="l">
              <a:lnSpc>
                <a:spcPct val="150000"/>
              </a:lnSpc>
              <a:spcBef>
                <a:spcPts val="0"/>
              </a:spcBef>
              <a:spcAft>
                <a:spcPts val="0"/>
              </a:spcAft>
              <a:buNone/>
            </a:pPr>
            <a:r>
              <a:rPr b="1" lang="en-US" sz="1800">
                <a:solidFill>
                  <a:srgbClr val="065B06"/>
                </a:solidFill>
                <a:latin typeface="Times New Roman"/>
                <a:ea typeface="Times New Roman"/>
                <a:cs typeface="Times New Roman"/>
                <a:sym typeface="Times New Roman"/>
              </a:rPr>
              <a:t>1. </a:t>
            </a:r>
            <a:r>
              <a:rPr lang="en-US" sz="1800">
                <a:solidFill>
                  <a:schemeClr val="dk1"/>
                </a:solidFill>
                <a:latin typeface="Times New Roman"/>
                <a:ea typeface="Times New Roman"/>
                <a:cs typeface="Times New Roman"/>
                <a:sym typeface="Times New Roman"/>
              </a:rPr>
              <a:t>Develop pediatric, adult, and pooled ML models for severe-dengue prediction using classifiers.</a:t>
            </a:r>
            <a:endParaRPr/>
          </a:p>
          <a:p>
            <a:pPr indent="0" lvl="0" marL="75565" marR="0" rtl="0" algn="l">
              <a:lnSpc>
                <a:spcPct val="150000"/>
              </a:lnSpc>
              <a:spcBef>
                <a:spcPts val="95"/>
              </a:spcBef>
              <a:spcAft>
                <a:spcPts val="0"/>
              </a:spcAft>
              <a:buNone/>
            </a:pPr>
            <a:r>
              <a:rPr b="1" lang="en-US" sz="1800">
                <a:solidFill>
                  <a:srgbClr val="065B06"/>
                </a:solidFill>
                <a:latin typeface="Times New Roman"/>
                <a:ea typeface="Times New Roman"/>
                <a:cs typeface="Times New Roman"/>
                <a:sym typeface="Times New Roman"/>
              </a:rPr>
              <a:t>2. </a:t>
            </a:r>
            <a:r>
              <a:rPr lang="en-US" sz="1800">
                <a:solidFill>
                  <a:schemeClr val="dk1"/>
                </a:solidFill>
                <a:latin typeface="Times New Roman"/>
                <a:ea typeface="Times New Roman"/>
                <a:cs typeface="Times New Roman"/>
                <a:sym typeface="Times New Roman"/>
              </a:rPr>
              <a:t>Generate subgroup-specific SHAP explanations, identify model-derived feature splits</a:t>
            </a:r>
            <a:endParaRPr/>
          </a:p>
          <a:p>
            <a:pPr indent="0" lvl="0" marL="75565" marR="0" rtl="0" algn="l">
              <a:lnSpc>
                <a:spcPct val="150000"/>
              </a:lnSpc>
              <a:spcBef>
                <a:spcPts val="95"/>
              </a:spcBef>
              <a:spcAft>
                <a:spcPts val="0"/>
              </a:spcAft>
              <a:buNone/>
            </a:pPr>
            <a:r>
              <a:rPr b="1" lang="en-US" sz="1800">
                <a:solidFill>
                  <a:srgbClr val="065B06"/>
                </a:solidFill>
                <a:latin typeface="Times New Roman"/>
                <a:ea typeface="Times New Roman"/>
                <a:cs typeface="Times New Roman"/>
                <a:sym typeface="Times New Roman"/>
              </a:rPr>
              <a:t>3. </a:t>
            </a:r>
            <a:r>
              <a:rPr lang="en-US" sz="1800">
                <a:solidFill>
                  <a:schemeClr val="dk1"/>
                </a:solidFill>
                <a:latin typeface="Times New Roman"/>
                <a:ea typeface="Times New Roman"/>
                <a:cs typeface="Times New Roman"/>
                <a:sym typeface="Times New Roman"/>
              </a:rPr>
              <a:t>An explainable web dashboard for longitudinal data collection.</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8"/>
          <p:cNvSpPr txBox="1"/>
          <p:nvPr>
            <p:ph type="title"/>
          </p:nvPr>
        </p:nvSpPr>
        <p:spPr>
          <a:xfrm>
            <a:off x="857250" y="165100"/>
            <a:ext cx="10515600" cy="10826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Times New Roman"/>
              <a:buNone/>
            </a:pPr>
            <a:r>
              <a:rPr b="1" lang="en-US">
                <a:solidFill>
                  <a:schemeClr val="lt1"/>
                </a:solidFill>
                <a:latin typeface="Times New Roman"/>
                <a:ea typeface="Times New Roman"/>
                <a:cs typeface="Times New Roman"/>
                <a:sym typeface="Times New Roman"/>
              </a:rPr>
              <a:t> Related Works</a:t>
            </a:r>
            <a:endParaRPr/>
          </a:p>
        </p:txBody>
      </p:sp>
      <p:sp>
        <p:nvSpPr>
          <p:cNvPr id="172" name="Google Shape;172;p8"/>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73" name="Google Shape;173;p8"/>
          <p:cNvGraphicFramePr/>
          <p:nvPr/>
        </p:nvGraphicFramePr>
        <p:xfrm>
          <a:off x="180974" y="1447801"/>
          <a:ext cx="3000000" cy="3000000"/>
        </p:xfrm>
        <a:graphic>
          <a:graphicData uri="http://schemas.openxmlformats.org/drawingml/2006/table">
            <a:tbl>
              <a:tblPr bandRow="1" firstRow="1">
                <a:noFill/>
                <a:tableStyleId>{903459BB-3F7C-4962-BC80-356C0449B5BC}</a:tableStyleId>
              </a:tblPr>
              <a:tblGrid>
                <a:gridCol w="1976450"/>
                <a:gridCol w="1976450"/>
                <a:gridCol w="1976450"/>
                <a:gridCol w="1976450"/>
                <a:gridCol w="1976450"/>
                <a:gridCol w="1976450"/>
              </a:tblGrid>
              <a:tr h="1240625">
                <a:tc>
                  <a:txBody>
                    <a:bodyPr/>
                    <a:lstStyle/>
                    <a:p>
                      <a:pPr indent="0" lvl="0" marL="0" marR="0" rtl="0" algn="l">
                        <a:spcBef>
                          <a:spcPts val="0"/>
                        </a:spcBef>
                        <a:spcAft>
                          <a:spcPts val="0"/>
                        </a:spcAft>
                        <a:buNone/>
                      </a:pPr>
                      <a:r>
                        <a:rPr lang="en-US" sz="1800" u="none" cap="none" strike="noStrike"/>
                        <a:t>Ref</a:t>
                      </a:r>
                      <a:endParaRPr/>
                    </a:p>
                  </a:txBody>
                  <a:tcPr marT="45725" marB="45725" marR="91450" marL="91450"/>
                </a:tc>
                <a:tc>
                  <a:txBody>
                    <a:bodyPr/>
                    <a:lstStyle/>
                    <a:p>
                      <a:pPr indent="0" lvl="0" marL="0" marR="0" rtl="0" algn="l">
                        <a:spcBef>
                          <a:spcPts val="0"/>
                        </a:spcBef>
                        <a:spcAft>
                          <a:spcPts val="0"/>
                        </a:spcAft>
                        <a:buNone/>
                      </a:pPr>
                      <a:r>
                        <a:rPr lang="en-US" sz="1800"/>
                        <a:t>Focus </a:t>
                      </a:r>
                      <a:endParaRPr/>
                    </a:p>
                  </a:txBody>
                  <a:tcPr marT="45725" marB="45725" marR="91450" marL="91450"/>
                </a:tc>
                <a:tc>
                  <a:txBody>
                    <a:bodyPr/>
                    <a:lstStyle/>
                    <a:p>
                      <a:pPr indent="0" lvl="0" marL="0" marR="0" rtl="0" algn="l">
                        <a:spcBef>
                          <a:spcPts val="0"/>
                        </a:spcBef>
                        <a:spcAft>
                          <a:spcPts val="0"/>
                        </a:spcAft>
                        <a:buNone/>
                      </a:pPr>
                      <a:r>
                        <a:rPr lang="en-US" sz="1800"/>
                        <a:t>Cohort</a:t>
                      </a:r>
                      <a:endParaRPr/>
                    </a:p>
                  </a:txBody>
                  <a:tcPr marT="45725" marB="45725" marR="91450" marL="91450"/>
                </a:tc>
                <a:tc>
                  <a:txBody>
                    <a:bodyPr/>
                    <a:lstStyle/>
                    <a:p>
                      <a:pPr indent="0" lvl="0" marL="0" marR="0" rtl="0" algn="l">
                        <a:spcBef>
                          <a:spcPts val="0"/>
                        </a:spcBef>
                        <a:spcAft>
                          <a:spcPts val="0"/>
                        </a:spcAft>
                        <a:buNone/>
                      </a:pPr>
                      <a:r>
                        <a:rPr lang="en-US" sz="1800"/>
                        <a:t>Methods</a:t>
                      </a:r>
                      <a:endParaRPr/>
                    </a:p>
                  </a:txBody>
                  <a:tcPr marT="45725" marB="45725" marR="91450" marL="91450"/>
                </a:tc>
                <a:tc>
                  <a:txBody>
                    <a:bodyPr/>
                    <a:lstStyle/>
                    <a:p>
                      <a:pPr indent="0" lvl="0" marL="0" marR="0" rtl="0" algn="l">
                        <a:spcBef>
                          <a:spcPts val="0"/>
                        </a:spcBef>
                        <a:spcAft>
                          <a:spcPts val="0"/>
                        </a:spcAft>
                        <a:buNone/>
                      </a:pPr>
                      <a:r>
                        <a:rPr lang="en-US" sz="1800"/>
                        <a:t>Outcome Definition</a:t>
                      </a:r>
                      <a:endParaRPr/>
                    </a:p>
                  </a:txBody>
                  <a:tcPr marT="45725" marB="45725" marR="91450" marL="91450"/>
                </a:tc>
                <a:tc>
                  <a:txBody>
                    <a:bodyPr/>
                    <a:lstStyle/>
                    <a:p>
                      <a:pPr indent="0" lvl="0" marL="0" marR="0" rtl="0" algn="l">
                        <a:spcBef>
                          <a:spcPts val="0"/>
                        </a:spcBef>
                        <a:spcAft>
                          <a:spcPts val="0"/>
                        </a:spcAft>
                        <a:buNone/>
                      </a:pPr>
                      <a:r>
                        <a:rPr lang="en-US" sz="1800"/>
                        <a:t>Gaps</a:t>
                      </a:r>
                      <a:endParaRPr sz="1800"/>
                    </a:p>
                  </a:txBody>
                  <a:tcPr marT="45725" marB="45725" marR="91450" marL="91450"/>
                </a:tc>
              </a:tr>
              <a:tr h="1240625">
                <a:tc>
                  <a:txBody>
                    <a:bodyPr/>
                    <a:lstStyle/>
                    <a:p>
                      <a:pPr indent="0" lvl="0" marL="0" marR="0" rtl="0" algn="ctr">
                        <a:lnSpc>
                          <a:spcPct val="107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[1]</a:t>
                      </a:r>
                      <a:endParaRPr sz="1200">
                        <a:solidFill>
                          <a:srgbClr val="000000"/>
                        </a:solidFill>
                        <a:latin typeface="Cambria"/>
                        <a:ea typeface="Cambria"/>
                        <a:cs typeface="Cambria"/>
                        <a:sym typeface="Cambria"/>
                      </a:endParaRPr>
                    </a:p>
                  </a:txBody>
                  <a:tcPr marT="84450" marB="0" marR="78100" marL="78750"/>
                </a:tc>
                <a:tc>
                  <a:txBody>
                    <a:bodyPr/>
                    <a:lstStyle/>
                    <a:p>
                      <a:pPr indent="0" lvl="0" marL="0" marR="0" rtl="0" algn="l">
                        <a:spcBef>
                          <a:spcPts val="0"/>
                        </a:spcBef>
                        <a:spcAft>
                          <a:spcPts val="0"/>
                        </a:spcAft>
                        <a:buNone/>
                      </a:pPr>
                      <a:r>
                        <a:rPr lang="en-US" sz="1800"/>
                        <a:t>Early-phase dengue diagnosis</a:t>
                      </a:r>
                      <a:endParaRPr/>
                    </a:p>
                  </a:txBody>
                  <a:tcPr marT="45725" marB="45725" marR="91450" marL="91450"/>
                </a:tc>
                <a:tc>
                  <a:txBody>
                    <a:bodyPr/>
                    <a:lstStyle/>
                    <a:p>
                      <a:pPr indent="0" lvl="0" marL="0" marR="0" rtl="0" algn="l">
                        <a:spcBef>
                          <a:spcPts val="0"/>
                        </a:spcBef>
                        <a:spcAft>
                          <a:spcPts val="0"/>
                        </a:spcAft>
                        <a:buNone/>
                      </a:pPr>
                      <a:r>
                        <a:rPr lang="en-US" sz="1800"/>
                        <a:t>Decision-tree algorithms</a:t>
                      </a:r>
                      <a:endParaRPr/>
                    </a:p>
                  </a:txBody>
                  <a:tcPr marT="45725" marB="45725" marR="91450" marL="91450"/>
                </a:tc>
                <a:tc>
                  <a:txBody>
                    <a:bodyPr/>
                    <a:lstStyle/>
                    <a:p>
                      <a:pPr indent="0" lvl="0" marL="0" marR="0" rtl="0" algn="l">
                        <a:spcBef>
                          <a:spcPts val="0"/>
                        </a:spcBef>
                        <a:spcAft>
                          <a:spcPts val="0"/>
                        </a:spcAft>
                        <a:buNone/>
                      </a:pPr>
                      <a:r>
                        <a:rPr lang="en-US" sz="1800"/>
                        <a:t>Diagnosis + outcome(early illness)</a:t>
                      </a:r>
                      <a:endParaRPr/>
                    </a:p>
                  </a:txBody>
                  <a:tcPr marT="45725" marB="45725" marR="91450" marL="91450"/>
                </a:tc>
                <a:tc>
                  <a:txBody>
                    <a:bodyPr/>
                    <a:lstStyle/>
                    <a:p>
                      <a:pPr indent="0" lvl="0" marL="0" marR="0" rtl="0" algn="l">
                        <a:spcBef>
                          <a:spcPts val="0"/>
                        </a:spcBef>
                        <a:spcAft>
                          <a:spcPts val="0"/>
                        </a:spcAft>
                        <a:buNone/>
                      </a:pPr>
                      <a:r>
                        <a:rPr lang="en-US" sz="1800"/>
                        <a:t>Diagnosis + outcome(early illness)</a:t>
                      </a:r>
                      <a:endParaRPr/>
                    </a:p>
                  </a:txBody>
                  <a:tcPr marT="45725" marB="45725" marR="91450" marL="91450"/>
                </a:tc>
                <a:tc>
                  <a:txBody>
                    <a:bodyPr/>
                    <a:lstStyle/>
                    <a:p>
                      <a:pPr indent="0" lvl="0" marL="0" marR="0" rtl="0" algn="l">
                        <a:spcBef>
                          <a:spcPts val="0"/>
                        </a:spcBef>
                        <a:spcAft>
                          <a:spcPts val="0"/>
                        </a:spcAft>
                        <a:buNone/>
                      </a:pPr>
                      <a:r>
                        <a:rPr lang="en-US" sz="1800"/>
                        <a:t>Age-aware but pre-SHAP; no subgroup specific explain-ability</a:t>
                      </a:r>
                      <a:endParaRPr/>
                    </a:p>
                  </a:txBody>
                  <a:tcPr marT="45725" marB="45725" marR="91450" marL="91450"/>
                </a:tc>
              </a:tr>
              <a:tr h="1240625">
                <a:tc>
                  <a:txBody>
                    <a:bodyPr/>
                    <a:lstStyle/>
                    <a:p>
                      <a:pPr indent="0" lvl="0" marL="0" marR="0" rtl="0" algn="ctr">
                        <a:lnSpc>
                          <a:spcPct val="107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[2]</a:t>
                      </a:r>
                      <a:endParaRPr sz="1200">
                        <a:solidFill>
                          <a:srgbClr val="000000"/>
                        </a:solidFill>
                        <a:latin typeface="Cambria"/>
                        <a:ea typeface="Cambria"/>
                        <a:cs typeface="Cambria"/>
                        <a:sym typeface="Cambria"/>
                      </a:endParaRPr>
                    </a:p>
                  </a:txBody>
                  <a:tcPr marT="84450" marB="0" marR="78100" marL="78750"/>
                </a:tc>
                <a:tc>
                  <a:txBody>
                    <a:bodyPr/>
                    <a:lstStyle/>
                    <a:p>
                      <a:pPr indent="0" lvl="0" marL="0" marR="0" rtl="0" algn="l">
                        <a:spcBef>
                          <a:spcPts val="0"/>
                        </a:spcBef>
                        <a:spcAft>
                          <a:spcPts val="0"/>
                        </a:spcAft>
                        <a:buNone/>
                      </a:pPr>
                      <a:r>
                        <a:rPr lang="en-US" sz="1800"/>
                        <a:t>Pediatric severity using early labs</a:t>
                      </a:r>
                      <a:endParaRPr/>
                    </a:p>
                  </a:txBody>
                  <a:tcPr marT="45725" marB="45725" marR="91450" marL="91450"/>
                </a:tc>
                <a:tc>
                  <a:txBody>
                    <a:bodyPr/>
                    <a:lstStyle/>
                    <a:p>
                      <a:pPr indent="0" lvl="0" marL="0" marR="0" rtl="0" algn="l">
                        <a:spcBef>
                          <a:spcPts val="0"/>
                        </a:spcBef>
                        <a:spcAft>
                          <a:spcPts val="0"/>
                        </a:spcAft>
                        <a:buNone/>
                      </a:pPr>
                      <a:r>
                        <a:rPr lang="en-US" sz="1800"/>
                        <a:t>Thailand, pediatric cohort</a:t>
                      </a:r>
                      <a:endParaRPr/>
                    </a:p>
                  </a:txBody>
                  <a:tcPr marT="45725" marB="45725" marR="91450" marL="91450"/>
                </a:tc>
                <a:tc>
                  <a:txBody>
                    <a:bodyPr/>
                    <a:lstStyle/>
                    <a:p>
                      <a:pPr indent="0" lvl="0" marL="0" marR="0" rtl="0" algn="l">
                        <a:spcBef>
                          <a:spcPts val="0"/>
                        </a:spcBef>
                        <a:spcAft>
                          <a:spcPts val="0"/>
                        </a:spcAft>
                        <a:buNone/>
                      </a:pPr>
                      <a:r>
                        <a:rPr lang="en-US" sz="1800"/>
                        <a:t>Logistic ML (misclassification cost ratio 1:10)</a:t>
                      </a:r>
                      <a:endParaRPr/>
                    </a:p>
                  </a:txBody>
                  <a:tcPr marT="45725" marB="45725" marR="91450" marL="91450"/>
                </a:tc>
                <a:tc>
                  <a:txBody>
                    <a:bodyPr/>
                    <a:lstStyle/>
                    <a:p>
                      <a:pPr indent="0" lvl="0" marL="0" marR="0" rtl="0" algn="l">
                        <a:spcBef>
                          <a:spcPts val="0"/>
                        </a:spcBef>
                        <a:spcAft>
                          <a:spcPts val="0"/>
                        </a:spcAft>
                        <a:buNone/>
                      </a:pPr>
                      <a:r>
                        <a:rPr lang="en-US" sz="1800"/>
                        <a:t>Dengue severity from early labs</a:t>
                      </a:r>
                      <a:endParaRPr/>
                    </a:p>
                  </a:txBody>
                  <a:tcPr marT="45725" marB="45725" marR="91450" marL="91450"/>
                </a:tc>
                <a:tc>
                  <a:txBody>
                    <a:bodyPr/>
                    <a:lstStyle/>
                    <a:p>
                      <a:pPr indent="0" lvl="0" marL="0" marR="0" rtl="0" algn="l">
                        <a:spcBef>
                          <a:spcPts val="0"/>
                        </a:spcBef>
                        <a:spcAft>
                          <a:spcPts val="0"/>
                        </a:spcAft>
                        <a:buNone/>
                      </a:pPr>
                      <a:r>
                        <a:rPr lang="en-US" sz="1800"/>
                        <a:t>Pediatric only; no adult comparison subgroup</a:t>
                      </a:r>
                      <a:endParaRPr/>
                    </a:p>
                  </a:txBody>
                  <a:tcPr marT="45725" marB="45725" marR="91450" marL="91450"/>
                </a:tc>
              </a:tr>
              <a:tr h="1240625">
                <a:tc>
                  <a:txBody>
                    <a:bodyPr/>
                    <a:lstStyle/>
                    <a:p>
                      <a:pPr indent="0" lvl="0" marL="0" marR="0" rtl="0" algn="ctr">
                        <a:lnSpc>
                          <a:spcPct val="107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[3]</a:t>
                      </a:r>
                      <a:endParaRPr sz="1200">
                        <a:solidFill>
                          <a:srgbClr val="000000"/>
                        </a:solidFill>
                        <a:latin typeface="Cambria"/>
                        <a:ea typeface="Cambria"/>
                        <a:cs typeface="Cambria"/>
                        <a:sym typeface="Cambria"/>
                      </a:endParaRPr>
                    </a:p>
                  </a:txBody>
                  <a:tcPr marT="84450" marB="0" marR="78100" marL="78750"/>
                </a:tc>
                <a:tc>
                  <a:txBody>
                    <a:bodyPr/>
                    <a:lstStyle/>
                    <a:p>
                      <a:pPr indent="0" lvl="0" marL="0" marR="0" rtl="0" algn="l">
                        <a:spcBef>
                          <a:spcPts val="0"/>
                        </a:spcBef>
                        <a:spcAft>
                          <a:spcPts val="0"/>
                        </a:spcAft>
                        <a:buNone/>
                      </a:pPr>
                      <a:r>
                        <a:rPr lang="en-US" sz="1800"/>
                        <a:t>Clinical pattern discovery</a:t>
                      </a:r>
                      <a:endParaRPr/>
                    </a:p>
                  </a:txBody>
                  <a:tcPr marT="45725" marB="45725" marR="91450" marL="91450"/>
                </a:tc>
                <a:tc>
                  <a:txBody>
                    <a:bodyPr/>
                    <a:lstStyle/>
                    <a:p>
                      <a:pPr indent="0" lvl="0" marL="0" marR="0" rtl="0" algn="l">
                        <a:spcBef>
                          <a:spcPts val="0"/>
                        </a:spcBef>
                        <a:spcAft>
                          <a:spcPts val="0"/>
                        </a:spcAft>
                        <a:buNone/>
                      </a:pPr>
                      <a:r>
                        <a:rPr lang="en-US" sz="1800"/>
                        <a:t>Brazil, n=527</a:t>
                      </a:r>
                      <a:endParaRPr/>
                    </a:p>
                  </a:txBody>
                  <a:tcPr marT="45725" marB="45725" marR="91450" marL="91450"/>
                </a:tc>
                <a:tc>
                  <a:txBody>
                    <a:bodyPr/>
                    <a:lstStyle/>
                    <a:p>
                      <a:pPr indent="0" lvl="0" marL="0" marR="0" rtl="0" algn="l">
                        <a:spcBef>
                          <a:spcPts val="0"/>
                        </a:spcBef>
                        <a:spcAft>
                          <a:spcPts val="0"/>
                        </a:spcAft>
                        <a:buNone/>
                      </a:pPr>
                      <a:r>
                        <a:rPr lang="en-US" sz="1800"/>
                        <a:t>K-means+hierarchical clustering</a:t>
                      </a:r>
                      <a:endParaRPr/>
                    </a:p>
                  </a:txBody>
                  <a:tcPr marT="45725" marB="45725" marR="91450" marL="91450"/>
                </a:tc>
                <a:tc>
                  <a:txBody>
                    <a:bodyPr/>
                    <a:lstStyle/>
                    <a:p>
                      <a:pPr indent="0" lvl="0" marL="0" marR="0" rtl="0" algn="l">
                        <a:spcBef>
                          <a:spcPts val="0"/>
                        </a:spcBef>
                        <a:spcAft>
                          <a:spcPts val="0"/>
                        </a:spcAft>
                        <a:buNone/>
                      </a:pPr>
                      <a:r>
                        <a:rPr lang="en-US" sz="1800"/>
                        <a:t>Clinical phenotypes (not WHO severity)</a:t>
                      </a:r>
                      <a:endParaRPr/>
                    </a:p>
                  </a:txBody>
                  <a:tcPr marT="45725" marB="45725" marR="91450" marL="91450"/>
                </a:tc>
                <a:tc>
                  <a:txBody>
                    <a:bodyPr/>
                    <a:lstStyle/>
                    <a:p>
                      <a:pPr indent="0" lvl="0" marL="0" marR="0" rtl="0" algn="l">
                        <a:spcBef>
                          <a:spcPts val="0"/>
                        </a:spcBef>
                        <a:spcAft>
                          <a:spcPts val="0"/>
                        </a:spcAft>
                        <a:buNone/>
                      </a:pPr>
                      <a:r>
                        <a:rPr lang="en-US" sz="1800"/>
                        <a:t>Age identified as top discriminator; no subgroup specific prediction</a:t>
                      </a:r>
                      <a:endParaRPr/>
                    </a:p>
                  </a:txBody>
                  <a:tcPr marT="45725" marB="45725" marR="91450" marL="9145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9"/>
          <p:cNvSpPr txBox="1"/>
          <p:nvPr>
            <p:ph type="title"/>
          </p:nvPr>
        </p:nvSpPr>
        <p:spPr>
          <a:xfrm>
            <a:off x="838200" y="165101"/>
            <a:ext cx="10515600" cy="863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Times New Roman"/>
              <a:buNone/>
            </a:pPr>
            <a:r>
              <a:rPr b="1" lang="en-US">
                <a:solidFill>
                  <a:schemeClr val="lt1"/>
                </a:solidFill>
                <a:latin typeface="Times New Roman"/>
                <a:ea typeface="Times New Roman"/>
                <a:cs typeface="Times New Roman"/>
                <a:sym typeface="Times New Roman"/>
              </a:rPr>
              <a:t> Related Works</a:t>
            </a:r>
            <a:endParaRPr/>
          </a:p>
        </p:txBody>
      </p:sp>
      <p:sp>
        <p:nvSpPr>
          <p:cNvPr id="179" name="Google Shape;179;p9"/>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80" name="Google Shape;180;p9"/>
          <p:cNvGraphicFramePr/>
          <p:nvPr/>
        </p:nvGraphicFramePr>
        <p:xfrm>
          <a:off x="180974" y="1447801"/>
          <a:ext cx="3000000" cy="3000000"/>
        </p:xfrm>
        <a:graphic>
          <a:graphicData uri="http://schemas.openxmlformats.org/drawingml/2006/table">
            <a:tbl>
              <a:tblPr bandRow="1" firstRow="1">
                <a:noFill/>
                <a:tableStyleId>{903459BB-3F7C-4962-BC80-356C0449B5BC}</a:tableStyleId>
              </a:tblPr>
              <a:tblGrid>
                <a:gridCol w="1976450"/>
                <a:gridCol w="1976450"/>
                <a:gridCol w="1976450"/>
                <a:gridCol w="1976450"/>
                <a:gridCol w="1976450"/>
                <a:gridCol w="1976450"/>
              </a:tblGrid>
              <a:tr h="1240625">
                <a:tc>
                  <a:txBody>
                    <a:bodyPr/>
                    <a:lstStyle/>
                    <a:p>
                      <a:pPr indent="0" lvl="0" marL="0" marR="0" rtl="0" algn="l">
                        <a:spcBef>
                          <a:spcPts val="0"/>
                        </a:spcBef>
                        <a:spcAft>
                          <a:spcPts val="0"/>
                        </a:spcAft>
                        <a:buNone/>
                      </a:pPr>
                      <a:r>
                        <a:rPr lang="en-US" sz="1800"/>
                        <a:t>Ref</a:t>
                      </a:r>
                      <a:endParaRPr/>
                    </a:p>
                  </a:txBody>
                  <a:tcPr marT="45725" marB="45725" marR="91450" marL="91450"/>
                </a:tc>
                <a:tc>
                  <a:txBody>
                    <a:bodyPr/>
                    <a:lstStyle/>
                    <a:p>
                      <a:pPr indent="0" lvl="0" marL="0" marR="0" rtl="0" algn="l">
                        <a:spcBef>
                          <a:spcPts val="0"/>
                        </a:spcBef>
                        <a:spcAft>
                          <a:spcPts val="0"/>
                        </a:spcAft>
                        <a:buNone/>
                      </a:pPr>
                      <a:r>
                        <a:rPr lang="en-US" sz="1800"/>
                        <a:t>Focus </a:t>
                      </a:r>
                      <a:endParaRPr/>
                    </a:p>
                  </a:txBody>
                  <a:tcPr marT="45725" marB="45725" marR="91450" marL="91450"/>
                </a:tc>
                <a:tc>
                  <a:txBody>
                    <a:bodyPr/>
                    <a:lstStyle/>
                    <a:p>
                      <a:pPr indent="0" lvl="0" marL="0" marR="0" rtl="0" algn="l">
                        <a:spcBef>
                          <a:spcPts val="0"/>
                        </a:spcBef>
                        <a:spcAft>
                          <a:spcPts val="0"/>
                        </a:spcAft>
                        <a:buNone/>
                      </a:pPr>
                      <a:r>
                        <a:rPr lang="en-US" sz="1800"/>
                        <a:t>Cohort</a:t>
                      </a:r>
                      <a:endParaRPr/>
                    </a:p>
                  </a:txBody>
                  <a:tcPr marT="45725" marB="45725" marR="91450" marL="91450"/>
                </a:tc>
                <a:tc>
                  <a:txBody>
                    <a:bodyPr/>
                    <a:lstStyle/>
                    <a:p>
                      <a:pPr indent="0" lvl="0" marL="0" marR="0" rtl="0" algn="l">
                        <a:spcBef>
                          <a:spcPts val="0"/>
                        </a:spcBef>
                        <a:spcAft>
                          <a:spcPts val="0"/>
                        </a:spcAft>
                        <a:buNone/>
                      </a:pPr>
                      <a:r>
                        <a:rPr lang="en-US" sz="1800"/>
                        <a:t>Methods</a:t>
                      </a:r>
                      <a:endParaRPr/>
                    </a:p>
                  </a:txBody>
                  <a:tcPr marT="45725" marB="45725" marR="91450" marL="91450"/>
                </a:tc>
                <a:tc>
                  <a:txBody>
                    <a:bodyPr/>
                    <a:lstStyle/>
                    <a:p>
                      <a:pPr indent="0" lvl="0" marL="0" marR="0" rtl="0" algn="l">
                        <a:spcBef>
                          <a:spcPts val="0"/>
                        </a:spcBef>
                        <a:spcAft>
                          <a:spcPts val="0"/>
                        </a:spcAft>
                        <a:buNone/>
                      </a:pPr>
                      <a:r>
                        <a:rPr lang="en-US" sz="1800"/>
                        <a:t>Outcome Definition</a:t>
                      </a:r>
                      <a:endParaRPr/>
                    </a:p>
                  </a:txBody>
                  <a:tcPr marT="45725" marB="45725" marR="91450" marL="91450"/>
                </a:tc>
                <a:tc>
                  <a:txBody>
                    <a:bodyPr/>
                    <a:lstStyle/>
                    <a:p>
                      <a:pPr indent="0" lvl="0" marL="0" marR="0" rtl="0" algn="l">
                        <a:spcBef>
                          <a:spcPts val="0"/>
                        </a:spcBef>
                        <a:spcAft>
                          <a:spcPts val="0"/>
                        </a:spcAft>
                        <a:buNone/>
                      </a:pPr>
                      <a:r>
                        <a:rPr lang="en-US" sz="1800"/>
                        <a:t>Gaps</a:t>
                      </a:r>
                      <a:endParaRPr sz="1800"/>
                    </a:p>
                  </a:txBody>
                  <a:tcPr marT="45725" marB="45725" marR="91450" marL="91450"/>
                </a:tc>
              </a:tr>
              <a:tr h="1240625">
                <a:tc>
                  <a:txBody>
                    <a:bodyPr/>
                    <a:lstStyle/>
                    <a:p>
                      <a:pPr indent="0" lvl="0" marL="0" marR="0" rtl="0" algn="l">
                        <a:spcBef>
                          <a:spcPts val="0"/>
                        </a:spcBef>
                        <a:spcAft>
                          <a:spcPts val="0"/>
                        </a:spcAft>
                        <a:buNone/>
                      </a:pPr>
                      <a:r>
                        <a:rPr lang="en-US" sz="1800"/>
                        <a:t>[4]</a:t>
                      </a:r>
                      <a:endParaRPr/>
                    </a:p>
                  </a:txBody>
                  <a:tcPr marT="45725" marB="45725" marR="91450" marL="91450"/>
                </a:tc>
                <a:tc>
                  <a:txBody>
                    <a:bodyPr/>
                    <a:lstStyle/>
                    <a:p>
                      <a:pPr indent="0" lvl="0" marL="0" marR="0" rtl="0" algn="l">
                        <a:spcBef>
                          <a:spcPts val="0"/>
                        </a:spcBef>
                        <a:spcAft>
                          <a:spcPts val="0"/>
                        </a:spcAft>
                        <a:buNone/>
                      </a:pPr>
                      <a:r>
                        <a:rPr lang="en-US" sz="1800"/>
                        <a:t>Demographics + lab ML</a:t>
                      </a:r>
                      <a:endParaRPr/>
                    </a:p>
                  </a:txBody>
                  <a:tcPr marT="45725" marB="45725" marR="91450" marL="91450"/>
                </a:tc>
                <a:tc>
                  <a:txBody>
                    <a:bodyPr/>
                    <a:lstStyle/>
                    <a:p>
                      <a:pPr indent="0" lvl="0" marL="0" marR="0" rtl="0" algn="l">
                        <a:spcBef>
                          <a:spcPts val="0"/>
                        </a:spcBef>
                        <a:spcAft>
                          <a:spcPts val="0"/>
                        </a:spcAft>
                        <a:buNone/>
                      </a:pPr>
                      <a:r>
                        <a:rPr lang="en-US" sz="1800"/>
                        <a:t>Taiwan, n=798 (138 severe</a:t>
                      </a:r>
                      <a:endParaRPr/>
                    </a:p>
                  </a:txBody>
                  <a:tcPr marT="45725" marB="45725" marR="91450" marL="91450"/>
                </a:tc>
                <a:tc>
                  <a:txBody>
                    <a:bodyPr/>
                    <a:lstStyle/>
                    <a:p>
                      <a:pPr indent="0" lvl="0" marL="0" marR="0" rtl="0" algn="l">
                        <a:spcBef>
                          <a:spcPts val="0"/>
                        </a:spcBef>
                        <a:spcAft>
                          <a:spcPts val="0"/>
                        </a:spcAft>
                        <a:buNone/>
                      </a:pPr>
                      <a:r>
                        <a:rPr lang="en-US" sz="1800"/>
                        <a:t>ANN, RF,GBM,SVM,LR+SHAP</a:t>
                      </a:r>
                      <a:endParaRPr/>
                    </a:p>
                  </a:txBody>
                  <a:tcPr marT="45725" marB="45725" marR="91450" marL="91450"/>
                </a:tc>
                <a:tc>
                  <a:txBody>
                    <a:bodyPr/>
                    <a:lstStyle/>
                    <a:p>
                      <a:pPr indent="0" lvl="0" marL="0" marR="0" rtl="0" algn="l">
                        <a:spcBef>
                          <a:spcPts val="0"/>
                        </a:spcBef>
                        <a:spcAft>
                          <a:spcPts val="0"/>
                        </a:spcAft>
                        <a:buNone/>
                      </a:pPr>
                      <a:r>
                        <a:rPr lang="en-US" sz="1800"/>
                        <a:t>Severe dengue (binary</a:t>
                      </a:r>
                      <a:endParaRPr/>
                    </a:p>
                  </a:txBody>
                  <a:tcPr marT="45725" marB="45725" marR="91450" marL="91450"/>
                </a:tc>
                <a:tc>
                  <a:txBody>
                    <a:bodyPr/>
                    <a:lstStyle/>
                    <a:p>
                      <a:pPr indent="0" lvl="0" marL="0" marR="0" rtl="0" algn="l">
                        <a:spcBef>
                          <a:spcPts val="0"/>
                        </a:spcBef>
                        <a:spcAft>
                          <a:spcPts val="0"/>
                        </a:spcAft>
                        <a:buNone/>
                      </a:pPr>
                      <a:r>
                        <a:rPr lang="en-US" sz="1800"/>
                        <a:t>ANN AUC ~ 0.83; pooled cohort, global SHAP only</a:t>
                      </a:r>
                      <a:endParaRPr/>
                    </a:p>
                  </a:txBody>
                  <a:tcPr marT="45725" marB="45725" marR="91450" marL="91450"/>
                </a:tc>
              </a:tr>
              <a:tr h="1240625">
                <a:tc>
                  <a:txBody>
                    <a:bodyPr/>
                    <a:lstStyle/>
                    <a:p>
                      <a:pPr indent="0" lvl="0" marL="0" marR="0" rtl="0" algn="l">
                        <a:spcBef>
                          <a:spcPts val="0"/>
                        </a:spcBef>
                        <a:spcAft>
                          <a:spcPts val="0"/>
                        </a:spcAft>
                        <a:buNone/>
                      </a:pPr>
                      <a:r>
                        <a:rPr lang="en-US" sz="1800"/>
                        <a:t>[5]</a:t>
                      </a:r>
                      <a:endParaRPr/>
                    </a:p>
                  </a:txBody>
                  <a:tcPr marT="45725" marB="45725" marR="91450" marL="91450"/>
                </a:tc>
                <a:tc>
                  <a:txBody>
                    <a:bodyPr/>
                    <a:lstStyle/>
                    <a:p>
                      <a:pPr indent="0" lvl="0" marL="0" marR="0" rtl="0" algn="l">
                        <a:spcBef>
                          <a:spcPts val="0"/>
                        </a:spcBef>
                        <a:spcAft>
                          <a:spcPts val="0"/>
                        </a:spcAft>
                        <a:buNone/>
                      </a:pPr>
                      <a:r>
                        <a:rPr lang="en-US" sz="1800"/>
                        <a:t>Stacking ensemble + SHAP</a:t>
                      </a:r>
                      <a:endParaRPr/>
                    </a:p>
                  </a:txBody>
                  <a:tcPr marT="45725" marB="45725" marR="91450" marL="91450"/>
                </a:tc>
                <a:tc>
                  <a:txBody>
                    <a:bodyPr/>
                    <a:lstStyle/>
                    <a:p>
                      <a:pPr indent="0" lvl="0" marL="0" marR="0" rtl="0" algn="l">
                        <a:spcBef>
                          <a:spcPts val="0"/>
                        </a:spcBef>
                        <a:spcAft>
                          <a:spcPts val="0"/>
                        </a:spcAft>
                        <a:buNone/>
                      </a:pPr>
                      <a:r>
                        <a:rPr lang="en-US" sz="1800"/>
                        <a:t>Mixed, 17 features</a:t>
                      </a:r>
                      <a:endParaRPr/>
                    </a:p>
                  </a:txBody>
                  <a:tcPr marT="45725" marB="45725" marR="91450" marL="91450"/>
                </a:tc>
                <a:tc>
                  <a:txBody>
                    <a:bodyPr/>
                    <a:lstStyle/>
                    <a:p>
                      <a:pPr indent="0" lvl="0" marL="0" marR="0" rtl="0" algn="l">
                        <a:spcBef>
                          <a:spcPts val="0"/>
                        </a:spcBef>
                        <a:spcAft>
                          <a:spcPts val="0"/>
                        </a:spcAft>
                        <a:buNone/>
                      </a:pPr>
                      <a:r>
                        <a:rPr lang="en-US" sz="1800"/>
                        <a:t>11 ML models + Staking + SMOTE </a:t>
                      </a:r>
                      <a:endParaRPr/>
                    </a:p>
                  </a:txBody>
                  <a:tcPr marT="45725" marB="45725" marR="91450" marL="91450"/>
                </a:tc>
                <a:tc>
                  <a:txBody>
                    <a:bodyPr/>
                    <a:lstStyle/>
                    <a:p>
                      <a:pPr indent="0" lvl="0" marL="0" marR="0" rtl="0" algn="l">
                        <a:spcBef>
                          <a:spcPts val="0"/>
                        </a:spcBef>
                        <a:spcAft>
                          <a:spcPts val="0"/>
                        </a:spcAft>
                        <a:buNone/>
                      </a:pPr>
                      <a:r>
                        <a:rPr lang="en-US" sz="1800"/>
                        <a:t>Severe dengue</a:t>
                      </a:r>
                      <a:endParaRPr/>
                    </a:p>
                  </a:txBody>
                  <a:tcPr marT="45725" marB="45725" marR="91450" marL="91450"/>
                </a:tc>
                <a:tc>
                  <a:txBody>
                    <a:bodyPr/>
                    <a:lstStyle/>
                    <a:p>
                      <a:pPr indent="0" lvl="0" marL="0" marR="0" rtl="0" algn="l">
                        <a:spcBef>
                          <a:spcPts val="0"/>
                        </a:spcBef>
                        <a:spcAft>
                          <a:spcPts val="0"/>
                        </a:spcAft>
                        <a:buNone/>
                      </a:pPr>
                      <a:r>
                        <a:rPr lang="en-US" sz="1800"/>
                        <a:t>77% baseline / 83% post-SMOTE accuracy; global SHAP only</a:t>
                      </a:r>
                      <a:endParaRPr/>
                    </a:p>
                  </a:txBody>
                  <a:tcPr marT="45725" marB="45725" marR="91450" marL="91450"/>
                </a:tc>
              </a:tr>
              <a:tr h="1240625">
                <a:tc>
                  <a:txBody>
                    <a:bodyPr/>
                    <a:lstStyle/>
                    <a:p>
                      <a:pPr indent="0" lvl="0" marL="0" marR="0" rtl="0" algn="l">
                        <a:spcBef>
                          <a:spcPts val="0"/>
                        </a:spcBef>
                        <a:spcAft>
                          <a:spcPts val="0"/>
                        </a:spcAft>
                        <a:buNone/>
                      </a:pPr>
                      <a:r>
                        <a:rPr lang="en-US" sz="1800"/>
                        <a:t>[6]</a:t>
                      </a:r>
                      <a:endParaRPr/>
                    </a:p>
                  </a:txBody>
                  <a:tcPr marT="45725" marB="45725" marR="91450" marL="91450"/>
                </a:tc>
                <a:tc>
                  <a:txBody>
                    <a:bodyPr/>
                    <a:lstStyle/>
                    <a:p>
                      <a:pPr indent="0" lvl="0" marL="0" marR="0" rtl="0" algn="l">
                        <a:spcBef>
                          <a:spcPts val="0"/>
                        </a:spcBef>
                        <a:spcAft>
                          <a:spcPts val="0"/>
                        </a:spcAft>
                        <a:buNone/>
                      </a:pPr>
                      <a:r>
                        <a:rPr lang="en-US" sz="1800"/>
                        <a:t>Stacked ensemble + dual XAI</a:t>
                      </a:r>
                      <a:endParaRPr/>
                    </a:p>
                  </a:txBody>
                  <a:tcPr marT="45725" marB="45725" marR="91450" marL="91450"/>
                </a:tc>
                <a:tc>
                  <a:txBody>
                    <a:bodyPr/>
                    <a:lstStyle/>
                    <a:p>
                      <a:pPr indent="0" lvl="0" marL="0" marR="0" rtl="0" algn="l">
                        <a:spcBef>
                          <a:spcPts val="0"/>
                        </a:spcBef>
                        <a:spcAft>
                          <a:spcPts val="0"/>
                        </a:spcAft>
                        <a:buNone/>
                      </a:pPr>
                      <a:r>
                        <a:rPr lang="en-US" sz="1800"/>
                        <a:t>Bangladesh, n=1523</a:t>
                      </a:r>
                      <a:endParaRPr/>
                    </a:p>
                  </a:txBody>
                  <a:tcPr marT="45725" marB="45725" marR="91450" marL="91450"/>
                </a:tc>
                <a:tc>
                  <a:txBody>
                    <a:bodyPr/>
                    <a:lstStyle/>
                    <a:p>
                      <a:pPr indent="0" lvl="0" marL="0" marR="0" rtl="0" algn="l">
                        <a:spcBef>
                          <a:spcPts val="0"/>
                        </a:spcBef>
                        <a:spcAft>
                          <a:spcPts val="0"/>
                        </a:spcAft>
                        <a:buNone/>
                      </a:pPr>
                      <a:r>
                        <a:rPr lang="en-US" sz="1800"/>
                        <a:t>Stacked ensemble + SMOTEENN + SHAP/LIME</a:t>
                      </a:r>
                      <a:endParaRPr/>
                    </a:p>
                  </a:txBody>
                  <a:tcPr marT="45725" marB="45725" marR="91450" marL="91450"/>
                </a:tc>
                <a:tc>
                  <a:txBody>
                    <a:bodyPr/>
                    <a:lstStyle/>
                    <a:p>
                      <a:pPr indent="0" lvl="0" marL="0" marR="0" rtl="0" algn="l">
                        <a:spcBef>
                          <a:spcPts val="0"/>
                        </a:spcBef>
                        <a:spcAft>
                          <a:spcPts val="0"/>
                        </a:spcAft>
                        <a:buNone/>
                      </a:pPr>
                      <a:r>
                        <a:rPr lang="en-US" sz="1800"/>
                        <a:t>Dengue severity (multiclass)</a:t>
                      </a:r>
                      <a:endParaRPr/>
                    </a:p>
                  </a:txBody>
                  <a:tcPr marT="45725" marB="45725" marR="91450" marL="91450"/>
                </a:tc>
                <a:tc>
                  <a:txBody>
                    <a:bodyPr/>
                    <a:lstStyle/>
                    <a:p>
                      <a:pPr indent="0" lvl="0" marL="0" marR="0" rtl="0" algn="l">
                        <a:spcBef>
                          <a:spcPts val="0"/>
                        </a:spcBef>
                        <a:spcAft>
                          <a:spcPts val="0"/>
                        </a:spcAft>
                        <a:buNone/>
                      </a:pPr>
                      <a:r>
                        <a:rPr lang="en-US" sz="1800"/>
                        <a:t>96.38% accuracy; global explanation only</a:t>
                      </a:r>
                      <a:endParaRPr/>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0"/>
          <p:cNvSpPr txBox="1"/>
          <p:nvPr>
            <p:ph type="title"/>
          </p:nvPr>
        </p:nvSpPr>
        <p:spPr>
          <a:xfrm>
            <a:off x="819150" y="193676"/>
            <a:ext cx="10515600" cy="844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Times New Roman"/>
              <a:buNone/>
            </a:pPr>
            <a:r>
              <a:rPr b="1" lang="en-US">
                <a:solidFill>
                  <a:schemeClr val="lt1"/>
                </a:solidFill>
                <a:latin typeface="Times New Roman"/>
                <a:ea typeface="Times New Roman"/>
                <a:cs typeface="Times New Roman"/>
                <a:sym typeface="Times New Roman"/>
              </a:rPr>
              <a:t> Related Works</a:t>
            </a:r>
            <a:endParaRPr/>
          </a:p>
        </p:txBody>
      </p:sp>
      <p:sp>
        <p:nvSpPr>
          <p:cNvPr id="186" name="Google Shape;186;p10"/>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87" name="Google Shape;187;p10"/>
          <p:cNvGraphicFramePr/>
          <p:nvPr/>
        </p:nvGraphicFramePr>
        <p:xfrm>
          <a:off x="180974" y="1447801"/>
          <a:ext cx="3000000" cy="3000000"/>
        </p:xfrm>
        <a:graphic>
          <a:graphicData uri="http://schemas.openxmlformats.org/drawingml/2006/table">
            <a:tbl>
              <a:tblPr bandRow="1" firstRow="1">
                <a:noFill/>
                <a:tableStyleId>{903459BB-3F7C-4962-BC80-356C0449B5BC}</a:tableStyleId>
              </a:tblPr>
              <a:tblGrid>
                <a:gridCol w="1976450"/>
                <a:gridCol w="1976450"/>
                <a:gridCol w="1971675"/>
                <a:gridCol w="1981200"/>
                <a:gridCol w="1976450"/>
                <a:gridCol w="1976450"/>
              </a:tblGrid>
              <a:tr h="1240625">
                <a:tc>
                  <a:txBody>
                    <a:bodyPr/>
                    <a:lstStyle/>
                    <a:p>
                      <a:pPr indent="0" lvl="0" marL="0" marR="0" rtl="0" algn="l">
                        <a:spcBef>
                          <a:spcPts val="0"/>
                        </a:spcBef>
                        <a:spcAft>
                          <a:spcPts val="0"/>
                        </a:spcAft>
                        <a:buNone/>
                      </a:pPr>
                      <a:r>
                        <a:rPr lang="en-US" sz="1800"/>
                        <a:t>Ref</a:t>
                      </a:r>
                      <a:endParaRPr/>
                    </a:p>
                  </a:txBody>
                  <a:tcPr marT="45725" marB="45725" marR="91450" marL="91450"/>
                </a:tc>
                <a:tc>
                  <a:txBody>
                    <a:bodyPr/>
                    <a:lstStyle/>
                    <a:p>
                      <a:pPr indent="0" lvl="0" marL="0" marR="0" rtl="0" algn="l">
                        <a:spcBef>
                          <a:spcPts val="0"/>
                        </a:spcBef>
                        <a:spcAft>
                          <a:spcPts val="0"/>
                        </a:spcAft>
                        <a:buNone/>
                      </a:pPr>
                      <a:r>
                        <a:rPr lang="en-US" sz="1800"/>
                        <a:t>Focus </a:t>
                      </a:r>
                      <a:endParaRPr sz="1800"/>
                    </a:p>
                  </a:txBody>
                  <a:tcPr marT="45725" marB="45725" marR="91450" marL="91450"/>
                </a:tc>
                <a:tc>
                  <a:txBody>
                    <a:bodyPr/>
                    <a:lstStyle/>
                    <a:p>
                      <a:pPr indent="0" lvl="0" marL="0" marR="0" rtl="0" algn="l">
                        <a:spcBef>
                          <a:spcPts val="0"/>
                        </a:spcBef>
                        <a:spcAft>
                          <a:spcPts val="0"/>
                        </a:spcAft>
                        <a:buNone/>
                      </a:pPr>
                      <a:r>
                        <a:rPr lang="en-US" sz="1800"/>
                        <a:t>Cohort</a:t>
                      </a:r>
                      <a:endParaRPr sz="1800"/>
                    </a:p>
                  </a:txBody>
                  <a:tcPr marT="45725" marB="45725" marR="91450" marL="91450"/>
                </a:tc>
                <a:tc>
                  <a:txBody>
                    <a:bodyPr/>
                    <a:lstStyle/>
                    <a:p>
                      <a:pPr indent="0" lvl="0" marL="0" marR="0" rtl="0" algn="l">
                        <a:spcBef>
                          <a:spcPts val="0"/>
                        </a:spcBef>
                        <a:spcAft>
                          <a:spcPts val="0"/>
                        </a:spcAft>
                        <a:buNone/>
                      </a:pPr>
                      <a:r>
                        <a:rPr lang="en-US" sz="1800"/>
                        <a:t>Methods</a:t>
                      </a:r>
                      <a:endParaRPr sz="1800"/>
                    </a:p>
                  </a:txBody>
                  <a:tcPr marT="45725" marB="45725" marR="91450" marL="91450"/>
                </a:tc>
                <a:tc>
                  <a:txBody>
                    <a:bodyPr/>
                    <a:lstStyle/>
                    <a:p>
                      <a:pPr indent="0" lvl="0" marL="0" marR="0" rtl="0" algn="l">
                        <a:spcBef>
                          <a:spcPts val="0"/>
                        </a:spcBef>
                        <a:spcAft>
                          <a:spcPts val="0"/>
                        </a:spcAft>
                        <a:buNone/>
                      </a:pPr>
                      <a:r>
                        <a:rPr lang="en-US" sz="1800"/>
                        <a:t>Outcome Definition</a:t>
                      </a:r>
                      <a:endParaRPr sz="1800"/>
                    </a:p>
                  </a:txBody>
                  <a:tcPr marT="45725" marB="45725" marR="91450" marL="91450"/>
                </a:tc>
                <a:tc>
                  <a:txBody>
                    <a:bodyPr/>
                    <a:lstStyle/>
                    <a:p>
                      <a:pPr indent="0" lvl="0" marL="0" marR="0" rtl="0" algn="l">
                        <a:spcBef>
                          <a:spcPts val="0"/>
                        </a:spcBef>
                        <a:spcAft>
                          <a:spcPts val="0"/>
                        </a:spcAft>
                        <a:buNone/>
                      </a:pPr>
                      <a:r>
                        <a:rPr lang="en-US" sz="1800"/>
                        <a:t>Gaps</a:t>
                      </a:r>
                      <a:endParaRPr sz="1800"/>
                    </a:p>
                  </a:txBody>
                  <a:tcPr marT="45725" marB="45725" marR="91450" marL="91450"/>
                </a:tc>
              </a:tr>
              <a:tr h="1240625">
                <a:tc>
                  <a:txBody>
                    <a:bodyPr/>
                    <a:lstStyle/>
                    <a:p>
                      <a:pPr indent="0" lvl="0" marL="0" marR="0" rtl="0" algn="l">
                        <a:spcBef>
                          <a:spcPts val="0"/>
                        </a:spcBef>
                        <a:spcAft>
                          <a:spcPts val="0"/>
                        </a:spcAft>
                        <a:buNone/>
                      </a:pPr>
                      <a:r>
                        <a:rPr lang="en-US" sz="1800"/>
                        <a:t>[7]</a:t>
                      </a:r>
                      <a:endParaRPr/>
                    </a:p>
                  </a:txBody>
                  <a:tcPr marT="45725" marB="45725" marR="91450" marL="91450"/>
                </a:tc>
                <a:tc>
                  <a:txBody>
                    <a:bodyPr/>
                    <a:lstStyle/>
                    <a:p>
                      <a:pPr indent="0" lvl="0" marL="0" marR="0" rtl="0" algn="l">
                        <a:spcBef>
                          <a:spcPts val="0"/>
                        </a:spcBef>
                        <a:spcAft>
                          <a:spcPts val="0"/>
                        </a:spcAft>
                        <a:buNone/>
                      </a:pPr>
                      <a:r>
                        <a:rPr lang="en-US" sz="1800"/>
                        <a:t>SHAP-based factor analysis</a:t>
                      </a:r>
                      <a:endParaRPr/>
                    </a:p>
                  </a:txBody>
                  <a:tcPr marT="45725" marB="45725" marR="91450" marL="91450"/>
                </a:tc>
                <a:tc>
                  <a:txBody>
                    <a:bodyPr/>
                    <a:lstStyle/>
                    <a:p>
                      <a:pPr indent="0" lvl="0" marL="0" marR="0" rtl="0" algn="l">
                        <a:spcBef>
                          <a:spcPts val="0"/>
                        </a:spcBef>
                        <a:spcAft>
                          <a:spcPts val="0"/>
                        </a:spcAft>
                        <a:buNone/>
                      </a:pPr>
                      <a:r>
                        <a:rPr lang="en-US" sz="1800"/>
                        <a:t>Vietnam+Bangladesh</a:t>
                      </a:r>
                      <a:endParaRPr sz="1800"/>
                    </a:p>
                  </a:txBody>
                  <a:tcPr marT="45725" marB="45725" marR="91450" marL="91450"/>
                </a:tc>
                <a:tc>
                  <a:txBody>
                    <a:bodyPr/>
                    <a:lstStyle/>
                    <a:p>
                      <a:pPr indent="0" lvl="0" marL="0" marR="0" rtl="0" algn="l">
                        <a:spcBef>
                          <a:spcPts val="0"/>
                        </a:spcBef>
                        <a:spcAft>
                          <a:spcPts val="0"/>
                        </a:spcAft>
                        <a:buNone/>
                      </a:pPr>
                      <a:r>
                        <a:rPr lang="en-US" sz="1800"/>
                        <a:t>XGBoost+SHAP plots</a:t>
                      </a:r>
                      <a:endParaRPr/>
                    </a:p>
                  </a:txBody>
                  <a:tcPr marT="45725" marB="45725" marR="91450" marL="91450"/>
                </a:tc>
                <a:tc>
                  <a:txBody>
                    <a:bodyPr/>
                    <a:lstStyle/>
                    <a:p>
                      <a:pPr indent="0" lvl="0" marL="0" marR="0" rtl="0" algn="l">
                        <a:spcBef>
                          <a:spcPts val="0"/>
                        </a:spcBef>
                        <a:spcAft>
                          <a:spcPts val="0"/>
                        </a:spcAft>
                        <a:buNone/>
                      </a:pPr>
                      <a:r>
                        <a:rPr lang="en-US" sz="1800"/>
                        <a:t>WHO severity classes</a:t>
                      </a:r>
                      <a:endParaRPr/>
                    </a:p>
                  </a:txBody>
                  <a:tcPr marT="45725" marB="45725" marR="91450" marL="91450"/>
                </a:tc>
                <a:tc>
                  <a:txBody>
                    <a:bodyPr/>
                    <a:lstStyle/>
                    <a:p>
                      <a:pPr indent="0" lvl="0" marL="0" marR="0" rtl="0" algn="l">
                        <a:spcBef>
                          <a:spcPts val="0"/>
                        </a:spcBef>
                        <a:spcAft>
                          <a:spcPts val="0"/>
                        </a:spcAft>
                        <a:buNone/>
                      </a:pPr>
                      <a:r>
                        <a:rPr lang="en-US" sz="1800"/>
                        <a:t>Global SHAP only; no age-conditioned explanation</a:t>
                      </a:r>
                      <a:endParaRPr/>
                    </a:p>
                  </a:txBody>
                  <a:tcPr marT="45725" marB="45725" marR="91450" marL="91450"/>
                </a:tc>
              </a:tr>
              <a:tr h="1240625">
                <a:tc>
                  <a:txBody>
                    <a:bodyPr/>
                    <a:lstStyle/>
                    <a:p>
                      <a:pPr indent="0" lvl="0" marL="0" marR="0" rtl="0" algn="l">
                        <a:spcBef>
                          <a:spcPts val="0"/>
                        </a:spcBef>
                        <a:spcAft>
                          <a:spcPts val="0"/>
                        </a:spcAft>
                        <a:buNone/>
                      </a:pPr>
                      <a:r>
                        <a:rPr lang="en-US" sz="1800"/>
                        <a:t>[8]</a:t>
                      </a:r>
                      <a:endParaRPr/>
                    </a:p>
                  </a:txBody>
                  <a:tcPr marT="45725" marB="45725" marR="91450" marL="91450"/>
                </a:tc>
                <a:tc>
                  <a:txBody>
                    <a:bodyPr/>
                    <a:lstStyle/>
                    <a:p>
                      <a:pPr indent="0" lvl="0" marL="0" marR="0" rtl="0" algn="l">
                        <a:spcBef>
                          <a:spcPts val="0"/>
                        </a:spcBef>
                        <a:spcAft>
                          <a:spcPts val="0"/>
                        </a:spcAft>
                        <a:buNone/>
                      </a:pPr>
                      <a:r>
                        <a:rPr lang="en-US" sz="1800"/>
                        <a:t>Hematology driven severity</a:t>
                      </a:r>
                      <a:endParaRPr/>
                    </a:p>
                  </a:txBody>
                  <a:tcPr marT="45725" marB="45725" marR="91450" marL="91450"/>
                </a:tc>
                <a:tc>
                  <a:txBody>
                    <a:bodyPr/>
                    <a:lstStyle/>
                    <a:p>
                      <a:pPr indent="0" lvl="0" marL="0" marR="0" rtl="0" algn="l">
                        <a:spcBef>
                          <a:spcPts val="0"/>
                        </a:spcBef>
                        <a:spcAft>
                          <a:spcPts val="0"/>
                        </a:spcAft>
                        <a:buNone/>
                      </a:pPr>
                      <a:r>
                        <a:rPr lang="en-US" sz="1800"/>
                        <a:t>Public dataset n=1450</a:t>
                      </a:r>
                      <a:endParaRPr/>
                    </a:p>
                  </a:txBody>
                  <a:tcPr marT="45725" marB="45725" marR="91450" marL="91450"/>
                </a:tc>
                <a:tc>
                  <a:txBody>
                    <a:bodyPr/>
                    <a:lstStyle/>
                    <a:p>
                      <a:pPr indent="0" lvl="0" marL="0" marR="0" rtl="0" algn="l">
                        <a:spcBef>
                          <a:spcPts val="0"/>
                        </a:spcBef>
                        <a:spcAft>
                          <a:spcPts val="0"/>
                        </a:spcAft>
                        <a:buNone/>
                      </a:pPr>
                      <a:r>
                        <a:rPr lang="en-US" sz="1800"/>
                        <a:t>LR,RF,SVM, CGBoost +SHAP</a:t>
                      </a:r>
                      <a:endParaRPr/>
                    </a:p>
                  </a:txBody>
                  <a:tcPr marT="45725" marB="45725" marR="91450" marL="91450"/>
                </a:tc>
                <a:tc>
                  <a:txBody>
                    <a:bodyPr/>
                    <a:lstStyle/>
                    <a:p>
                      <a:pPr indent="0" lvl="0" marL="0" marR="0" rtl="0" algn="l">
                        <a:spcBef>
                          <a:spcPts val="0"/>
                        </a:spcBef>
                        <a:spcAft>
                          <a:spcPts val="0"/>
                        </a:spcAft>
                        <a:buNone/>
                      </a:pPr>
                      <a:r>
                        <a:rPr lang="en-US" sz="1800"/>
                        <a:t>WHO severity classes</a:t>
                      </a:r>
                      <a:endParaRPr/>
                    </a:p>
                  </a:txBody>
                  <a:tcPr marT="45725" marB="45725" marR="91450" marL="91450"/>
                </a:tc>
                <a:tc>
                  <a:txBody>
                    <a:bodyPr/>
                    <a:lstStyle/>
                    <a:p>
                      <a:pPr indent="0" lvl="0" marL="0" marR="0" rtl="0" algn="l">
                        <a:spcBef>
                          <a:spcPts val="0"/>
                        </a:spcBef>
                        <a:spcAft>
                          <a:spcPts val="0"/>
                        </a:spcAft>
                        <a:buNone/>
                      </a:pPr>
                      <a:r>
                        <a:rPr lang="en-US" sz="1800"/>
                        <a:t>XGBoost macro-F1 = 0.59; global SHAP</a:t>
                      </a:r>
                      <a:endParaRPr/>
                    </a:p>
                  </a:txBody>
                  <a:tcPr marT="45725" marB="45725" marR="91450" marL="91450"/>
                </a:tc>
              </a:tr>
              <a:tr h="1240625">
                <a:tc>
                  <a:txBody>
                    <a:bodyPr/>
                    <a:lstStyle/>
                    <a:p>
                      <a:pPr indent="0" lvl="0" marL="0" marR="0" rtl="0" algn="l">
                        <a:spcBef>
                          <a:spcPts val="0"/>
                        </a:spcBef>
                        <a:spcAft>
                          <a:spcPts val="0"/>
                        </a:spcAft>
                        <a:buNone/>
                      </a:pPr>
                      <a:r>
                        <a:rPr lang="en-US" sz="1800"/>
                        <a:t>[9]</a:t>
                      </a:r>
                      <a:endParaRPr/>
                    </a:p>
                  </a:txBody>
                  <a:tcPr marT="45725" marB="45725" marR="91450" marL="91450"/>
                </a:tc>
                <a:tc>
                  <a:txBody>
                    <a:bodyPr/>
                    <a:lstStyle/>
                    <a:p>
                      <a:pPr indent="0" lvl="0" marL="0" marR="0" rtl="0" algn="l">
                        <a:lnSpc>
                          <a:spcPct val="140000"/>
                        </a:lnSpc>
                        <a:spcBef>
                          <a:spcPts val="0"/>
                        </a:spcBef>
                        <a:spcAft>
                          <a:spcPts val="0"/>
                        </a:spcAft>
                        <a:buNone/>
                      </a:pPr>
                      <a:r>
                        <a:rPr lang="en-US" sz="1800">
                          <a:solidFill>
                            <a:srgbClr val="000000"/>
                          </a:solidFill>
                          <a:latin typeface="Cambria"/>
                          <a:ea typeface="Cambria"/>
                          <a:cs typeface="Cambria"/>
                          <a:sym typeface="Cambria"/>
                        </a:rPr>
                        <a:t>Optimized feature diagnosis</a:t>
                      </a:r>
                      <a:endParaRPr sz="2000">
                        <a:solidFill>
                          <a:srgbClr val="000000"/>
                        </a:solidFill>
                        <a:latin typeface="Cambria"/>
                        <a:ea typeface="Cambria"/>
                        <a:cs typeface="Cambria"/>
                        <a:sym typeface="Cambria"/>
                      </a:endParaRPr>
                    </a:p>
                  </a:txBody>
                  <a:tcPr marT="85725" marB="0" marR="78100" marL="78750"/>
                </a:tc>
                <a:tc>
                  <a:txBody>
                    <a:bodyPr/>
                    <a:lstStyle/>
                    <a:p>
                      <a:pPr indent="0" lvl="0" marL="0" marR="0" rtl="0" algn="just">
                        <a:lnSpc>
                          <a:spcPct val="107000"/>
                        </a:lnSpc>
                        <a:spcBef>
                          <a:spcPts val="0"/>
                        </a:spcBef>
                        <a:spcAft>
                          <a:spcPts val="0"/>
                        </a:spcAft>
                        <a:buNone/>
                      </a:pPr>
                      <a:r>
                        <a:rPr lang="en-US" sz="1800">
                          <a:solidFill>
                            <a:srgbClr val="000000"/>
                          </a:solidFill>
                          <a:latin typeface="Cambria"/>
                          <a:ea typeface="Cambria"/>
                          <a:cs typeface="Cambria"/>
                          <a:sym typeface="Cambria"/>
                        </a:rPr>
                        <a:t>Mixed, RFE selected features</a:t>
                      </a:r>
                      <a:endParaRPr sz="2000">
                        <a:solidFill>
                          <a:srgbClr val="000000"/>
                        </a:solidFill>
                        <a:latin typeface="Cambria"/>
                        <a:ea typeface="Cambria"/>
                        <a:cs typeface="Cambria"/>
                        <a:sym typeface="Cambria"/>
                      </a:endParaRPr>
                    </a:p>
                  </a:txBody>
                  <a:tcPr marT="85725" marB="0" marR="78100" marL="78750"/>
                </a:tc>
                <a:tc>
                  <a:txBody>
                    <a:bodyPr/>
                    <a:lstStyle/>
                    <a:p>
                      <a:pPr indent="0" lvl="0" marL="0" marR="0" rtl="0" algn="just">
                        <a:lnSpc>
                          <a:spcPct val="145000"/>
                        </a:lnSpc>
                        <a:spcBef>
                          <a:spcPts val="0"/>
                        </a:spcBef>
                        <a:spcAft>
                          <a:spcPts val="0"/>
                        </a:spcAft>
                        <a:buNone/>
                      </a:pPr>
                      <a:r>
                        <a:rPr lang="en-US" sz="1800">
                          <a:solidFill>
                            <a:srgbClr val="000000"/>
                          </a:solidFill>
                          <a:latin typeface="Cambria"/>
                          <a:ea typeface="Cambria"/>
                          <a:cs typeface="Cambria"/>
                          <a:sym typeface="Cambria"/>
                        </a:rPr>
                        <a:t>RF + RFE + SHAP +</a:t>
                      </a:r>
                      <a:endParaRPr sz="2000">
                        <a:solidFill>
                          <a:srgbClr val="000000"/>
                        </a:solidFill>
                        <a:latin typeface="Cambria"/>
                        <a:ea typeface="Cambria"/>
                        <a:cs typeface="Cambria"/>
                        <a:sym typeface="Cambria"/>
                      </a:endParaRPr>
                    </a:p>
                    <a:p>
                      <a:pPr indent="0" lvl="0" marL="0" marR="0" rtl="0" algn="l">
                        <a:lnSpc>
                          <a:spcPct val="107000"/>
                        </a:lnSpc>
                        <a:spcBef>
                          <a:spcPts val="0"/>
                        </a:spcBef>
                        <a:spcAft>
                          <a:spcPts val="0"/>
                        </a:spcAft>
                        <a:buNone/>
                      </a:pPr>
                      <a:r>
                        <a:rPr lang="en-US" sz="1800">
                          <a:solidFill>
                            <a:srgbClr val="000000"/>
                          </a:solidFill>
                          <a:latin typeface="Cambria"/>
                          <a:ea typeface="Cambria"/>
                          <a:cs typeface="Cambria"/>
                          <a:sym typeface="Cambria"/>
                        </a:rPr>
                        <a:t>LIME</a:t>
                      </a:r>
                      <a:endParaRPr sz="2000">
                        <a:solidFill>
                          <a:srgbClr val="000000"/>
                        </a:solidFill>
                        <a:latin typeface="Cambria"/>
                        <a:ea typeface="Cambria"/>
                        <a:cs typeface="Cambria"/>
                        <a:sym typeface="Cambria"/>
                      </a:endParaRPr>
                    </a:p>
                  </a:txBody>
                  <a:tcPr marT="85725" marB="0" marR="78100" marL="78750"/>
                </a:tc>
                <a:tc>
                  <a:txBody>
                    <a:bodyPr/>
                    <a:lstStyle/>
                    <a:p>
                      <a:pPr indent="0" lvl="0" marL="0" marR="0" rtl="0" algn="l">
                        <a:lnSpc>
                          <a:spcPct val="107000"/>
                        </a:lnSpc>
                        <a:spcBef>
                          <a:spcPts val="0"/>
                        </a:spcBef>
                        <a:spcAft>
                          <a:spcPts val="0"/>
                        </a:spcAft>
                        <a:buNone/>
                      </a:pPr>
                      <a:r>
                        <a:rPr lang="en-US" sz="1800">
                          <a:solidFill>
                            <a:srgbClr val="000000"/>
                          </a:solidFill>
                          <a:latin typeface="Cambria"/>
                          <a:ea typeface="Cambria"/>
                          <a:cs typeface="Cambria"/>
                          <a:sym typeface="Cambria"/>
                        </a:rPr>
                        <a:t>Dengue 	diagnosis/severity</a:t>
                      </a:r>
                      <a:endParaRPr sz="2000">
                        <a:solidFill>
                          <a:srgbClr val="000000"/>
                        </a:solidFill>
                        <a:latin typeface="Cambria"/>
                        <a:ea typeface="Cambria"/>
                        <a:cs typeface="Cambria"/>
                        <a:sym typeface="Cambria"/>
                      </a:endParaRPr>
                    </a:p>
                  </a:txBody>
                  <a:tcPr marT="85725" marB="0" marR="78100" marL="78750"/>
                </a:tc>
                <a:tc>
                  <a:txBody>
                    <a:bodyPr/>
                    <a:lstStyle/>
                    <a:p>
                      <a:pPr indent="0" lvl="0" marL="0" marR="0" rtl="0" algn="just">
                        <a:lnSpc>
                          <a:spcPct val="130000"/>
                        </a:lnSpc>
                        <a:spcBef>
                          <a:spcPts val="0"/>
                        </a:spcBef>
                        <a:spcAft>
                          <a:spcPts val="0"/>
                        </a:spcAft>
                        <a:buNone/>
                      </a:pPr>
                      <a:r>
                        <a:rPr lang="en-US" sz="1800">
                          <a:solidFill>
                            <a:srgbClr val="000000"/>
                          </a:solidFill>
                          <a:latin typeface="Cambria"/>
                          <a:ea typeface="Cambria"/>
                          <a:cs typeface="Cambria"/>
                          <a:sym typeface="Cambria"/>
                        </a:rPr>
                        <a:t>RF 99.67% accuracy; global</a:t>
                      </a:r>
                      <a:endParaRPr sz="2000">
                        <a:solidFill>
                          <a:srgbClr val="000000"/>
                        </a:solidFill>
                        <a:latin typeface="Cambria"/>
                        <a:ea typeface="Cambria"/>
                        <a:cs typeface="Cambria"/>
                        <a:sym typeface="Cambria"/>
                      </a:endParaRPr>
                    </a:p>
                    <a:p>
                      <a:pPr indent="0" lvl="0" marL="0" marR="0" rtl="0" algn="l">
                        <a:lnSpc>
                          <a:spcPct val="107000"/>
                        </a:lnSpc>
                        <a:spcBef>
                          <a:spcPts val="0"/>
                        </a:spcBef>
                        <a:spcAft>
                          <a:spcPts val="0"/>
                        </a:spcAft>
                        <a:buNone/>
                      </a:pPr>
                      <a:r>
                        <a:rPr lang="en-US" sz="1800">
                          <a:solidFill>
                            <a:srgbClr val="000000"/>
                          </a:solidFill>
                          <a:latin typeface="Cambria"/>
                          <a:ea typeface="Cambria"/>
                          <a:cs typeface="Cambria"/>
                          <a:sym typeface="Cambria"/>
                        </a:rPr>
                        <a:t>XAI</a:t>
                      </a:r>
                      <a:endParaRPr sz="2000">
                        <a:solidFill>
                          <a:srgbClr val="000000"/>
                        </a:solidFill>
                        <a:latin typeface="Cambria"/>
                        <a:ea typeface="Cambria"/>
                        <a:cs typeface="Cambria"/>
                        <a:sym typeface="Cambria"/>
                      </a:endParaRPr>
                    </a:p>
                  </a:txBody>
                  <a:tcPr marT="85725" marB="0" marR="78100" marL="787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txBox="1"/>
          <p:nvPr>
            <p:ph type="title"/>
          </p:nvPr>
        </p:nvSpPr>
        <p:spPr>
          <a:xfrm>
            <a:off x="0" y="1"/>
            <a:ext cx="12192000" cy="125376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t>                       </a:t>
            </a:r>
            <a:r>
              <a:rPr b="1" lang="en-US">
                <a:solidFill>
                  <a:schemeClr val="lt1"/>
                </a:solidFill>
              </a:rPr>
              <a:t>Proposed Methodology</a:t>
            </a:r>
            <a:endParaRPr/>
          </a:p>
        </p:txBody>
      </p:sp>
      <p:sp>
        <p:nvSpPr>
          <p:cNvPr id="193" name="Google Shape;193;p11"/>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94" name="Google Shape;194;p11"/>
          <p:cNvPicPr preferRelativeResize="0"/>
          <p:nvPr>
            <p:ph idx="1" type="body"/>
          </p:nvPr>
        </p:nvPicPr>
        <p:blipFill rotWithShape="1">
          <a:blip r:embed="rId3">
            <a:alphaModFix/>
          </a:blip>
          <a:srcRect b="0" l="0" r="0" t="0"/>
          <a:stretch/>
        </p:blipFill>
        <p:spPr>
          <a:xfrm>
            <a:off x="1835808" y="1419225"/>
            <a:ext cx="7984467" cy="4530543"/>
          </a:xfrm>
          <a:prstGeom prst="rect">
            <a:avLst/>
          </a:prstGeom>
          <a:noFill/>
          <a:ln>
            <a:noFill/>
          </a:ln>
        </p:spPr>
      </p:pic>
      <p:sp>
        <p:nvSpPr>
          <p:cNvPr id="195" name="Google Shape;195;p11"/>
          <p:cNvSpPr txBox="1"/>
          <p:nvPr/>
        </p:nvSpPr>
        <p:spPr>
          <a:xfrm>
            <a:off x="4333875" y="5958959"/>
            <a:ext cx="27524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Figure: Workflow overview</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txBox="1"/>
          <p:nvPr>
            <p:ph type="title"/>
          </p:nvPr>
        </p:nvSpPr>
        <p:spPr>
          <a:xfrm>
            <a:off x="828675" y="184150"/>
            <a:ext cx="10515600" cy="9683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b="1" lang="en-US">
                <a:solidFill>
                  <a:srgbClr val="FFFFFF"/>
                </a:solidFill>
                <a:latin typeface="Times New Roman"/>
                <a:ea typeface="Times New Roman"/>
                <a:cs typeface="Times New Roman"/>
                <a:sym typeface="Times New Roman"/>
              </a:rPr>
              <a:t>Methodology: Data</a:t>
            </a:r>
            <a:r>
              <a:rPr b="1" lang="en-US">
                <a:solidFill>
                  <a:srgbClr val="FFFFFF"/>
                </a:solidFill>
              </a:rPr>
              <a:t> Preparation</a:t>
            </a:r>
            <a:endParaRPr/>
          </a:p>
        </p:txBody>
      </p:sp>
      <p:sp>
        <p:nvSpPr>
          <p:cNvPr id="201" name="Google Shape;201;p12"/>
          <p:cNvSpPr txBox="1"/>
          <p:nvPr>
            <p:ph idx="12" type="sldNum"/>
          </p:nvPr>
        </p:nvSpPr>
        <p:spPr>
          <a:xfrm>
            <a:off x="405986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2" name="Google Shape;202;p12"/>
          <p:cNvSpPr/>
          <p:nvPr/>
        </p:nvSpPr>
        <p:spPr>
          <a:xfrm>
            <a:off x="652492" y="1810613"/>
            <a:ext cx="5243483" cy="2308324"/>
          </a:xfrm>
          <a:prstGeom prst="rect">
            <a:avLst/>
          </a:prstGeom>
          <a:noFill/>
          <a:ln>
            <a:noFill/>
          </a:ln>
        </p:spPr>
        <p:txBody>
          <a:bodyPr anchorCtr="0" anchor="t" bIns="45700" lIns="91425" spcFirstLastPara="1" rIns="91425" wrap="square" tIns="45700">
            <a:spAutoFit/>
          </a:bodyPr>
          <a:lstStyle/>
          <a:p>
            <a:pPr indent="-342900" lvl="0" marL="457200" rtl="0" algn="l">
              <a:lnSpc>
                <a:spcPct val="110000"/>
              </a:lnSpc>
              <a:spcBef>
                <a:spcPts val="0"/>
              </a:spcBef>
              <a:spcAft>
                <a:spcPts val="0"/>
              </a:spcAft>
              <a:buClr>
                <a:srgbClr val="272727"/>
              </a:buClr>
              <a:buSzPts val="1800"/>
              <a:buFont typeface="Times New Roman"/>
              <a:buChar char="●"/>
            </a:pPr>
            <a:r>
              <a:rPr lang="en-US" sz="1800">
                <a:solidFill>
                  <a:srgbClr val="272727"/>
                </a:solidFill>
                <a:latin typeface="Times New Roman"/>
                <a:ea typeface="Times New Roman"/>
                <a:cs typeface="Times New Roman"/>
                <a:sym typeface="Times New Roman"/>
              </a:rPr>
              <a:t>Dataset Collection: Comprehensive Dengue Hematology and Clinical Dataset from Bangladesh for Machine Learning and Diagnostic Research [10]</a:t>
            </a:r>
            <a:endParaRPr sz="1800">
              <a:solidFill>
                <a:srgbClr val="272727"/>
              </a:solidFill>
              <a:latin typeface="Times New Roman"/>
              <a:ea typeface="Times New Roman"/>
              <a:cs typeface="Times New Roman"/>
              <a:sym typeface="Times New Roman"/>
            </a:endParaRPr>
          </a:p>
          <a:p>
            <a:pPr indent="-342900" lvl="0" marL="457200" rtl="0" algn="l">
              <a:spcBef>
                <a:spcPts val="0"/>
              </a:spcBef>
              <a:spcAft>
                <a:spcPts val="0"/>
              </a:spcAft>
              <a:buClr>
                <a:srgbClr val="272727"/>
              </a:buClr>
              <a:buSzPts val="1800"/>
              <a:buFont typeface="Times New Roman"/>
              <a:buChar char="●"/>
            </a:pPr>
            <a:r>
              <a:rPr lang="en-US" sz="1800">
                <a:solidFill>
                  <a:schemeClr val="dk1"/>
                </a:solidFill>
                <a:latin typeface="Times New Roman"/>
                <a:ea typeface="Times New Roman"/>
                <a:cs typeface="Times New Roman"/>
                <a:sym typeface="Times New Roman"/>
              </a:rPr>
              <a:t>9 🡪 Core clinical/demographic predictors (WBC, HCT, RBC, Lymph %, Neut %, AST, ALT, Age, Gender)</a:t>
            </a:r>
            <a:endParaRPr sz="1800">
              <a:solidFill>
                <a:srgbClr val="272727"/>
              </a:solidFill>
              <a:latin typeface="Times New Roman"/>
              <a:ea typeface="Times New Roman"/>
              <a:cs typeface="Times New Roman"/>
              <a:sym typeface="Times New Roman"/>
            </a:endParaRPr>
          </a:p>
          <a:p>
            <a:pPr indent="-342900" lvl="0" marL="457200" marR="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972 🡪 Total NS1-positive records (from 1,329 raw records)</a:t>
            </a:r>
            <a:endParaRPr/>
          </a:p>
          <a:p>
            <a:pPr indent="-342900" lvl="0" marL="457200" marR="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158 / 814 🡪 Pediatric (≤18y) / Adult (&gt;18y) split</a:t>
            </a:r>
            <a:endParaRPr/>
          </a:p>
          <a:p>
            <a:pPr indent="-342900" lvl="0" marL="457200" marR="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80:20 🡪 Stratified train/test split, random_state = 42</a:t>
            </a:r>
            <a:endParaRPr/>
          </a:p>
        </p:txBody>
      </p:sp>
      <p:pic>
        <p:nvPicPr>
          <p:cNvPr id="203" name="Google Shape;203;p12"/>
          <p:cNvPicPr preferRelativeResize="0"/>
          <p:nvPr/>
        </p:nvPicPr>
        <p:blipFill rotWithShape="1">
          <a:blip r:embed="rId3">
            <a:alphaModFix/>
          </a:blip>
          <a:srcRect b="0" l="0" r="0" t="0"/>
          <a:stretch/>
        </p:blipFill>
        <p:spPr>
          <a:xfrm>
            <a:off x="5895975" y="1711326"/>
            <a:ext cx="6018184" cy="3365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f7267da1b4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Times New Roman"/>
              <a:buNone/>
            </a:pPr>
            <a:r>
              <a:rPr b="1" lang="en-US">
                <a:solidFill>
                  <a:schemeClr val="lt1"/>
                </a:solidFill>
              </a:rPr>
              <a:t>Methodology: Model &amp; Evaluation</a:t>
            </a:r>
            <a:endParaRPr/>
          </a:p>
          <a:p>
            <a:pPr indent="0" lvl="0" marL="0" rtl="0" algn="l">
              <a:spcBef>
                <a:spcPts val="0"/>
              </a:spcBef>
              <a:spcAft>
                <a:spcPts val="0"/>
              </a:spcAft>
              <a:buNone/>
            </a:pPr>
            <a:r>
              <a:t/>
            </a:r>
            <a:endParaRPr/>
          </a:p>
        </p:txBody>
      </p:sp>
      <p:sp>
        <p:nvSpPr>
          <p:cNvPr id="210" name="Google Shape;210;g3f7267da1b4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t/>
            </a:r>
            <a:endParaRPr sz="1800"/>
          </a:p>
          <a:p>
            <a:pPr indent="-342900" lvl="0" marL="457200" rtl="0" algn="l">
              <a:lnSpc>
                <a:spcPct val="115000"/>
              </a:lnSpc>
              <a:spcBef>
                <a:spcPts val="300"/>
              </a:spcBef>
              <a:spcAft>
                <a:spcPts val="0"/>
              </a:spcAft>
              <a:buSzPts val="1800"/>
              <a:buChar char="●"/>
            </a:pPr>
            <a:r>
              <a:rPr lang="en-US" sz="1800"/>
              <a:t>5 classifiers per cohort: Logistic Regression, Random Forest, XGBoost, LightGBM, Stacking Ensemble (LR meta-learner).</a:t>
            </a:r>
            <a:endParaRPr sz="1050">
              <a:latin typeface="Calibri"/>
              <a:ea typeface="Calibri"/>
              <a:cs typeface="Calibri"/>
              <a:sym typeface="Calibri"/>
            </a:endParaRPr>
          </a:p>
          <a:p>
            <a:pPr indent="-342900" lvl="0" marL="457200" rtl="0" algn="l">
              <a:lnSpc>
                <a:spcPct val="115000"/>
              </a:lnSpc>
              <a:spcBef>
                <a:spcPts val="0"/>
              </a:spcBef>
              <a:spcAft>
                <a:spcPts val="0"/>
              </a:spcAft>
              <a:buSzPts val="1800"/>
              <a:buChar char="●"/>
            </a:pPr>
            <a:r>
              <a:rPr lang="en-US" sz="1800"/>
              <a:t>Metrics: Accuracy, AUC-ROC, Sensitivity, Specificity, F1, Matthews Correlation Coefficient (MCC).</a:t>
            </a:r>
            <a:endParaRPr sz="1800"/>
          </a:p>
          <a:p>
            <a:pPr indent="-342900" lvl="0" marL="457200" rtl="0" algn="l">
              <a:lnSpc>
                <a:spcPct val="115000"/>
              </a:lnSpc>
              <a:spcBef>
                <a:spcPts val="0"/>
              </a:spcBef>
              <a:spcAft>
                <a:spcPts val="0"/>
              </a:spcAft>
              <a:buSzPts val="1800"/>
              <a:buChar char="●"/>
            </a:pPr>
            <a:r>
              <a:rPr lang="en-US" sz="1800"/>
              <a:t>Explainability: SHAP TreeExplainer on best performed model; depth-1 decision trees fitted to SHAP&gt;0 values to extract feature splits; Kendall's τ-b for pediatric–adult rank comparison.</a:t>
            </a:r>
            <a:endParaRPr sz="1800"/>
          </a:p>
        </p:txBody>
      </p:sp>
      <p:sp>
        <p:nvSpPr>
          <p:cNvPr id="211" name="Google Shape;211;g3f7267da1b4_0_0"/>
          <p:cNvSpPr txBox="1"/>
          <p:nvPr>
            <p:ph idx="12" type="sldNum"/>
          </p:nvPr>
        </p:nvSpPr>
        <p:spPr>
          <a:xfrm>
            <a:off x="5634181" y="6456217"/>
            <a:ext cx="554100" cy="248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f7267da1b4_0_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a:solidFill>
                  <a:schemeClr val="lt1"/>
                </a:solidFill>
              </a:rPr>
              <a:t>Methodology: Dashboard development</a:t>
            </a:r>
            <a:endParaRPr/>
          </a:p>
          <a:p>
            <a:pPr indent="0" lvl="0" marL="0" rtl="0" algn="l">
              <a:spcBef>
                <a:spcPts val="0"/>
              </a:spcBef>
              <a:spcAft>
                <a:spcPts val="0"/>
              </a:spcAft>
              <a:buNone/>
            </a:pPr>
            <a:r>
              <a:t/>
            </a:r>
            <a:endParaRPr/>
          </a:p>
        </p:txBody>
      </p:sp>
      <p:sp>
        <p:nvSpPr>
          <p:cNvPr id="218" name="Google Shape;218;g3f7267da1b4_0_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t/>
            </a:r>
            <a:endParaRPr sz="1800"/>
          </a:p>
          <a:p>
            <a:pPr indent="-342900" lvl="0" marL="457200" rtl="0" algn="l">
              <a:lnSpc>
                <a:spcPct val="115000"/>
              </a:lnSpc>
              <a:spcBef>
                <a:spcPts val="300"/>
              </a:spcBef>
              <a:spcAft>
                <a:spcPts val="0"/>
              </a:spcAft>
              <a:buSzPts val="1800"/>
              <a:buChar char="●"/>
            </a:pPr>
            <a:r>
              <a:rPr lang="en-US" sz="1800"/>
              <a:t>Programming Languages</a:t>
            </a:r>
            <a:endParaRPr sz="1800"/>
          </a:p>
          <a:p>
            <a:pPr indent="-342900" lvl="1" marL="914400" rtl="0" algn="l">
              <a:lnSpc>
                <a:spcPct val="115000"/>
              </a:lnSpc>
              <a:spcBef>
                <a:spcPts val="0"/>
              </a:spcBef>
              <a:spcAft>
                <a:spcPts val="0"/>
              </a:spcAft>
              <a:buSzPts val="1800"/>
              <a:buChar char="○"/>
            </a:pPr>
            <a:r>
              <a:rPr lang="en-US" sz="1800"/>
              <a:t>Javascript</a:t>
            </a:r>
            <a:endParaRPr sz="1800"/>
          </a:p>
          <a:p>
            <a:pPr indent="-342900" lvl="1" marL="914400" rtl="0" algn="l">
              <a:lnSpc>
                <a:spcPct val="115000"/>
              </a:lnSpc>
              <a:spcBef>
                <a:spcPts val="0"/>
              </a:spcBef>
              <a:spcAft>
                <a:spcPts val="0"/>
              </a:spcAft>
              <a:buSzPts val="1800"/>
              <a:buChar char="○"/>
            </a:pPr>
            <a:r>
              <a:rPr lang="en-US" sz="1800"/>
              <a:t>Python</a:t>
            </a:r>
            <a:endParaRPr sz="1800"/>
          </a:p>
          <a:p>
            <a:pPr indent="-342900" lvl="0" marL="457200" rtl="0" algn="l">
              <a:lnSpc>
                <a:spcPct val="115000"/>
              </a:lnSpc>
              <a:spcBef>
                <a:spcPts val="0"/>
              </a:spcBef>
              <a:spcAft>
                <a:spcPts val="0"/>
              </a:spcAft>
              <a:buSzPts val="1800"/>
              <a:buChar char="●"/>
            </a:pPr>
            <a:r>
              <a:rPr lang="en-US" sz="1800"/>
              <a:t>Stack used</a:t>
            </a:r>
            <a:endParaRPr sz="1800"/>
          </a:p>
          <a:p>
            <a:pPr indent="-342900" lvl="1" marL="914400" rtl="0" algn="l">
              <a:lnSpc>
                <a:spcPct val="115000"/>
              </a:lnSpc>
              <a:spcBef>
                <a:spcPts val="0"/>
              </a:spcBef>
              <a:spcAft>
                <a:spcPts val="0"/>
              </a:spcAft>
              <a:buSzPts val="1800"/>
              <a:buChar char="○"/>
            </a:pPr>
            <a:r>
              <a:rPr lang="en-US" sz="1800"/>
              <a:t>Frontend: ReactJs</a:t>
            </a:r>
            <a:endParaRPr sz="1800"/>
          </a:p>
          <a:p>
            <a:pPr indent="-342900" lvl="1" marL="914400" rtl="0" algn="l">
              <a:lnSpc>
                <a:spcPct val="115000"/>
              </a:lnSpc>
              <a:spcBef>
                <a:spcPts val="0"/>
              </a:spcBef>
              <a:spcAft>
                <a:spcPts val="0"/>
              </a:spcAft>
              <a:buSzPts val="1800"/>
              <a:buChar char="○"/>
            </a:pPr>
            <a:r>
              <a:rPr lang="en-US" sz="1800"/>
              <a:t>Backend: FastApi + Cohort specific best performed models</a:t>
            </a:r>
            <a:endParaRPr sz="1800"/>
          </a:p>
          <a:p>
            <a:pPr indent="-342900" lvl="1" marL="914400" rtl="0" algn="l">
              <a:lnSpc>
                <a:spcPct val="115000"/>
              </a:lnSpc>
              <a:spcBef>
                <a:spcPts val="0"/>
              </a:spcBef>
              <a:spcAft>
                <a:spcPts val="0"/>
              </a:spcAft>
              <a:buSzPts val="1800"/>
              <a:buChar char="○"/>
            </a:pPr>
            <a:r>
              <a:rPr lang="en-US" sz="1800"/>
              <a:t>Database: PostgreSQL</a:t>
            </a:r>
            <a:endParaRPr sz="1800"/>
          </a:p>
        </p:txBody>
      </p:sp>
      <p:sp>
        <p:nvSpPr>
          <p:cNvPr id="219" name="Google Shape;219;g3f7267da1b4_0_12"/>
          <p:cNvSpPr txBox="1"/>
          <p:nvPr>
            <p:ph idx="12" type="sldNum"/>
          </p:nvPr>
        </p:nvSpPr>
        <p:spPr>
          <a:xfrm>
            <a:off x="5634181" y="6456217"/>
            <a:ext cx="554100" cy="248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f7267da1b4_0_19"/>
          <p:cNvSpPr txBox="1"/>
          <p:nvPr>
            <p:ph type="title"/>
          </p:nvPr>
        </p:nvSpPr>
        <p:spPr>
          <a:xfrm>
            <a:off x="0" y="1"/>
            <a:ext cx="12192000" cy="1253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Times New Roman"/>
              <a:buNone/>
            </a:pPr>
            <a:r>
              <a:rPr b="1" lang="en-US">
                <a:solidFill>
                  <a:schemeClr val="lt1"/>
                </a:solidFill>
              </a:rPr>
              <a:t> Result - Model Performance Summary</a:t>
            </a:r>
            <a:endParaRPr/>
          </a:p>
        </p:txBody>
      </p:sp>
      <p:sp>
        <p:nvSpPr>
          <p:cNvPr id="225" name="Google Shape;225;g3f7267da1b4_0_19"/>
          <p:cNvSpPr txBox="1"/>
          <p:nvPr>
            <p:ph idx="12" type="sldNum"/>
          </p:nvPr>
        </p:nvSpPr>
        <p:spPr>
          <a:xfrm>
            <a:off x="5634181" y="6456217"/>
            <a:ext cx="554100" cy="248100"/>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aphicFrame>
        <p:nvGraphicFramePr>
          <p:cNvPr id="226" name="Google Shape;226;g3f7267da1b4_0_19"/>
          <p:cNvGraphicFramePr/>
          <p:nvPr/>
        </p:nvGraphicFramePr>
        <p:xfrm>
          <a:off x="124313" y="1404438"/>
          <a:ext cx="3000000" cy="3000000"/>
        </p:xfrm>
        <a:graphic>
          <a:graphicData uri="http://schemas.openxmlformats.org/drawingml/2006/table">
            <a:tbl>
              <a:tblPr>
                <a:noFill/>
                <a:tableStyleId>{0B959307-40F0-4002-B6A9-FD7818EFAF64}</a:tableStyleId>
              </a:tblPr>
              <a:tblGrid>
                <a:gridCol w="1648375"/>
                <a:gridCol w="1797225"/>
                <a:gridCol w="1110350"/>
                <a:gridCol w="1053150"/>
                <a:gridCol w="1156150"/>
                <a:gridCol w="1156150"/>
                <a:gridCol w="1030250"/>
                <a:gridCol w="2623000"/>
              </a:tblGrid>
              <a:tr h="740975">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Cohort</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Best Model</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AUC-ROC</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Accuracy</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Sensitivity</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Specificity</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F1-Score</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MCC</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r>
              <a:tr h="740975">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Pediatric (≤18)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Random Forest</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0.961</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90.6%</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66.7%</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100.0%</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0.800</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0.768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r>
              <a:tr h="740975">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Pediatric (≤18)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Stacking Classifier</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0.947</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90.6%</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66.7%</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100.0%</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0.800</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0.768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r>
              <a:tr h="740975">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Pediatric (≤18)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XGBoost</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0.899</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84.4%</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77.8%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87.0%</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0.737</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0.628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r>
              <a:tr h="740975">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Adult (&gt;18)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Random Forest</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0.892</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84.7%</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78.1%</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90.0%</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0.820</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0.690</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r>
              <a:tr h="740975">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Adult (&gt;18)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Stacking Classifier</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0.882</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83.4%</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79.5%</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86.7%</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0.811</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0.664</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r>
              <a:tr h="455175">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Adult (&gt;18)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l">
                        <a:lnSpc>
                          <a:spcPct val="100000"/>
                        </a:lnSpc>
                        <a:spcBef>
                          <a:spcPts val="0"/>
                        </a:spcBef>
                        <a:spcAft>
                          <a:spcPts val="1200"/>
                        </a:spcAft>
                        <a:buNone/>
                      </a:pPr>
                      <a:r>
                        <a:rPr lang="en-US" sz="1700">
                          <a:solidFill>
                            <a:srgbClr val="1F2328"/>
                          </a:solidFill>
                          <a:highlight>
                            <a:srgbClr val="FFFFFF"/>
                          </a:highlight>
                        </a:rPr>
                        <a:t>XGBoost</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0.856</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78.5%</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79.5%</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77.8%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0.768</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c>
                  <a:txBody>
                    <a:bodyPr/>
                    <a:lstStyle/>
                    <a:p>
                      <a:pPr indent="0" lvl="0" marL="0" rtl="0" algn="ctr">
                        <a:lnSpc>
                          <a:spcPct val="100000"/>
                        </a:lnSpc>
                        <a:spcBef>
                          <a:spcPts val="0"/>
                        </a:spcBef>
                        <a:spcAft>
                          <a:spcPts val="1200"/>
                        </a:spcAft>
                        <a:buNone/>
                      </a:pPr>
                      <a:r>
                        <a:rPr lang="en-US" sz="1700">
                          <a:solidFill>
                            <a:srgbClr val="1F2328"/>
                          </a:solidFill>
                          <a:highlight>
                            <a:srgbClr val="FFFFFF"/>
                          </a:highlight>
                        </a:rPr>
                        <a:t>0.570</a:t>
                      </a:r>
                      <a:endParaRPr sz="1700">
                        <a:solidFill>
                          <a:srgbClr val="1F2328"/>
                        </a:solidFill>
                        <a:highlight>
                          <a:srgbClr val="FFFFFF"/>
                        </a:highlight>
                      </a:endParaRPr>
                    </a:p>
                  </a:txBody>
                  <a:tcPr marT="0" marB="0" marR="123825" marL="123825">
                    <a:lnL cap="flat" cmpd="sng" w="8650">
                      <a:solidFill>
                        <a:srgbClr val="D1D9E0"/>
                      </a:solidFill>
                      <a:prstDash val="solid"/>
                      <a:round/>
                      <a:headEnd len="sm" w="sm" type="none"/>
                      <a:tailEnd len="sm" w="sm" type="none"/>
                    </a:lnL>
                    <a:lnR cap="flat" cmpd="sng" w="8650">
                      <a:solidFill>
                        <a:srgbClr val="D1D9E0"/>
                      </a:solidFill>
                      <a:prstDash val="solid"/>
                      <a:round/>
                      <a:headEnd len="sm" w="sm" type="none"/>
                      <a:tailEnd len="sm" w="sm" type="none"/>
                    </a:lnR>
                    <a:lnT cap="flat" cmpd="sng" w="8650">
                      <a:solidFill>
                        <a:srgbClr val="D1D9E0"/>
                      </a:solidFill>
                      <a:prstDash val="solid"/>
                      <a:round/>
                      <a:headEnd len="sm" w="sm" type="none"/>
                      <a:tailEnd len="sm" w="sm" type="none"/>
                    </a:lnT>
                    <a:lnB cap="flat" cmpd="sng" w="8650">
                      <a:solidFill>
                        <a:srgbClr val="D1D9E0"/>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f9a54c7785_0_0"/>
          <p:cNvSpPr txBox="1"/>
          <p:nvPr>
            <p:ph type="title"/>
          </p:nvPr>
        </p:nvSpPr>
        <p:spPr>
          <a:xfrm>
            <a:off x="0" y="1"/>
            <a:ext cx="12192000" cy="1253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Times New Roman"/>
              <a:buNone/>
            </a:pPr>
            <a:r>
              <a:rPr b="1" lang="en-US">
                <a:solidFill>
                  <a:schemeClr val="lt1"/>
                </a:solidFill>
              </a:rPr>
              <a:t> Result - Cohort Specific Selected Model</a:t>
            </a:r>
            <a:endParaRPr/>
          </a:p>
        </p:txBody>
      </p:sp>
      <p:sp>
        <p:nvSpPr>
          <p:cNvPr id="232" name="Google Shape;232;g3f9a54c7785_0_0"/>
          <p:cNvSpPr txBox="1"/>
          <p:nvPr>
            <p:ph idx="12" type="sldNum"/>
          </p:nvPr>
        </p:nvSpPr>
        <p:spPr>
          <a:xfrm>
            <a:off x="5634181" y="6456217"/>
            <a:ext cx="554100" cy="248100"/>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aphicFrame>
        <p:nvGraphicFramePr>
          <p:cNvPr id="233" name="Google Shape;233;g3f9a54c7785_0_0"/>
          <p:cNvGraphicFramePr/>
          <p:nvPr/>
        </p:nvGraphicFramePr>
        <p:xfrm>
          <a:off x="132521" y="1444485"/>
          <a:ext cx="3000000" cy="3000000"/>
        </p:xfrm>
        <a:graphic>
          <a:graphicData uri="http://schemas.openxmlformats.org/drawingml/2006/table">
            <a:tbl>
              <a:tblPr bandRow="1" firstCol="1" firstRow="1">
                <a:noFill/>
                <a:tableStyleId>{903459BB-3F7C-4962-BC80-356C0449B5BC}</a:tableStyleId>
              </a:tblPr>
              <a:tblGrid>
                <a:gridCol w="1974575"/>
                <a:gridCol w="1974575"/>
                <a:gridCol w="1974575"/>
                <a:gridCol w="1974575"/>
                <a:gridCol w="1974575"/>
                <a:gridCol w="1974575"/>
              </a:tblGrid>
              <a:tr h="997250">
                <a:tc>
                  <a:txBody>
                    <a:bodyPr/>
                    <a:lstStyle/>
                    <a:p>
                      <a:pPr indent="0" lvl="0" marL="0" marR="0" rtl="0" algn="l">
                        <a:spcBef>
                          <a:spcPts val="0"/>
                        </a:spcBef>
                        <a:spcAft>
                          <a:spcPts val="0"/>
                        </a:spcAft>
                        <a:buNone/>
                      </a:pPr>
                      <a:r>
                        <a:rPr lang="en-US" sz="1800"/>
                        <a:t>Cohort</a:t>
                      </a:r>
                      <a:endParaRPr sz="2000">
                        <a:latin typeface="Times New Roman"/>
                        <a:ea typeface="Times New Roman"/>
                        <a:cs typeface="Times New Roman"/>
                        <a:sym typeface="Times New Roman"/>
                      </a:endParaRPr>
                    </a:p>
                  </a:txBody>
                  <a:tcPr marT="50800" marB="50800" marR="63500" marL="63500"/>
                </a:tc>
                <a:tc>
                  <a:txBody>
                    <a:bodyPr/>
                    <a:lstStyle/>
                    <a:p>
                      <a:pPr indent="0" lvl="0" marL="0" marR="0" rtl="0" algn="l">
                        <a:spcBef>
                          <a:spcPts val="0"/>
                        </a:spcBef>
                        <a:spcAft>
                          <a:spcPts val="0"/>
                        </a:spcAft>
                        <a:buNone/>
                      </a:pPr>
                      <a:r>
                        <a:rPr lang="en-US" sz="1800"/>
                        <a:t>Best Model</a:t>
                      </a:r>
                      <a:endParaRPr sz="2000">
                        <a:latin typeface="Times New Roman"/>
                        <a:ea typeface="Times New Roman"/>
                        <a:cs typeface="Times New Roman"/>
                        <a:sym typeface="Times New Roman"/>
                      </a:endParaRPr>
                    </a:p>
                  </a:txBody>
                  <a:tcPr marT="50800" marB="50800" marR="63500" marL="63500"/>
                </a:tc>
                <a:tc>
                  <a:txBody>
                    <a:bodyPr/>
                    <a:lstStyle/>
                    <a:p>
                      <a:pPr indent="0" lvl="0" marL="0" marR="0" rtl="0" algn="l">
                        <a:spcBef>
                          <a:spcPts val="0"/>
                        </a:spcBef>
                        <a:spcAft>
                          <a:spcPts val="0"/>
                        </a:spcAft>
                        <a:buNone/>
                      </a:pPr>
                      <a:r>
                        <a:rPr lang="en-US" sz="1800"/>
                        <a:t>Accuracy</a:t>
                      </a:r>
                      <a:endParaRPr sz="2000">
                        <a:latin typeface="Times New Roman"/>
                        <a:ea typeface="Times New Roman"/>
                        <a:cs typeface="Times New Roman"/>
                        <a:sym typeface="Times New Roman"/>
                      </a:endParaRPr>
                    </a:p>
                  </a:txBody>
                  <a:tcPr marT="50800" marB="50800" marR="63500" marL="63500"/>
                </a:tc>
                <a:tc>
                  <a:txBody>
                    <a:bodyPr/>
                    <a:lstStyle/>
                    <a:p>
                      <a:pPr indent="0" lvl="0" marL="0" marR="0" rtl="0" algn="l">
                        <a:spcBef>
                          <a:spcPts val="0"/>
                        </a:spcBef>
                        <a:spcAft>
                          <a:spcPts val="0"/>
                        </a:spcAft>
                        <a:buNone/>
                      </a:pPr>
                      <a:r>
                        <a:rPr lang="en-US" sz="1800"/>
                        <a:t>AUC</a:t>
                      </a:r>
                      <a:endParaRPr sz="2000">
                        <a:latin typeface="Times New Roman"/>
                        <a:ea typeface="Times New Roman"/>
                        <a:cs typeface="Times New Roman"/>
                        <a:sym typeface="Times New Roman"/>
                      </a:endParaRPr>
                    </a:p>
                  </a:txBody>
                  <a:tcPr marT="50800" marB="50800" marR="63500" marL="63500"/>
                </a:tc>
                <a:tc>
                  <a:txBody>
                    <a:bodyPr/>
                    <a:lstStyle/>
                    <a:p>
                      <a:pPr indent="0" lvl="0" marL="0" marR="0" rtl="0" algn="l">
                        <a:spcBef>
                          <a:spcPts val="0"/>
                        </a:spcBef>
                        <a:spcAft>
                          <a:spcPts val="0"/>
                        </a:spcAft>
                        <a:buNone/>
                      </a:pPr>
                      <a:r>
                        <a:rPr lang="en-US" sz="1800"/>
                        <a:t>F1</a:t>
                      </a:r>
                      <a:endParaRPr sz="2000">
                        <a:latin typeface="Times New Roman"/>
                        <a:ea typeface="Times New Roman"/>
                        <a:cs typeface="Times New Roman"/>
                        <a:sym typeface="Times New Roman"/>
                      </a:endParaRPr>
                    </a:p>
                  </a:txBody>
                  <a:tcPr marT="50800" marB="50800" marR="63500" marL="63500"/>
                </a:tc>
                <a:tc>
                  <a:txBody>
                    <a:bodyPr/>
                    <a:lstStyle/>
                    <a:p>
                      <a:pPr indent="0" lvl="0" marL="0" marR="0" rtl="0" algn="l">
                        <a:spcBef>
                          <a:spcPts val="0"/>
                        </a:spcBef>
                        <a:spcAft>
                          <a:spcPts val="0"/>
                        </a:spcAft>
                        <a:buNone/>
                      </a:pPr>
                      <a:r>
                        <a:rPr lang="en-US" sz="1800"/>
                        <a:t>MCC</a:t>
                      </a:r>
                      <a:endParaRPr sz="2000">
                        <a:latin typeface="Times New Roman"/>
                        <a:ea typeface="Times New Roman"/>
                        <a:cs typeface="Times New Roman"/>
                        <a:sym typeface="Times New Roman"/>
                      </a:endParaRPr>
                    </a:p>
                  </a:txBody>
                  <a:tcPr marT="50800" marB="50800" marR="63500" marL="63500"/>
                </a:tc>
              </a:tr>
              <a:tr h="944200">
                <a:tc>
                  <a:txBody>
                    <a:bodyPr/>
                    <a:lstStyle/>
                    <a:p>
                      <a:pPr indent="0" lvl="0" marL="0" marR="0" rtl="0" algn="l">
                        <a:spcBef>
                          <a:spcPts val="0"/>
                        </a:spcBef>
                        <a:spcAft>
                          <a:spcPts val="0"/>
                        </a:spcAft>
                        <a:buNone/>
                      </a:pPr>
                      <a:r>
                        <a:rPr lang="en-US" sz="1800"/>
                        <a:t>Pediatric</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Stacking / Random Forest</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90.6%</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0.947 / 0.961</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0.800</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0.768</a:t>
                      </a:r>
                      <a:endParaRPr sz="2000">
                        <a:latin typeface="Times New Roman"/>
                        <a:ea typeface="Times New Roman"/>
                        <a:cs typeface="Times New Roman"/>
                        <a:sym typeface="Times New Roman"/>
                      </a:endParaRPr>
                    </a:p>
                  </a:txBody>
                  <a:tcPr marT="44450" marB="44450" marR="63500" marL="63500"/>
                </a:tc>
              </a:tr>
              <a:tr h="944200">
                <a:tc>
                  <a:txBody>
                    <a:bodyPr/>
                    <a:lstStyle/>
                    <a:p>
                      <a:pPr indent="0" lvl="0" marL="0" marR="0" rtl="0" algn="l">
                        <a:spcBef>
                          <a:spcPts val="0"/>
                        </a:spcBef>
                        <a:spcAft>
                          <a:spcPts val="0"/>
                        </a:spcAft>
                        <a:buNone/>
                      </a:pPr>
                      <a:r>
                        <a:rPr lang="en-US" sz="1800"/>
                        <a:t>Adult</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Random Forest</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84.7%</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0.892</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0.820</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0.690</a:t>
                      </a:r>
                      <a:endParaRPr sz="2000">
                        <a:latin typeface="Times New Roman"/>
                        <a:ea typeface="Times New Roman"/>
                        <a:cs typeface="Times New Roman"/>
                        <a:sym typeface="Times New Roman"/>
                      </a:endParaRPr>
                    </a:p>
                  </a:txBody>
                  <a:tcPr marT="44450" marB="44450" marR="63500" marL="63500"/>
                </a:tc>
              </a:tr>
              <a:tr h="944200">
                <a:tc>
                  <a:txBody>
                    <a:bodyPr/>
                    <a:lstStyle/>
                    <a:p>
                      <a:pPr indent="0" lvl="0" marL="0" marR="0" rtl="0" algn="l">
                        <a:spcBef>
                          <a:spcPts val="0"/>
                        </a:spcBef>
                        <a:spcAft>
                          <a:spcPts val="0"/>
                        </a:spcAft>
                        <a:buNone/>
                      </a:pPr>
                      <a:r>
                        <a:rPr lang="en-US" sz="1800"/>
                        <a:t>Pooled</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Random Forest</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79.0%</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0.860</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0.739</a:t>
                      </a:r>
                      <a:endParaRPr sz="2000">
                        <a:latin typeface="Times New Roman"/>
                        <a:ea typeface="Times New Roman"/>
                        <a:cs typeface="Times New Roman"/>
                        <a:sym typeface="Times New Roman"/>
                      </a:endParaRPr>
                    </a:p>
                  </a:txBody>
                  <a:tcPr marT="44450" marB="44450" marR="63500" marL="63500"/>
                </a:tc>
                <a:tc>
                  <a:txBody>
                    <a:bodyPr/>
                    <a:lstStyle/>
                    <a:p>
                      <a:pPr indent="0" lvl="0" marL="0" marR="0" rtl="0" algn="l">
                        <a:spcBef>
                          <a:spcPts val="0"/>
                        </a:spcBef>
                        <a:spcAft>
                          <a:spcPts val="0"/>
                        </a:spcAft>
                        <a:buNone/>
                      </a:pPr>
                      <a:r>
                        <a:rPr lang="en-US" sz="1800"/>
                        <a:t>0.566</a:t>
                      </a:r>
                      <a:endParaRPr sz="2000">
                        <a:latin typeface="Times New Roman"/>
                        <a:ea typeface="Times New Roman"/>
                        <a:cs typeface="Times New Roman"/>
                        <a:sym typeface="Times New Roman"/>
                      </a:endParaRPr>
                    </a:p>
                  </a:txBody>
                  <a:tcPr marT="44450" marB="44450" marR="63500" marL="6350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4"/>
          <p:cNvSpPr txBox="1"/>
          <p:nvPr>
            <p:ph type="title"/>
          </p:nvPr>
        </p:nvSpPr>
        <p:spPr>
          <a:xfrm>
            <a:off x="0" y="1"/>
            <a:ext cx="12192000" cy="125376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Times New Roman"/>
              <a:buNone/>
            </a:pPr>
            <a:r>
              <a:rPr b="1" lang="en-US">
                <a:solidFill>
                  <a:schemeClr val="lt1"/>
                </a:solidFill>
              </a:rPr>
              <a:t>                 Result - SHAP Feature Attribution</a:t>
            </a:r>
            <a:endParaRPr/>
          </a:p>
        </p:txBody>
      </p:sp>
      <p:sp>
        <p:nvSpPr>
          <p:cNvPr id="239" name="Google Shape;239;p14"/>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40" name="Google Shape;240;p14"/>
          <p:cNvPicPr preferRelativeResize="0"/>
          <p:nvPr/>
        </p:nvPicPr>
        <p:blipFill rotWithShape="1">
          <a:blip r:embed="rId3">
            <a:alphaModFix/>
          </a:blip>
          <a:srcRect b="0" l="0" r="0" t="0"/>
          <a:stretch/>
        </p:blipFill>
        <p:spPr>
          <a:xfrm>
            <a:off x="2657860" y="1618270"/>
            <a:ext cx="6506824" cy="447344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5"/>
          <p:cNvSpPr txBox="1"/>
          <p:nvPr>
            <p:ph type="title"/>
          </p:nvPr>
        </p:nvSpPr>
        <p:spPr>
          <a:xfrm>
            <a:off x="0" y="1"/>
            <a:ext cx="12192000" cy="125376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Times New Roman"/>
              <a:buNone/>
            </a:pPr>
            <a:r>
              <a:rPr b="1" lang="en-US">
                <a:solidFill>
                  <a:schemeClr val="lt1"/>
                </a:solidFill>
              </a:rPr>
              <a:t>           Result - Model-Derived SHAP Feature Splits </a:t>
            </a:r>
            <a:endParaRPr/>
          </a:p>
        </p:txBody>
      </p:sp>
      <p:sp>
        <p:nvSpPr>
          <p:cNvPr id="246" name="Google Shape;246;p15"/>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47" name="Google Shape;247;p15"/>
          <p:cNvSpPr txBox="1"/>
          <p:nvPr/>
        </p:nvSpPr>
        <p:spPr>
          <a:xfrm>
            <a:off x="1033670" y="1457740"/>
            <a:ext cx="9939130" cy="29674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cap="none">
                <a:solidFill>
                  <a:srgbClr val="2E7D32"/>
                </a:solidFill>
                <a:latin typeface="Calibri"/>
                <a:ea typeface="Calibri"/>
                <a:cs typeface="Calibri"/>
                <a:sym typeface="Calibri"/>
              </a:rPr>
              <a:t>TWO-COLUMN COMPARISON</a:t>
            </a:r>
            <a:endParaRPr sz="1600">
              <a:solidFill>
                <a:schemeClr val="dk1"/>
              </a:solidFill>
              <a:latin typeface="Times New Roman"/>
              <a:ea typeface="Times New Roman"/>
              <a:cs typeface="Times New Roman"/>
              <a:sym typeface="Times New Roman"/>
            </a:endParaRPr>
          </a:p>
          <a:p>
            <a:pPr indent="0" lvl="0" marL="0" marR="0" rtl="0" algn="l">
              <a:spcBef>
                <a:spcPts val="1000"/>
              </a:spcBef>
              <a:spcAft>
                <a:spcPts val="0"/>
              </a:spcAft>
              <a:buNone/>
            </a:pPr>
            <a:r>
              <a:rPr b="1" lang="en-US" sz="1600" cap="none">
                <a:solidFill>
                  <a:srgbClr val="2E7D32"/>
                </a:solidFill>
                <a:latin typeface="Calibri"/>
                <a:ea typeface="Calibri"/>
                <a:cs typeface="Calibri"/>
                <a:sym typeface="Calibri"/>
              </a:rPr>
              <a:t>PEDIATRIC SPLITS (SHAP &gt; 0)</a:t>
            </a:r>
            <a:endParaRPr sz="1600">
              <a:solidFill>
                <a:schemeClr val="dk1"/>
              </a:solidFill>
              <a:latin typeface="Times New Roman"/>
              <a:ea typeface="Times New Roman"/>
              <a:cs typeface="Times New Roman"/>
              <a:sym typeface="Times New Roman"/>
            </a:endParaRPr>
          </a:p>
          <a:p>
            <a:pPr indent="-342900" lvl="0" marL="342900" marR="0" rtl="0" algn="l">
              <a:spcBef>
                <a:spcPts val="2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Lymphocyte % - split at &gt; 44.50%</a:t>
            </a:r>
            <a:endParaRPr sz="1600">
              <a:solidFill>
                <a:schemeClr val="dk1"/>
              </a:solidFill>
              <a:latin typeface="Times New Roman"/>
              <a:ea typeface="Times New Roman"/>
              <a:cs typeface="Times New Roman"/>
              <a:sym typeface="Times New Roman"/>
            </a:endParaRPr>
          </a:p>
          <a:p>
            <a:pPr indent="-342900" lvl="0" marL="342900" marR="0" rtl="0" algn="l">
              <a:spcBef>
                <a:spcPts val="3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Neutrophil % - split at ≤ 48.00%</a:t>
            </a:r>
            <a:endParaRPr sz="1600">
              <a:solidFill>
                <a:schemeClr val="dk1"/>
              </a:solidFill>
              <a:latin typeface="Times New Roman"/>
              <a:ea typeface="Times New Roman"/>
              <a:cs typeface="Times New Roman"/>
              <a:sym typeface="Times New Roman"/>
            </a:endParaRPr>
          </a:p>
          <a:p>
            <a:pPr indent="-342900" lvl="0" marL="342900" marR="0" rtl="0" algn="l">
              <a:spcBef>
                <a:spcPts val="3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WBC - split at ≤ 4.34 × 10³/µL</a:t>
            </a:r>
            <a:endParaRPr sz="1600">
              <a:solidFill>
                <a:schemeClr val="dk1"/>
              </a:solidFill>
              <a:latin typeface="Times New Roman"/>
              <a:ea typeface="Times New Roman"/>
              <a:cs typeface="Times New Roman"/>
              <a:sym typeface="Times New Roman"/>
            </a:endParaRPr>
          </a:p>
          <a:p>
            <a:pPr indent="0" lvl="0" marL="0" marR="0" rtl="0" algn="l">
              <a:spcBef>
                <a:spcPts val="1100"/>
              </a:spcBef>
              <a:spcAft>
                <a:spcPts val="0"/>
              </a:spcAft>
              <a:buNone/>
            </a:pPr>
            <a:r>
              <a:rPr b="1" lang="en-US" sz="1600" cap="none">
                <a:solidFill>
                  <a:srgbClr val="2E7D32"/>
                </a:solidFill>
                <a:latin typeface="Calibri"/>
                <a:ea typeface="Calibri"/>
                <a:cs typeface="Calibri"/>
                <a:sym typeface="Calibri"/>
              </a:rPr>
              <a:t>ADULT SPLITS (SHAP &gt; 0)</a:t>
            </a:r>
            <a:endParaRPr sz="1600">
              <a:solidFill>
                <a:schemeClr val="dk1"/>
              </a:solidFill>
              <a:latin typeface="Times New Roman"/>
              <a:ea typeface="Times New Roman"/>
              <a:cs typeface="Times New Roman"/>
              <a:sym typeface="Times New Roman"/>
            </a:endParaRPr>
          </a:p>
          <a:p>
            <a:pPr indent="-342900" lvl="0" marL="342900" marR="0" rtl="0" algn="l">
              <a:spcBef>
                <a:spcPts val="2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Lymphocyte % - split at &gt; 24.99%</a:t>
            </a:r>
            <a:endParaRPr sz="1600">
              <a:solidFill>
                <a:schemeClr val="dk1"/>
              </a:solidFill>
              <a:latin typeface="Times New Roman"/>
              <a:ea typeface="Times New Roman"/>
              <a:cs typeface="Times New Roman"/>
              <a:sym typeface="Times New Roman"/>
            </a:endParaRPr>
          </a:p>
          <a:p>
            <a:pPr indent="-342900" lvl="0" marL="342900" marR="0" rtl="0" algn="l">
              <a:spcBef>
                <a:spcPts val="3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HCT - split at &gt; 40.65%</a:t>
            </a:r>
            <a:endParaRPr sz="1600">
              <a:solidFill>
                <a:schemeClr val="dk1"/>
              </a:solidFill>
              <a:latin typeface="Times New Roman"/>
              <a:ea typeface="Times New Roman"/>
              <a:cs typeface="Times New Roman"/>
              <a:sym typeface="Times New Roman"/>
            </a:endParaRPr>
          </a:p>
          <a:p>
            <a:pPr indent="-342900" lvl="0" marL="342900" marR="0" rtl="0" algn="l">
              <a:spcBef>
                <a:spcPts val="3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Age - split at &gt; 31.00 years</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txBox="1"/>
          <p:nvPr>
            <p:ph type="title"/>
          </p:nvPr>
        </p:nvSpPr>
        <p:spPr>
          <a:xfrm>
            <a:off x="0" y="1"/>
            <a:ext cx="12192000" cy="125376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Times New Roman"/>
              <a:buNone/>
            </a:pPr>
            <a:r>
              <a:rPr b="1" lang="en-US">
                <a:solidFill>
                  <a:schemeClr val="lt1"/>
                </a:solidFill>
              </a:rPr>
              <a:t>                     Result - Web Application</a:t>
            </a:r>
            <a:endParaRPr/>
          </a:p>
        </p:txBody>
      </p:sp>
      <p:sp>
        <p:nvSpPr>
          <p:cNvPr id="253" name="Google Shape;253;p16"/>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54" name="Google Shape;254;p16"/>
          <p:cNvPicPr preferRelativeResize="0"/>
          <p:nvPr/>
        </p:nvPicPr>
        <p:blipFill rotWithShape="1">
          <a:blip r:embed="rId3">
            <a:alphaModFix/>
          </a:blip>
          <a:srcRect b="0" l="0" r="0" t="0"/>
          <a:stretch/>
        </p:blipFill>
        <p:spPr>
          <a:xfrm>
            <a:off x="198775" y="1467350"/>
            <a:ext cx="4976120" cy="4899149"/>
          </a:xfrm>
          <a:prstGeom prst="rect">
            <a:avLst/>
          </a:prstGeom>
          <a:noFill/>
          <a:ln>
            <a:noFill/>
          </a:ln>
        </p:spPr>
      </p:pic>
      <p:pic>
        <p:nvPicPr>
          <p:cNvPr id="255" name="Google Shape;255;p16"/>
          <p:cNvPicPr preferRelativeResize="0"/>
          <p:nvPr/>
        </p:nvPicPr>
        <p:blipFill rotWithShape="1">
          <a:blip r:embed="rId4">
            <a:alphaModFix/>
          </a:blip>
          <a:srcRect b="0" l="0" r="0" t="0"/>
          <a:stretch/>
        </p:blipFill>
        <p:spPr>
          <a:xfrm>
            <a:off x="5634175" y="1467350"/>
            <a:ext cx="6131825" cy="489914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type="title"/>
          </p:nvPr>
        </p:nvSpPr>
        <p:spPr>
          <a:xfrm>
            <a:off x="0" y="1"/>
            <a:ext cx="12192000" cy="125376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Times New Roman"/>
              <a:buNone/>
            </a:pPr>
            <a:r>
              <a:rPr b="1" lang="en-US">
                <a:solidFill>
                  <a:schemeClr val="lt1"/>
                </a:solidFill>
              </a:rPr>
              <a:t>                     Result-Web Application</a:t>
            </a:r>
            <a:endParaRPr/>
          </a:p>
        </p:txBody>
      </p:sp>
      <p:sp>
        <p:nvSpPr>
          <p:cNvPr id="261" name="Google Shape;261;p17"/>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62" name="Google Shape;262;p17"/>
          <p:cNvPicPr preferRelativeResize="0"/>
          <p:nvPr/>
        </p:nvPicPr>
        <p:blipFill rotWithShape="1">
          <a:blip r:embed="rId3">
            <a:alphaModFix/>
          </a:blip>
          <a:srcRect b="0" l="0" r="0" t="0"/>
          <a:stretch/>
        </p:blipFill>
        <p:spPr>
          <a:xfrm>
            <a:off x="291547" y="1474803"/>
            <a:ext cx="4406673" cy="4760375"/>
          </a:xfrm>
          <a:prstGeom prst="rect">
            <a:avLst/>
          </a:prstGeom>
          <a:noFill/>
          <a:ln>
            <a:noFill/>
          </a:ln>
        </p:spPr>
      </p:pic>
      <p:pic>
        <p:nvPicPr>
          <p:cNvPr id="263" name="Google Shape;263;p17"/>
          <p:cNvPicPr preferRelativeResize="0"/>
          <p:nvPr/>
        </p:nvPicPr>
        <p:blipFill rotWithShape="1">
          <a:blip r:embed="rId4">
            <a:alphaModFix/>
          </a:blip>
          <a:srcRect b="0" l="0" r="0" t="0"/>
          <a:stretch/>
        </p:blipFill>
        <p:spPr>
          <a:xfrm>
            <a:off x="4763671" y="1696278"/>
            <a:ext cx="7248213" cy="306367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8"/>
          <p:cNvSpPr txBox="1"/>
          <p:nvPr>
            <p:ph type="title"/>
          </p:nvPr>
        </p:nvSpPr>
        <p:spPr>
          <a:xfrm>
            <a:off x="0" y="92365"/>
            <a:ext cx="12062691" cy="10714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Times New Roman"/>
              <a:buNone/>
            </a:pPr>
            <a:r>
              <a:rPr b="1" lang="en-US">
                <a:solidFill>
                  <a:schemeClr val="lt1"/>
                </a:solidFill>
                <a:latin typeface="Times New Roman"/>
                <a:ea typeface="Times New Roman"/>
                <a:cs typeface="Times New Roman"/>
                <a:sym typeface="Times New Roman"/>
              </a:rPr>
              <a:t>                    Conclusion &amp; Future Work</a:t>
            </a:r>
            <a:endParaRPr/>
          </a:p>
        </p:txBody>
      </p:sp>
      <p:sp>
        <p:nvSpPr>
          <p:cNvPr id="269" name="Google Shape;269;p18"/>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70" name="Google Shape;27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None/>
            </a:pPr>
            <a:r>
              <a:rPr lang="en-US" sz="1800">
                <a:latin typeface="Calibri"/>
                <a:ea typeface="Calibri"/>
                <a:cs typeface="Calibri"/>
                <a:sym typeface="Calibri"/>
              </a:rPr>
              <a:t>Age-stratified models outperformed the pooled baseline (pediatric: 90.6% accuracy / AUC 0.947 Stacking; adult: 84.7% accuracy / AUC 0.892 Random Forest). SHAP rankings were highly correlated across age groups (τ-b = 0.900), yet model-derived feature-split thresholds differed meaningfully by age - confirming that pooled models can mask clinically relevant, age-specific decision behavior.</a:t>
            </a:r>
            <a:endParaRPr sz="1800">
              <a:latin typeface="Times New Roman"/>
              <a:ea typeface="Times New Roman"/>
              <a:cs typeface="Times New Roman"/>
              <a:sym typeface="Times New Roman"/>
            </a:endParaRPr>
          </a:p>
          <a:p>
            <a:pPr indent="0" lvl="0" marL="0" marR="0" rtl="0" algn="l">
              <a:lnSpc>
                <a:spcPct val="90000"/>
              </a:lnSpc>
              <a:spcBef>
                <a:spcPts val="1200"/>
              </a:spcBef>
              <a:spcAft>
                <a:spcPts val="0"/>
              </a:spcAft>
              <a:buClr>
                <a:srgbClr val="2E7D32"/>
              </a:buClr>
              <a:buSzPts val="1800"/>
              <a:buNone/>
            </a:pPr>
            <a:r>
              <a:rPr b="1" lang="en-US" sz="1800" cap="none">
                <a:solidFill>
                  <a:srgbClr val="2E7D32"/>
                </a:solidFill>
                <a:latin typeface="Calibri"/>
                <a:ea typeface="Calibri"/>
                <a:cs typeface="Calibri"/>
                <a:sym typeface="Calibri"/>
              </a:rPr>
              <a:t>FUTURE WORK</a:t>
            </a:r>
            <a:endParaRPr sz="1800">
              <a:latin typeface="Times New Roman"/>
              <a:ea typeface="Times New Roman"/>
              <a:cs typeface="Times New Roman"/>
              <a:sym typeface="Times New Roman"/>
            </a:endParaRPr>
          </a:p>
          <a:p>
            <a:pPr indent="-342900" lvl="0" marL="342900" marR="0" rtl="0" algn="l">
              <a:lnSpc>
                <a:spcPct val="90000"/>
              </a:lnSpc>
              <a:spcBef>
                <a:spcPts val="200"/>
              </a:spcBef>
              <a:spcAft>
                <a:spcPts val="0"/>
              </a:spcAft>
              <a:buClr>
                <a:schemeClr val="dk1"/>
              </a:buClr>
              <a:buSzPts val="1800"/>
              <a:buFont typeface="Arial"/>
              <a:buChar char="●"/>
            </a:pPr>
            <a:r>
              <a:rPr lang="en-US" sz="1800">
                <a:latin typeface="Calibri"/>
                <a:ea typeface="Calibri"/>
                <a:cs typeface="Calibri"/>
                <a:sym typeface="Calibri"/>
              </a:rPr>
              <a:t>External, prospective validation on independent, geographically distinct datasets</a:t>
            </a:r>
            <a:endParaRPr sz="1800">
              <a:latin typeface="Times New Roman"/>
              <a:ea typeface="Times New Roman"/>
              <a:cs typeface="Times New Roman"/>
              <a:sym typeface="Times New Roman"/>
            </a:endParaRPr>
          </a:p>
          <a:p>
            <a:pPr indent="-342900" lvl="0" marL="342900" marR="0" rtl="0" algn="l">
              <a:lnSpc>
                <a:spcPct val="90000"/>
              </a:lnSpc>
              <a:spcBef>
                <a:spcPts val="300"/>
              </a:spcBef>
              <a:spcAft>
                <a:spcPts val="0"/>
              </a:spcAft>
              <a:buClr>
                <a:schemeClr val="dk1"/>
              </a:buClr>
              <a:buSzPts val="1800"/>
              <a:buFont typeface="Arial"/>
              <a:buChar char="●"/>
            </a:pPr>
            <a:r>
              <a:rPr lang="en-US" sz="1800">
                <a:latin typeface="Calibri"/>
                <a:ea typeface="Calibri"/>
                <a:cs typeface="Calibri"/>
                <a:sym typeface="Calibri"/>
              </a:rPr>
              <a:t>Larger pediatric cohort to strengthen subgroup robustness</a:t>
            </a:r>
            <a:endParaRPr sz="1800">
              <a:latin typeface="Times New Roman"/>
              <a:ea typeface="Times New Roman"/>
              <a:cs typeface="Times New Roman"/>
              <a:sym typeface="Times New Roman"/>
            </a:endParaRPr>
          </a:p>
          <a:p>
            <a:pPr indent="-342900" lvl="0" marL="342900" marR="0" rtl="0" algn="l">
              <a:lnSpc>
                <a:spcPct val="90000"/>
              </a:lnSpc>
              <a:spcBef>
                <a:spcPts val="300"/>
              </a:spcBef>
              <a:spcAft>
                <a:spcPts val="0"/>
              </a:spcAft>
              <a:buClr>
                <a:schemeClr val="dk1"/>
              </a:buClr>
              <a:buSzPts val="1800"/>
              <a:buFont typeface="Arial"/>
              <a:buChar char="●"/>
            </a:pPr>
            <a:r>
              <a:rPr lang="en-US" sz="1800">
                <a:latin typeface="Calibri"/>
                <a:ea typeface="Calibri"/>
                <a:cs typeface="Calibri"/>
                <a:sym typeface="Calibri"/>
              </a:rPr>
              <a:t>WHO-adjudicated severity labels in place of the PLT-derived proxy</a:t>
            </a:r>
            <a:endParaRPr sz="1800">
              <a:latin typeface="Times New Roman"/>
              <a:ea typeface="Times New Roman"/>
              <a:cs typeface="Times New Roman"/>
              <a:sym typeface="Times New Roman"/>
            </a:endParaRPr>
          </a:p>
          <a:p>
            <a:pPr indent="-342900" lvl="0" marL="342900" marR="0" rtl="0" algn="l">
              <a:lnSpc>
                <a:spcPct val="90000"/>
              </a:lnSpc>
              <a:spcBef>
                <a:spcPts val="300"/>
              </a:spcBef>
              <a:spcAft>
                <a:spcPts val="0"/>
              </a:spcAft>
              <a:buClr>
                <a:schemeClr val="dk1"/>
              </a:buClr>
              <a:buSzPts val="1800"/>
              <a:buFont typeface="Arial"/>
              <a:buChar char="●"/>
            </a:pPr>
            <a:r>
              <a:rPr lang="en-US" sz="1800">
                <a:latin typeface="Calibri"/>
                <a:ea typeface="Calibri"/>
                <a:cs typeface="Calibri"/>
                <a:sym typeface="Calibri"/>
              </a:rPr>
              <a:t>Dashboard-driven longitudinal data collection enabling future temporal/sequential modeling (e.g., RNNs)</a:t>
            </a:r>
            <a:endParaRPr sz="18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9"/>
          <p:cNvSpPr txBox="1"/>
          <p:nvPr>
            <p:ph type="title"/>
          </p:nvPr>
        </p:nvSpPr>
        <p:spPr>
          <a:xfrm>
            <a:off x="0" y="92365"/>
            <a:ext cx="12062691" cy="10714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                                 </a:t>
            </a:r>
            <a:r>
              <a:rPr b="1" lang="en-US">
                <a:solidFill>
                  <a:schemeClr val="lt1"/>
                </a:solidFill>
                <a:latin typeface="Times New Roman"/>
                <a:ea typeface="Times New Roman"/>
                <a:cs typeface="Times New Roman"/>
                <a:sym typeface="Times New Roman"/>
              </a:rPr>
              <a:t>References</a:t>
            </a:r>
            <a:endParaRPr b="1">
              <a:solidFill>
                <a:schemeClr val="lt1"/>
              </a:solidFill>
            </a:endParaRPr>
          </a:p>
        </p:txBody>
      </p:sp>
      <p:sp>
        <p:nvSpPr>
          <p:cNvPr id="276" name="Google Shape;276;p19"/>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77" name="Google Shape;27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[1] L. B. Tanner et al., ”Decision Tree Algorithms Predict the Diagnosis and Outcome of Dengue Fever in the Early Phase of Illness,” PLOS Neglected Tropical Diseases, 2008. </a:t>
            </a:r>
            <a:endParaRPr/>
          </a:p>
          <a:p>
            <a:pPr indent="-228600" lvl="0" marL="228600" rtl="0" algn="l">
              <a:lnSpc>
                <a:spcPct val="90000"/>
              </a:lnSpc>
              <a:spcBef>
                <a:spcPts val="1000"/>
              </a:spcBef>
              <a:spcAft>
                <a:spcPts val="0"/>
              </a:spcAft>
              <a:buClr>
                <a:schemeClr val="dk1"/>
              </a:buClr>
              <a:buSzPts val="1800"/>
              <a:buChar char="•"/>
            </a:pPr>
            <a:r>
              <a:rPr lang="en-US" sz="1800"/>
              <a:t>[2] J. A. Potts et al., ”Prediction of Dengue Disease Severity among Pediatric Thai Patients Using Early Clinical Laboratory Indicators,” PLOS Neglected Tropical Dis eases, vol. 4, no. 8, p. e769, 2010. </a:t>
            </a:r>
            <a:endParaRPr/>
          </a:p>
          <a:p>
            <a:pPr indent="-228600" lvl="0" marL="228600" rtl="0" algn="l">
              <a:lnSpc>
                <a:spcPct val="90000"/>
              </a:lnSpc>
              <a:spcBef>
                <a:spcPts val="1000"/>
              </a:spcBef>
              <a:spcAft>
                <a:spcPts val="0"/>
              </a:spcAft>
              <a:buClr>
                <a:schemeClr val="dk1"/>
              </a:buClr>
              <a:buSzPts val="1800"/>
              <a:buChar char="•"/>
            </a:pPr>
            <a:r>
              <a:rPr lang="en-US" sz="1800"/>
              <a:t>[3] S. Rajapakse et al., ”Clinical features of dengue in adults and children: A compar ative study,” Transactions of the Royal Society of Tropical Medicine and Hygiene, vol. 108, no. 1, pp. 24-29, 2014</a:t>
            </a:r>
            <a:endParaRPr sz="1800"/>
          </a:p>
          <a:p>
            <a:pPr indent="-228600" lvl="0" marL="228600" rtl="0" algn="l">
              <a:spcBef>
                <a:spcPts val="1000"/>
              </a:spcBef>
              <a:spcAft>
                <a:spcPts val="0"/>
              </a:spcAft>
              <a:buSzPts val="1800"/>
              <a:buChar char="•"/>
            </a:pPr>
            <a:r>
              <a:rPr lang="en-US" sz="1800"/>
              <a:t>[4] S.-W. Huang et al., ”Assessing the risk of dengue severity using demographic infor mation and laboratory test results with machine learning,” PLOS Neglected Tropical Diseases, vol. 14, no. 12, p. e0008960, 2020.</a:t>
            </a:r>
            <a:endParaRPr sz="1800"/>
          </a:p>
          <a:p>
            <a:pPr indent="-228600" lvl="0" marL="228600" rtl="0" algn="l">
              <a:spcBef>
                <a:spcPts val="1000"/>
              </a:spcBef>
              <a:spcAft>
                <a:spcPts val="0"/>
              </a:spcAft>
              <a:buSzPts val="1800"/>
              <a:buChar char="•"/>
            </a:pPr>
            <a:r>
              <a:rPr lang="en-US" sz="1800"/>
              <a:t>[5] A. K. M. Masum et al., ”Enhancing Dengue Fever Diagnosis: A Machine Learning Framework with Stacking Ensemble and SHAP Explainability,” IEEE QPAIN, 2025. [15] I. A. Tuhin et al., ”An interpretable machine learning model for dengue detection with clinical hematological data,” Healthcare Analytics, 2025.</a:t>
            </a:r>
            <a:endParaRPr/>
          </a:p>
          <a:p>
            <a:pPr indent="-114300" lvl="0" marL="228600" rtl="0" algn="l">
              <a:lnSpc>
                <a:spcPct val="90000"/>
              </a:lnSpc>
              <a:spcBef>
                <a:spcPts val="1000"/>
              </a:spcBef>
              <a:spcAft>
                <a:spcPts val="0"/>
              </a:spcAft>
              <a:buClr>
                <a:schemeClr val="dk1"/>
              </a:buClr>
              <a:buSzPts val="1800"/>
              <a:buNone/>
            </a:pPr>
            <a:r>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0"/>
          <p:cNvSpPr txBox="1"/>
          <p:nvPr>
            <p:ph type="title"/>
          </p:nvPr>
        </p:nvSpPr>
        <p:spPr>
          <a:xfrm>
            <a:off x="0" y="92365"/>
            <a:ext cx="12062691" cy="10714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                                 </a:t>
            </a:r>
            <a:r>
              <a:rPr b="1" lang="en-US">
                <a:solidFill>
                  <a:schemeClr val="lt1"/>
                </a:solidFill>
                <a:latin typeface="Times New Roman"/>
                <a:ea typeface="Times New Roman"/>
                <a:cs typeface="Times New Roman"/>
                <a:sym typeface="Times New Roman"/>
              </a:rPr>
              <a:t>References</a:t>
            </a:r>
            <a:endParaRPr b="1">
              <a:solidFill>
                <a:schemeClr val="lt1"/>
              </a:solidFill>
            </a:endParaRPr>
          </a:p>
        </p:txBody>
      </p:sp>
      <p:sp>
        <p:nvSpPr>
          <p:cNvPr id="283" name="Google Shape;283;p20"/>
          <p:cNvSpPr txBox="1"/>
          <p:nvPr>
            <p:ph idx="12" type="sldNum"/>
          </p:nvPr>
        </p:nvSpPr>
        <p:spPr>
          <a:xfrm>
            <a:off x="5634181" y="6456217"/>
            <a:ext cx="554183" cy="248083"/>
          </a:xfrm>
          <a:prstGeom prst="rect">
            <a:avLst/>
          </a:prstGeom>
          <a:solidFill>
            <a:schemeClr val="accent2"/>
          </a:solid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84" name="Google Shape;284;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spcBef>
                <a:spcPts val="1000"/>
              </a:spcBef>
              <a:spcAft>
                <a:spcPts val="0"/>
              </a:spcAft>
              <a:buSzPts val="1800"/>
              <a:buChar char="•"/>
            </a:pPr>
            <a:r>
              <a:rPr lang="en-US" sz="1800"/>
              <a:t>[6] I. A. Tuhin et al., ”An interpretable machine learning model for dengue detection with clinical hematological data,” Healthcare Analytics, 2025.</a:t>
            </a:r>
            <a:endParaRPr/>
          </a:p>
          <a:p>
            <a:pPr indent="-228600" lvl="0" marL="228600" rtl="0" algn="l">
              <a:spcBef>
                <a:spcPts val="1000"/>
              </a:spcBef>
              <a:spcAft>
                <a:spcPts val="0"/>
              </a:spcAft>
              <a:buSzPts val="1800"/>
              <a:buChar char="•"/>
            </a:pPr>
            <a:r>
              <a:rPr lang="en-US" sz="1800"/>
              <a:t>[7] S. U. Chowdhury et al., ”Shapley-Additive-Explanations-Based Factor Analysis for Dengue Severity Prediction,” Journal of Imaging, vol. 8, no. 9, p. 229, 2022.</a:t>
            </a:r>
            <a:endParaRPr sz="1800"/>
          </a:p>
          <a:p>
            <a:pPr indent="-228600" lvl="0" marL="228600" rtl="0" algn="l">
              <a:spcBef>
                <a:spcPts val="1000"/>
              </a:spcBef>
              <a:spcAft>
                <a:spcPts val="0"/>
              </a:spcAft>
              <a:buSzPts val="1800"/>
              <a:buChar char="•"/>
            </a:pPr>
            <a:r>
              <a:rPr lang="en-US" sz="1800"/>
              <a:t>[8] M. Niazi and S. Momand, ”Dengue Severity Level Prediction Using Hematology Driven Machine Learning Models,” Scientific Journal of Engineering, and Technol ogy, vol. 3, no. 1, 2026.</a:t>
            </a:r>
            <a:endParaRPr sz="1800">
              <a:solidFill>
                <a:srgbClr val="00000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800"/>
              <a:buChar char="•"/>
            </a:pPr>
            <a:r>
              <a:rPr lang="en-US" sz="1800"/>
              <a:t>[9] K. Das et al., ”Optimized Feature-Driven Dengue Diagnosis Using Explainable Ma chine Learning Approaches,” IEEE QPAIN, 2025</a:t>
            </a:r>
            <a:endParaRPr sz="1800"/>
          </a:p>
          <a:p>
            <a:pPr indent="-228600" lvl="0" marL="228600" rtl="0" algn="l">
              <a:lnSpc>
                <a:spcPct val="90000"/>
              </a:lnSpc>
              <a:spcBef>
                <a:spcPts val="1000"/>
              </a:spcBef>
              <a:spcAft>
                <a:spcPts val="0"/>
              </a:spcAft>
              <a:buSzPts val="1800"/>
              <a:buChar char="•"/>
            </a:pPr>
            <a:r>
              <a:rPr lang="en-US" sz="1800"/>
              <a:t>[10] Thakur, Amonika; Nasrin, Sonia (2025), “Comprehensive Dengue Hematology and Clinical Dataset from Bangladesh for Machine Learning and Diagnostic Research”, Mendeley Data, V4, doi: 10.17632/jsbmtk8hty.4</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2022-05-25T09:47:59Z</dcterms:created>
  <dc:creator>Sarowar Morshed Shawon</dc:creator>
</cp:coreProperties>
</file>