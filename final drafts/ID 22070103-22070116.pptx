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72" r:id="rId4"/>
    <p:sldId id="260" r:id="rId5"/>
    <p:sldId id="273" r:id="rId6"/>
    <p:sldId id="261" r:id="rId7"/>
    <p:sldId id="266" r:id="rId8"/>
    <p:sldId id="274" r:id="rId9"/>
    <p:sldId id="275" r:id="rId10"/>
    <p:sldId id="276" r:id="rId11"/>
    <p:sldId id="284" r:id="rId12"/>
    <p:sldId id="285" r:id="rId13"/>
    <p:sldId id="271" r:id="rId14"/>
    <p:sldId id="279" r:id="rId15"/>
    <p:sldId id="278" r:id="rId16"/>
    <p:sldId id="280" r:id="rId17"/>
    <p:sldId id="281" r:id="rId18"/>
    <p:sldId id="270" r:id="rId19"/>
    <p:sldId id="262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9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EED6E-231D-4599-9BF0-AD4755C5A42D}" type="datetimeFigureOut">
              <a:rPr lang="en-MY" smtClean="0"/>
              <a:t>15/8/2026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A7A50-3D51-42A1-BE0A-70CD8280A9E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616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F48F-E7EE-441F-81D3-9996CC1DB580}" type="datetime1">
              <a:rPr lang="en-MY" smtClean="0"/>
              <a:t>15/8/2026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8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8634-2032-4A45-8375-F9F55CAB3A55}" type="datetime1">
              <a:rPr lang="en-MY" smtClean="0"/>
              <a:t>15/8/2026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4181" y="6456217"/>
            <a:ext cx="554183" cy="248083"/>
          </a:xfrm>
          <a:solidFill>
            <a:schemeClr val="accent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F1FAD3BF-C100-4A2D-9AA6-6A94C5A9EA2E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6637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7E2E-7E70-4792-9487-6E701984B8FE}" type="datetime1">
              <a:rPr lang="en-MY" smtClean="0"/>
              <a:t>15/8/2026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680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8147-6220-479A-9297-7F78F73ECD0F}" type="datetime1">
              <a:rPr lang="en-MY" smtClean="0"/>
              <a:t>15/8/2026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446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F4DDD-3935-456B-8777-3112D28E934A}" type="datetime1">
              <a:rPr lang="en-MY" smtClean="0"/>
              <a:t>15/8/2026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542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E57-8A11-4CD0-8C76-16A535F486D9}" type="datetime1">
              <a:rPr lang="en-MY" smtClean="0"/>
              <a:t>15/8/2026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0447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86EF-C83D-4ADB-86A8-1CDF471AA4B5}" type="datetime1">
              <a:rPr lang="en-MY" smtClean="0"/>
              <a:t>15/8/2026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076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1E33B-06F4-4209-9247-C0158FE06D8C}" type="datetime1">
              <a:rPr lang="en-MY" smtClean="0"/>
              <a:t>15/8/2026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240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4C00-B652-4D03-BE57-F6D4BFA206D8}" type="datetime1">
              <a:rPr lang="en-MY" smtClean="0"/>
              <a:t>15/8/2026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312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9975-83A4-479E-9019-BD77F6FC0740}" type="datetime1">
              <a:rPr lang="en-MY" smtClean="0"/>
              <a:t>15/8/2026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946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BEB4-7216-4523-A4C9-CE6851CDC80A}" type="datetime1">
              <a:rPr lang="en-MY" smtClean="0"/>
              <a:t>15/8/2026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418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75EC6-96D3-4277-B962-B7DD5EBF3368}" type="datetime1">
              <a:rPr lang="en-MY" smtClean="0"/>
              <a:t>15/8/2026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45056" y="63119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598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914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1"/>
          <p:cNvSpPr txBox="1">
            <a:spLocks/>
          </p:cNvSpPr>
          <p:nvPr/>
        </p:nvSpPr>
        <p:spPr>
          <a:xfrm>
            <a:off x="4295776" y="1698484"/>
            <a:ext cx="3333750" cy="584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defRPr sz="1300" b="1">
                <a:solidFill>
                  <a:srgbClr val="222222"/>
                </a:solidFill>
                <a:latin typeface="Calibri"/>
              </a:defRPr>
            </a:pPr>
            <a:r>
              <a:rPr lang="en-US" sz="1800" dirty="0">
                <a:latin typeface="+mj-lt"/>
              </a:rPr>
              <a:t>Mohammad </a:t>
            </a:r>
            <a:r>
              <a:rPr lang="en-US" sz="1800" dirty="0" err="1">
                <a:latin typeface="+mj-lt"/>
              </a:rPr>
              <a:t>Mazharul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Alam</a:t>
            </a:r>
            <a:endParaRPr lang="en-US" sz="1800" dirty="0">
              <a:latin typeface="+mj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800" dirty="0"/>
              <a:t>Roll No:</a:t>
            </a:r>
            <a:r>
              <a:rPr lang="en-US" sz="1800" dirty="0">
                <a:solidFill>
                  <a:srgbClr val="555555"/>
                </a:solidFill>
                <a:ea typeface="Calibri" pitchFamily="34" charset="-122"/>
                <a:cs typeface="Calibri" pitchFamily="34" charset="-120"/>
              </a:rPr>
              <a:t> 22070116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Md. </a:t>
            </a:r>
            <a:r>
              <a:rPr lang="en-US" sz="18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Aftabul</a:t>
            </a:r>
            <a:r>
              <a:rPr lang="en-US" sz="18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Islam</a:t>
            </a: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5555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Roll No: 22070103</a:t>
            </a:r>
            <a:endParaRPr lang="en-US" sz="1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0"/>
              </a:spcBef>
            </a:pPr>
            <a:endParaRPr lang="en-US" sz="1800" b="0" dirty="0"/>
          </a:p>
          <a:p>
            <a:pPr>
              <a:spcBef>
                <a:spcPts val="300"/>
              </a:spcBef>
            </a:pPr>
            <a:endParaRPr lang="en-US" sz="1800" b="0" dirty="0"/>
          </a:p>
          <a:p>
            <a:pPr>
              <a:spcBef>
                <a:spcPts val="300"/>
              </a:spcBef>
            </a:pPr>
            <a:endParaRPr lang="en-US" sz="1800" b="0" dirty="0"/>
          </a:p>
        </p:txBody>
      </p:sp>
      <p:sp>
        <p:nvSpPr>
          <p:cNvPr id="6" name="Subtitle 11"/>
          <p:cNvSpPr txBox="1">
            <a:spLocks/>
          </p:cNvSpPr>
          <p:nvPr/>
        </p:nvSpPr>
        <p:spPr>
          <a:xfrm>
            <a:off x="2714844" y="3418784"/>
            <a:ext cx="6762303" cy="1911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800" b="0" i="1" dirty="0"/>
              <a:t>Under the guidance of</a:t>
            </a:r>
          </a:p>
          <a:p>
            <a:pPr>
              <a:spcBef>
                <a:spcPts val="600"/>
              </a:spcBef>
              <a:defRPr sz="1400" b="1">
                <a:solidFill>
                  <a:srgbClr val="222222"/>
                </a:solidFill>
                <a:latin typeface="Calibri"/>
              </a:defRPr>
            </a:pPr>
            <a:r>
              <a:rPr lang="en-US" sz="1800" dirty="0">
                <a:latin typeface="+mj-lt"/>
              </a:rPr>
              <a:t>Mohammad </a:t>
            </a:r>
            <a:r>
              <a:rPr lang="en-US" sz="1800" dirty="0" err="1">
                <a:latin typeface="+mj-lt"/>
              </a:rPr>
              <a:t>Arif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Hasan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Chowdhury</a:t>
            </a:r>
            <a:endParaRPr lang="en-US" sz="1800" dirty="0">
              <a:latin typeface="+mj-lt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800" b="0" dirty="0">
                <a:solidFill>
                  <a:prstClr val="black"/>
                </a:solidFill>
              </a:rPr>
              <a:t>Assistant Professor,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800" b="0" dirty="0">
                <a:solidFill>
                  <a:prstClr val="black"/>
                </a:solidFill>
              </a:rPr>
              <a:t>Department of CSE,FSET,USTC</a:t>
            </a:r>
            <a:endParaRPr lang="en-IN" sz="1800" b="0" dirty="0"/>
          </a:p>
          <a:p>
            <a:pPr>
              <a:lnSpc>
                <a:spcPct val="150000"/>
              </a:lnSpc>
              <a:spcBef>
                <a:spcPts val="200"/>
              </a:spcBef>
            </a:pPr>
            <a:endParaRPr lang="en-IN" sz="1800" b="0" dirty="0"/>
          </a:p>
        </p:txBody>
      </p:sp>
      <p:sp>
        <p:nvSpPr>
          <p:cNvPr id="7" name="Subtitle 11"/>
          <p:cNvSpPr txBox="1">
            <a:spLocks/>
          </p:cNvSpPr>
          <p:nvPr/>
        </p:nvSpPr>
        <p:spPr>
          <a:xfrm>
            <a:off x="3514431" y="5114176"/>
            <a:ext cx="5163127" cy="131194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</a:t>
            </a:r>
          </a:p>
          <a:p>
            <a:pPr>
              <a:spcBef>
                <a:spcPts val="500"/>
              </a:spcBef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Science and Technology Chittagong (USTC)</a:t>
            </a:r>
          </a:p>
          <a:p>
            <a:pPr>
              <a:spcBef>
                <a:spcPts val="600"/>
              </a:spcBef>
            </a:pPr>
            <a:r>
              <a:rPr lang="en-US" sz="3200" b="0" dirty="0"/>
              <a:t>Foy’s Lake, </a:t>
            </a:r>
            <a:r>
              <a:rPr lang="en-US" sz="3200" b="0" dirty="0" err="1"/>
              <a:t>Khulshi</a:t>
            </a:r>
            <a:r>
              <a:rPr lang="en-US" sz="3200" b="0" dirty="0"/>
              <a:t>, </a:t>
            </a:r>
            <a:r>
              <a:rPr lang="en-US" sz="3200" b="0" dirty="0" err="1"/>
              <a:t>Chattogram</a:t>
            </a:r>
            <a:r>
              <a:rPr lang="en-US" sz="3200" b="0" dirty="0"/>
              <a:t> -4202</a:t>
            </a:r>
          </a:p>
          <a:p>
            <a:pPr>
              <a:spcBef>
                <a:spcPts val="300"/>
              </a:spcBef>
            </a:pPr>
            <a:r>
              <a:rPr lang="en-US" sz="3200" b="0" dirty="0"/>
              <a:t>Bangladesh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16</a:t>
            </a:r>
            <a:r>
              <a:rPr lang="en-US" sz="3200" baseline="30000" dirty="0">
                <a:solidFill>
                  <a:schemeClr val="accent1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August 2026</a:t>
            </a:r>
            <a:endParaRPr lang="en-US" sz="3200" b="0" dirty="0"/>
          </a:p>
          <a:p>
            <a:endParaRPr lang="en-IN" sz="3200" b="0" dirty="0"/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F2213882-6464-4A96-96D5-EA4F95F404DE}"/>
              </a:ext>
            </a:extLst>
          </p:cNvPr>
          <p:cNvSpPr/>
          <p:nvPr/>
        </p:nvSpPr>
        <p:spPr>
          <a:xfrm>
            <a:off x="122548" y="108284"/>
            <a:ext cx="11802359" cy="878305"/>
          </a:xfrm>
          <a:prstGeom prst="round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</a:t>
            </a:fld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12219-DD8A-ADF5-5FC7-33BEF232DE03}"/>
              </a:ext>
            </a:extLst>
          </p:cNvPr>
          <p:cNvSpPr txBox="1"/>
          <p:nvPr/>
        </p:nvSpPr>
        <p:spPr>
          <a:xfrm>
            <a:off x="179698" y="103840"/>
            <a:ext cx="115525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rPr lang="en-US" sz="3200" dirty="0"/>
              <a:t>Pediatric </a:t>
            </a:r>
            <a:r>
              <a:rPr lang="en-US" sz="3200" dirty="0" err="1"/>
              <a:t>vs</a:t>
            </a:r>
            <a:r>
              <a:rPr lang="en-US" sz="3200" dirty="0"/>
              <a:t> Adult Dengue Severity Prediction with Subgroup-Specific SHAP Explanations</a:t>
            </a:r>
          </a:p>
        </p:txBody>
      </p:sp>
    </p:spTree>
    <p:extLst>
      <p:ext uri="{BB962C8B-B14F-4D97-AF65-F5344CB8AC3E}">
        <p14:creationId xmlns:p14="http://schemas.microsoft.com/office/powerpoint/2010/main" val="108870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883"/>
            <a:ext cx="12046688" cy="1240391"/>
          </a:xfrm>
        </p:spPr>
        <p:txBody>
          <a:bodyPr/>
          <a:lstStyle/>
          <a:p>
            <a:r>
              <a:rPr lang="en-MY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MY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809750"/>
            <a:ext cx="9401175" cy="39433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1947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8900"/>
            <a:ext cx="10515600" cy="98742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25125" cy="1060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Dengue severity models are usually trained on pooled, all-age cohorts - masking how children and adults actually differ.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3</a:t>
            </a:fld>
            <a:endParaRPr lang="en-MY" dirty="0"/>
          </a:p>
        </p:txBody>
      </p:sp>
      <p:sp>
        <p:nvSpPr>
          <p:cNvPr id="6" name="TextBox 5"/>
          <p:cNvSpPr txBox="1"/>
          <p:nvPr/>
        </p:nvSpPr>
        <p:spPr>
          <a:xfrm>
            <a:off x="390526" y="3124200"/>
            <a:ext cx="2857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5565">
              <a:lnSpc>
                <a:spcPct val="150000"/>
              </a:lnSpc>
              <a:spcBef>
                <a:spcPts val="95"/>
              </a:spcBef>
            </a:pPr>
            <a:r>
              <a:rPr lang="en-US" b="1" spc="-25" dirty="0">
                <a:solidFill>
                  <a:srgbClr val="065B06"/>
                </a:solidFill>
                <a:cs typeface="Times New Roman"/>
              </a:rPr>
              <a:t>Why</a:t>
            </a:r>
            <a:endParaRPr lang="en-US" dirty="0"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45"/>
              </a:spcBef>
            </a:pPr>
            <a:r>
              <a:rPr lang="en-US" dirty="0"/>
              <a:t>Pediatric and adult dengue patients show different physiology - plasma leakage, comorbidities, hemorrhagic patterns.</a:t>
            </a:r>
            <a:endParaRPr lang="en-US" dirty="0"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05226" y="3124199"/>
            <a:ext cx="3667124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5565">
              <a:lnSpc>
                <a:spcPct val="150000"/>
              </a:lnSpc>
              <a:spcBef>
                <a:spcPts val="95"/>
              </a:spcBef>
            </a:pPr>
            <a:r>
              <a:rPr lang="en-US" b="1" spc="-25" dirty="0">
                <a:solidFill>
                  <a:srgbClr val="065B06"/>
                </a:solidFill>
                <a:cs typeface="Times New Roman"/>
              </a:rPr>
              <a:t>What is missing</a:t>
            </a:r>
            <a:endParaRPr lang="en-US" dirty="0"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45"/>
              </a:spcBef>
            </a:pPr>
            <a:r>
              <a:rPr lang="en-US" dirty="0"/>
              <a:t>Most ML studies use a single pooled model and a single global SHAP summary. No dengue study quantitatively compares SHAP feature attribution between pediatric and adult subgroups.</a:t>
            </a:r>
            <a:endParaRPr lang="en-US" dirty="0"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96224" y="3124199"/>
            <a:ext cx="271462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5565">
              <a:lnSpc>
                <a:spcPct val="150000"/>
              </a:lnSpc>
              <a:spcBef>
                <a:spcPts val="95"/>
              </a:spcBef>
            </a:pPr>
            <a:r>
              <a:rPr lang="en-US" b="1" spc="-25" dirty="0">
                <a:solidFill>
                  <a:srgbClr val="065B06"/>
                </a:solidFill>
                <a:cs typeface="Times New Roman"/>
              </a:rPr>
              <a:t>What we have done</a:t>
            </a:r>
            <a:endParaRPr lang="en-US" dirty="0"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45"/>
              </a:spcBef>
            </a:pPr>
            <a:r>
              <a:rPr lang="en-US" dirty="0"/>
              <a:t>Age-stratified models + subgroup SHAP + an early-stage risk-assessment dashboard.</a:t>
            </a:r>
            <a:endParaRPr lang="en-US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1185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4</a:t>
            </a:fld>
            <a:endParaRPr lang="en-MY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84D9DF-78DD-479B-843D-F80EF429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3150" y="4359275"/>
            <a:ext cx="6962775" cy="19748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90B"/>
                </a:solidFill>
                <a:cs typeface="Times New Roman"/>
              </a:rPr>
              <a:t>Why</a:t>
            </a:r>
            <a:r>
              <a:rPr lang="en-US" sz="1800" b="1" spc="-25" dirty="0">
                <a:solidFill>
                  <a:srgbClr val="0B790B"/>
                </a:solidFill>
                <a:cs typeface="Times New Roman"/>
              </a:rPr>
              <a:t> </a:t>
            </a:r>
            <a:r>
              <a:rPr lang="en-US" sz="1800" b="1" dirty="0">
                <a:solidFill>
                  <a:srgbClr val="0B790B"/>
                </a:solidFill>
                <a:cs typeface="Times New Roman"/>
              </a:rPr>
              <a:t>this</a:t>
            </a:r>
            <a:r>
              <a:rPr lang="en-US" sz="1800" b="1" spc="-25" dirty="0">
                <a:solidFill>
                  <a:srgbClr val="0B790B"/>
                </a:solidFill>
                <a:cs typeface="Times New Roman"/>
              </a:rPr>
              <a:t> </a:t>
            </a:r>
            <a:r>
              <a:rPr lang="en-US" sz="1800" b="1" spc="-10" dirty="0">
                <a:solidFill>
                  <a:srgbClr val="0B790B"/>
                </a:solidFill>
                <a:cs typeface="Times New Roman"/>
              </a:rPr>
              <a:t>matters ?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Dengue is a mosquito-borne viral infection (</a:t>
            </a:r>
            <a:r>
              <a:rPr lang="en-US" sz="1800" dirty="0" err="1"/>
              <a:t>Aedes</a:t>
            </a:r>
            <a:r>
              <a:rPr lang="en-US" sz="1800" dirty="0"/>
              <a:t> </a:t>
            </a:r>
            <a:r>
              <a:rPr lang="en-US" sz="1800" dirty="0" err="1"/>
              <a:t>aegypti</a:t>
            </a:r>
            <a:r>
              <a:rPr lang="en-US" sz="1800" dirty="0"/>
              <a:t>, </a:t>
            </a:r>
            <a:r>
              <a:rPr lang="en-US" sz="1800" dirty="0" err="1"/>
              <a:t>Aedes</a:t>
            </a:r>
            <a:r>
              <a:rPr lang="en-US" sz="1800" dirty="0"/>
              <a:t> </a:t>
            </a:r>
            <a:r>
              <a:rPr lang="en-US" sz="1800" dirty="0" err="1"/>
              <a:t>albopictus</a:t>
            </a:r>
            <a:r>
              <a:rPr lang="en-US" sz="1800" dirty="0"/>
              <a:t>) and a major public health burden across tropical and subtropical regions.</a:t>
            </a:r>
          </a:p>
          <a:p>
            <a:pPr marL="0" indent="0">
              <a:buNone/>
            </a:pPr>
            <a:r>
              <a:rPr lang="en-US" sz="1800" dirty="0"/>
              <a:t>Early identification of patients likely to progress to severe disease is critical for timely fluid management and supportive care.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B85A7-A3CA-4914-A18C-BB87DACFC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538" y="1338888"/>
            <a:ext cx="4879285" cy="289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6362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915525" cy="21939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800" b="1" dirty="0">
                <a:solidFill>
                  <a:srgbClr val="0B790B"/>
                </a:solidFill>
                <a:cs typeface="Times New Roman"/>
              </a:rPr>
              <a:t>Pooled-model assumption</a:t>
            </a:r>
            <a:r>
              <a:rPr lang="en-US" sz="1800" b="1" spc="-25" dirty="0">
                <a:solidFill>
                  <a:srgbClr val="0B790B"/>
                </a:solidFill>
                <a:cs typeface="Times New Roman"/>
              </a:rPr>
              <a:t> </a:t>
            </a:r>
            <a:r>
              <a:rPr lang="en-US" sz="1800" dirty="0"/>
              <a:t>: Most prior ML work treats age as just one input feature, not a stratification variable.</a:t>
            </a:r>
          </a:p>
          <a:p>
            <a:pPr marL="0" lvl="0" indent="0">
              <a:buNone/>
            </a:pPr>
            <a:r>
              <a:rPr lang="en-US" sz="1800" b="1" dirty="0">
                <a:solidFill>
                  <a:srgbClr val="0B790B"/>
                </a:solidFill>
                <a:cs typeface="Times New Roman"/>
              </a:rPr>
              <a:t>Clinical reality</a:t>
            </a:r>
            <a:r>
              <a:rPr lang="en-US" sz="1800" dirty="0"/>
              <a:t> : Children show higher rapid plasma leakage; adults show more comorbidities and hemorrhagic signs.</a:t>
            </a:r>
          </a:p>
          <a:p>
            <a:pPr marL="0" lvl="0" indent="0">
              <a:buNone/>
            </a:pPr>
            <a:r>
              <a:rPr lang="en-US" sz="1800" b="1" dirty="0">
                <a:solidFill>
                  <a:srgbClr val="0B790B"/>
                </a:solidFill>
                <a:cs typeface="Times New Roman"/>
              </a:rPr>
              <a:t>Our thesis position</a:t>
            </a:r>
            <a:r>
              <a:rPr lang="en-US" sz="1800" b="1" spc="-25" dirty="0">
                <a:solidFill>
                  <a:srgbClr val="0B790B"/>
                </a:solidFill>
                <a:cs typeface="Times New Roman"/>
              </a:rPr>
              <a:t> </a:t>
            </a:r>
            <a:r>
              <a:rPr lang="en-US" sz="1800" dirty="0"/>
              <a:t>: Compare pooled vs. age-stratified models and their SHAP explanations directly, then expose the result via a dashboard.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5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2941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6</a:t>
            </a:fld>
            <a:endParaRPr lang="en-MY" dirty="0"/>
          </a:p>
        </p:txBody>
      </p:sp>
      <p:sp>
        <p:nvSpPr>
          <p:cNvPr id="3" name="TextBox 2"/>
          <p:cNvSpPr txBox="1"/>
          <p:nvPr/>
        </p:nvSpPr>
        <p:spPr>
          <a:xfrm>
            <a:off x="7705724" y="2495550"/>
            <a:ext cx="3228975" cy="2351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5565">
              <a:spcBef>
                <a:spcPts val="95"/>
              </a:spcBef>
            </a:pPr>
            <a:r>
              <a:rPr lang="en-US" b="1" spc="-10" dirty="0">
                <a:solidFill>
                  <a:srgbClr val="065B06"/>
                </a:solidFill>
                <a:cs typeface="Times New Roman"/>
              </a:rPr>
              <a:t>Research</a:t>
            </a:r>
            <a:r>
              <a:rPr lang="en-US" b="1" spc="-40" dirty="0">
                <a:solidFill>
                  <a:srgbClr val="065B06"/>
                </a:solidFill>
                <a:cs typeface="Times New Roman"/>
              </a:rPr>
              <a:t> </a:t>
            </a:r>
            <a:r>
              <a:rPr lang="en-US" b="1" spc="-10" dirty="0">
                <a:solidFill>
                  <a:srgbClr val="065B06"/>
                </a:solidFill>
                <a:cs typeface="Times New Roman"/>
              </a:rPr>
              <a:t>question</a:t>
            </a:r>
            <a:endParaRPr lang="en-US" dirty="0">
              <a:cs typeface="Times New Roman"/>
            </a:endParaRPr>
          </a:p>
          <a:p>
            <a:pPr marL="75565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Do subgroup-trained models and their SHAP explanations differ meaningfully from an age-pooled baseline for dengue severity prediction -and can that difference be made usable through a dashboard?</a:t>
            </a:r>
            <a:endParaRPr lang="en-US" b="1" spc="-10" dirty="0">
              <a:solidFill>
                <a:srgbClr val="065B06"/>
              </a:solidFill>
              <a:cs typeface="Times New Roman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8EF85F-7A95-B601-66CF-B11C86C729C0}"/>
              </a:ext>
            </a:extLst>
          </p:cNvPr>
          <p:cNvGrpSpPr/>
          <p:nvPr/>
        </p:nvGrpSpPr>
        <p:grpSpPr>
          <a:xfrm>
            <a:off x="517725" y="1511616"/>
            <a:ext cx="6466546" cy="4190742"/>
            <a:chOff x="556296" y="2324086"/>
            <a:chExt cx="2555240" cy="1086192"/>
          </a:xfrm>
        </p:grpSpPr>
        <p:grpSp>
          <p:nvGrpSpPr>
            <p:cNvPr id="6" name="object 9"/>
            <p:cNvGrpSpPr/>
            <p:nvPr/>
          </p:nvGrpSpPr>
          <p:grpSpPr>
            <a:xfrm>
              <a:off x="556296" y="2324086"/>
              <a:ext cx="2555240" cy="228600"/>
              <a:chOff x="129576" y="1273194"/>
              <a:chExt cx="2555240" cy="228600"/>
            </a:xfrm>
          </p:grpSpPr>
          <p:sp>
            <p:nvSpPr>
              <p:cNvPr id="26" name="object 10"/>
              <p:cNvSpPr/>
              <p:nvPr/>
            </p:nvSpPr>
            <p:spPr>
              <a:xfrm>
                <a:off x="132116" y="1275734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89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0"/>
                    </a:lnTo>
                    <a:lnTo>
                      <a:pt x="2499196" y="223200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89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solidFill>
                <a:srgbClr val="F9F0F0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27" name="object 11"/>
              <p:cNvSpPr/>
              <p:nvPr/>
            </p:nvSpPr>
            <p:spPr>
              <a:xfrm>
                <a:off x="132116" y="1275734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89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0"/>
                    </a:lnTo>
                    <a:lnTo>
                      <a:pt x="2499196" y="223200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89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ln w="5060">
                <a:solidFill>
                  <a:srgbClr val="CD8080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  <p:grpSp>
          <p:nvGrpSpPr>
            <p:cNvPr id="7" name="object 13"/>
            <p:cNvGrpSpPr/>
            <p:nvPr/>
          </p:nvGrpSpPr>
          <p:grpSpPr>
            <a:xfrm>
              <a:off x="556296" y="2609950"/>
              <a:ext cx="2555240" cy="228600"/>
              <a:chOff x="129576" y="1559058"/>
              <a:chExt cx="2555240" cy="228600"/>
            </a:xfrm>
          </p:grpSpPr>
          <p:sp>
            <p:nvSpPr>
              <p:cNvPr id="24" name="object 14"/>
              <p:cNvSpPr/>
              <p:nvPr/>
            </p:nvSpPr>
            <p:spPr>
              <a:xfrm>
                <a:off x="132116" y="1561598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90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1"/>
                    </a:lnTo>
                    <a:lnTo>
                      <a:pt x="2499196" y="223201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90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solidFill>
                <a:srgbClr val="F9F0F0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25" name="object 15"/>
              <p:cNvSpPr/>
              <p:nvPr/>
            </p:nvSpPr>
            <p:spPr>
              <a:xfrm>
                <a:off x="132116" y="1561598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90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1"/>
                    </a:lnTo>
                    <a:lnTo>
                      <a:pt x="2499196" y="223201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90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ln w="5060">
                <a:solidFill>
                  <a:srgbClr val="CD8080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  <p:grpSp>
          <p:nvGrpSpPr>
            <p:cNvPr id="8" name="object 17"/>
            <p:cNvGrpSpPr/>
            <p:nvPr/>
          </p:nvGrpSpPr>
          <p:grpSpPr>
            <a:xfrm>
              <a:off x="556296" y="2895814"/>
              <a:ext cx="2555240" cy="228600"/>
              <a:chOff x="129576" y="1844922"/>
              <a:chExt cx="2555240" cy="228600"/>
            </a:xfrm>
          </p:grpSpPr>
          <p:sp>
            <p:nvSpPr>
              <p:cNvPr id="22" name="object 18"/>
              <p:cNvSpPr/>
              <p:nvPr/>
            </p:nvSpPr>
            <p:spPr>
              <a:xfrm>
                <a:off x="132116" y="1847462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90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1"/>
                    </a:lnTo>
                    <a:lnTo>
                      <a:pt x="2499196" y="223201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90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solidFill>
                <a:srgbClr val="F9F0F0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23" name="object 19"/>
              <p:cNvSpPr/>
              <p:nvPr/>
            </p:nvSpPr>
            <p:spPr>
              <a:xfrm>
                <a:off x="132116" y="1847462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90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1"/>
                    </a:lnTo>
                    <a:lnTo>
                      <a:pt x="2499196" y="223201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90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ln w="5060">
                <a:solidFill>
                  <a:srgbClr val="CD8080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  <p:grpSp>
          <p:nvGrpSpPr>
            <p:cNvPr id="9" name="object 21"/>
            <p:cNvGrpSpPr/>
            <p:nvPr/>
          </p:nvGrpSpPr>
          <p:grpSpPr>
            <a:xfrm>
              <a:off x="556296" y="3181678"/>
              <a:ext cx="2555240" cy="228600"/>
              <a:chOff x="129576" y="2130786"/>
              <a:chExt cx="2555240" cy="228600"/>
            </a:xfrm>
          </p:grpSpPr>
          <p:sp>
            <p:nvSpPr>
              <p:cNvPr id="20" name="object 22"/>
              <p:cNvSpPr/>
              <p:nvPr/>
            </p:nvSpPr>
            <p:spPr>
              <a:xfrm>
                <a:off x="132116" y="2133326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89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0"/>
                    </a:lnTo>
                    <a:lnTo>
                      <a:pt x="2499196" y="223200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89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solidFill>
                <a:srgbClr val="F9F0F0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21" name="object 23"/>
              <p:cNvSpPr/>
              <p:nvPr/>
            </p:nvSpPr>
            <p:spPr>
              <a:xfrm>
                <a:off x="132116" y="2133326"/>
                <a:ext cx="2550160" cy="223520"/>
              </a:xfrm>
              <a:custGeom>
                <a:avLst/>
                <a:gdLst/>
                <a:ahLst/>
                <a:cxnLst/>
                <a:rect l="l" t="t" r="r" b="b"/>
                <a:pathLst>
                  <a:path w="2550160" h="223519">
                    <a:moveTo>
                      <a:pt x="2499196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72589"/>
                    </a:lnTo>
                    <a:lnTo>
                      <a:pt x="3977" y="192290"/>
                    </a:lnTo>
                    <a:lnTo>
                      <a:pt x="14823" y="208377"/>
                    </a:lnTo>
                    <a:lnTo>
                      <a:pt x="30910" y="219223"/>
                    </a:lnTo>
                    <a:lnTo>
                      <a:pt x="50610" y="223200"/>
                    </a:lnTo>
                    <a:lnTo>
                      <a:pt x="2499196" y="223200"/>
                    </a:lnTo>
                    <a:lnTo>
                      <a:pt x="2518896" y="219223"/>
                    </a:lnTo>
                    <a:lnTo>
                      <a:pt x="2534983" y="208377"/>
                    </a:lnTo>
                    <a:lnTo>
                      <a:pt x="2545829" y="192290"/>
                    </a:lnTo>
                    <a:lnTo>
                      <a:pt x="2549807" y="172589"/>
                    </a:lnTo>
                    <a:lnTo>
                      <a:pt x="2549807" y="50610"/>
                    </a:lnTo>
                    <a:lnTo>
                      <a:pt x="2545829" y="30910"/>
                    </a:lnTo>
                    <a:lnTo>
                      <a:pt x="2534983" y="14823"/>
                    </a:lnTo>
                    <a:lnTo>
                      <a:pt x="2518896" y="3977"/>
                    </a:lnTo>
                    <a:lnTo>
                      <a:pt x="2499196" y="0"/>
                    </a:lnTo>
                    <a:close/>
                  </a:path>
                </a:pathLst>
              </a:custGeom>
              <a:ln w="5060">
                <a:solidFill>
                  <a:srgbClr val="CD8080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  <p:grpSp>
          <p:nvGrpSpPr>
            <p:cNvPr id="10" name="object 25"/>
            <p:cNvGrpSpPr/>
            <p:nvPr/>
          </p:nvGrpSpPr>
          <p:grpSpPr>
            <a:xfrm>
              <a:off x="1810959" y="2537959"/>
              <a:ext cx="45720" cy="626110"/>
              <a:chOff x="1384239" y="1487067"/>
              <a:chExt cx="45720" cy="626110"/>
            </a:xfrm>
          </p:grpSpPr>
          <p:sp>
            <p:nvSpPr>
              <p:cNvPr id="11" name="object 26"/>
              <p:cNvSpPr/>
              <p:nvPr/>
            </p:nvSpPr>
            <p:spPr>
              <a:xfrm>
                <a:off x="1407020" y="1492761"/>
                <a:ext cx="0" cy="8890"/>
              </a:xfrm>
              <a:custGeom>
                <a:avLst/>
                <a:gdLst/>
                <a:ahLst/>
                <a:cxnLst/>
                <a:rect l="l" t="t" r="r" b="b"/>
                <a:pathLst>
                  <a:path h="8890">
                    <a:moveTo>
                      <a:pt x="0" y="8705"/>
                    </a:moveTo>
                    <a:lnTo>
                      <a:pt x="0" y="0"/>
                    </a:lnTo>
                  </a:path>
                </a:pathLst>
              </a:custGeom>
              <a:ln w="11387">
                <a:solidFill>
                  <a:srgbClr val="B84A4A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2" name="object 27"/>
              <p:cNvSpPr/>
              <p:nvPr/>
            </p:nvSpPr>
            <p:spPr>
              <a:xfrm>
                <a:off x="1389932" y="1492761"/>
                <a:ext cx="3429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43180">
                    <a:moveTo>
                      <a:pt x="34174" y="0"/>
                    </a:moveTo>
                    <a:lnTo>
                      <a:pt x="0" y="0"/>
                    </a:lnTo>
                    <a:lnTo>
                      <a:pt x="5946" y="12049"/>
                    </a:lnTo>
                    <a:lnTo>
                      <a:pt x="11123" y="24862"/>
                    </a:lnTo>
                    <a:lnTo>
                      <a:pt x="15010" y="35952"/>
                    </a:lnTo>
                    <a:lnTo>
                      <a:pt x="17087" y="42831"/>
                    </a:lnTo>
                    <a:lnTo>
                      <a:pt x="19164" y="35952"/>
                    </a:lnTo>
                    <a:lnTo>
                      <a:pt x="23051" y="24862"/>
                    </a:lnTo>
                    <a:lnTo>
                      <a:pt x="28228" y="12049"/>
                    </a:lnTo>
                    <a:lnTo>
                      <a:pt x="34174" y="0"/>
                    </a:lnTo>
                    <a:close/>
                  </a:path>
                </a:pathLst>
              </a:custGeom>
              <a:solidFill>
                <a:srgbClr val="B84A4A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3" name="object 28"/>
              <p:cNvSpPr/>
              <p:nvPr/>
            </p:nvSpPr>
            <p:spPr>
              <a:xfrm>
                <a:off x="1389932" y="1492761"/>
                <a:ext cx="3429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43180">
                    <a:moveTo>
                      <a:pt x="17087" y="42831"/>
                    </a:moveTo>
                    <a:lnTo>
                      <a:pt x="19164" y="35952"/>
                    </a:lnTo>
                    <a:lnTo>
                      <a:pt x="23051" y="24862"/>
                    </a:lnTo>
                    <a:lnTo>
                      <a:pt x="28228" y="12049"/>
                    </a:lnTo>
                    <a:lnTo>
                      <a:pt x="34174" y="0"/>
                    </a:lnTo>
                    <a:lnTo>
                      <a:pt x="0" y="0"/>
                    </a:lnTo>
                    <a:lnTo>
                      <a:pt x="5946" y="12049"/>
                    </a:lnTo>
                    <a:lnTo>
                      <a:pt x="11123" y="24862"/>
                    </a:lnTo>
                    <a:lnTo>
                      <a:pt x="15010" y="35952"/>
                    </a:lnTo>
                    <a:lnTo>
                      <a:pt x="17087" y="42831"/>
                    </a:lnTo>
                    <a:close/>
                  </a:path>
                </a:pathLst>
              </a:custGeom>
              <a:ln w="11387">
                <a:solidFill>
                  <a:srgbClr val="B84A4A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4" name="object 29"/>
              <p:cNvSpPr/>
              <p:nvPr/>
            </p:nvSpPr>
            <p:spPr>
              <a:xfrm>
                <a:off x="1407020" y="1778625"/>
                <a:ext cx="0" cy="8890"/>
              </a:xfrm>
              <a:custGeom>
                <a:avLst/>
                <a:gdLst/>
                <a:ahLst/>
                <a:cxnLst/>
                <a:rect l="l" t="t" r="r" b="b"/>
                <a:pathLst>
                  <a:path h="8889">
                    <a:moveTo>
                      <a:pt x="0" y="8705"/>
                    </a:moveTo>
                    <a:lnTo>
                      <a:pt x="0" y="0"/>
                    </a:lnTo>
                  </a:path>
                </a:pathLst>
              </a:custGeom>
              <a:ln w="11387">
                <a:solidFill>
                  <a:srgbClr val="B84A4A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5" name="object 30"/>
              <p:cNvSpPr/>
              <p:nvPr/>
            </p:nvSpPr>
            <p:spPr>
              <a:xfrm>
                <a:off x="1389932" y="1778625"/>
                <a:ext cx="3429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43180">
                    <a:moveTo>
                      <a:pt x="34174" y="0"/>
                    </a:moveTo>
                    <a:lnTo>
                      <a:pt x="0" y="0"/>
                    </a:lnTo>
                    <a:lnTo>
                      <a:pt x="5946" y="12049"/>
                    </a:lnTo>
                    <a:lnTo>
                      <a:pt x="11123" y="24862"/>
                    </a:lnTo>
                    <a:lnTo>
                      <a:pt x="15010" y="35952"/>
                    </a:lnTo>
                    <a:lnTo>
                      <a:pt x="17087" y="42831"/>
                    </a:lnTo>
                    <a:lnTo>
                      <a:pt x="19164" y="35952"/>
                    </a:lnTo>
                    <a:lnTo>
                      <a:pt x="23051" y="24862"/>
                    </a:lnTo>
                    <a:lnTo>
                      <a:pt x="28228" y="12049"/>
                    </a:lnTo>
                    <a:lnTo>
                      <a:pt x="34174" y="0"/>
                    </a:lnTo>
                    <a:close/>
                  </a:path>
                </a:pathLst>
              </a:custGeom>
              <a:solidFill>
                <a:srgbClr val="B84A4A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6" name="object 31"/>
              <p:cNvSpPr/>
              <p:nvPr/>
            </p:nvSpPr>
            <p:spPr>
              <a:xfrm>
                <a:off x="1389932" y="1778625"/>
                <a:ext cx="3429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43180">
                    <a:moveTo>
                      <a:pt x="17087" y="42831"/>
                    </a:moveTo>
                    <a:lnTo>
                      <a:pt x="19164" y="35952"/>
                    </a:lnTo>
                    <a:lnTo>
                      <a:pt x="23051" y="24862"/>
                    </a:lnTo>
                    <a:lnTo>
                      <a:pt x="28228" y="12049"/>
                    </a:lnTo>
                    <a:lnTo>
                      <a:pt x="34174" y="0"/>
                    </a:lnTo>
                    <a:lnTo>
                      <a:pt x="0" y="0"/>
                    </a:lnTo>
                    <a:lnTo>
                      <a:pt x="5946" y="12049"/>
                    </a:lnTo>
                    <a:lnTo>
                      <a:pt x="11123" y="24862"/>
                    </a:lnTo>
                    <a:lnTo>
                      <a:pt x="15010" y="35952"/>
                    </a:lnTo>
                    <a:lnTo>
                      <a:pt x="17087" y="42831"/>
                    </a:lnTo>
                    <a:close/>
                  </a:path>
                </a:pathLst>
              </a:custGeom>
              <a:ln w="11387">
                <a:solidFill>
                  <a:srgbClr val="B84A4A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7" name="object 32"/>
              <p:cNvSpPr/>
              <p:nvPr/>
            </p:nvSpPr>
            <p:spPr>
              <a:xfrm>
                <a:off x="1407020" y="2064489"/>
                <a:ext cx="0" cy="8890"/>
              </a:xfrm>
              <a:custGeom>
                <a:avLst/>
                <a:gdLst/>
                <a:ahLst/>
                <a:cxnLst/>
                <a:rect l="l" t="t" r="r" b="b"/>
                <a:pathLst>
                  <a:path h="8889">
                    <a:moveTo>
                      <a:pt x="0" y="8705"/>
                    </a:moveTo>
                    <a:lnTo>
                      <a:pt x="0" y="0"/>
                    </a:lnTo>
                  </a:path>
                </a:pathLst>
              </a:custGeom>
              <a:ln w="11387">
                <a:solidFill>
                  <a:srgbClr val="B84A4A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8" name="object 33"/>
              <p:cNvSpPr/>
              <p:nvPr/>
            </p:nvSpPr>
            <p:spPr>
              <a:xfrm>
                <a:off x="1389932" y="2064489"/>
                <a:ext cx="3429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43180">
                    <a:moveTo>
                      <a:pt x="34174" y="0"/>
                    </a:moveTo>
                    <a:lnTo>
                      <a:pt x="0" y="0"/>
                    </a:lnTo>
                    <a:lnTo>
                      <a:pt x="5946" y="12049"/>
                    </a:lnTo>
                    <a:lnTo>
                      <a:pt x="11123" y="24862"/>
                    </a:lnTo>
                    <a:lnTo>
                      <a:pt x="15010" y="35952"/>
                    </a:lnTo>
                    <a:lnTo>
                      <a:pt x="17087" y="42831"/>
                    </a:lnTo>
                    <a:lnTo>
                      <a:pt x="19164" y="35952"/>
                    </a:lnTo>
                    <a:lnTo>
                      <a:pt x="23051" y="24862"/>
                    </a:lnTo>
                    <a:lnTo>
                      <a:pt x="28228" y="12049"/>
                    </a:lnTo>
                    <a:lnTo>
                      <a:pt x="34174" y="0"/>
                    </a:lnTo>
                    <a:close/>
                  </a:path>
                </a:pathLst>
              </a:custGeom>
              <a:solidFill>
                <a:srgbClr val="B84A4A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19" name="object 34"/>
              <p:cNvSpPr/>
              <p:nvPr/>
            </p:nvSpPr>
            <p:spPr>
              <a:xfrm>
                <a:off x="1389932" y="2064489"/>
                <a:ext cx="3429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43180">
                    <a:moveTo>
                      <a:pt x="17087" y="42831"/>
                    </a:moveTo>
                    <a:lnTo>
                      <a:pt x="19164" y="35952"/>
                    </a:lnTo>
                    <a:lnTo>
                      <a:pt x="23051" y="24862"/>
                    </a:lnTo>
                    <a:lnTo>
                      <a:pt x="28228" y="12049"/>
                    </a:lnTo>
                    <a:lnTo>
                      <a:pt x="34174" y="0"/>
                    </a:lnTo>
                    <a:lnTo>
                      <a:pt x="0" y="0"/>
                    </a:lnTo>
                    <a:lnTo>
                      <a:pt x="5946" y="12049"/>
                    </a:lnTo>
                    <a:lnTo>
                      <a:pt x="11123" y="24862"/>
                    </a:lnTo>
                    <a:lnTo>
                      <a:pt x="15010" y="35952"/>
                    </a:lnTo>
                    <a:lnTo>
                      <a:pt x="17087" y="42831"/>
                    </a:lnTo>
                    <a:close/>
                  </a:path>
                </a:pathLst>
              </a:custGeom>
              <a:ln w="11387">
                <a:solidFill>
                  <a:srgbClr val="B84A4A"/>
                </a:solidFill>
              </a:ln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</p:grpSp>
      <p:sp>
        <p:nvSpPr>
          <p:cNvPr id="28" name="Rectangle 27"/>
          <p:cNvSpPr/>
          <p:nvPr/>
        </p:nvSpPr>
        <p:spPr>
          <a:xfrm>
            <a:off x="746086" y="149730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dirty="0"/>
              <a:t>Age-pooled model training: Classifiers are typically trained on pooled pediatric + adult data, assuming one feature–severity relationship fits all 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08" y="259615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dirty="0"/>
              <a:t>Global feature attribution: SHAP explanations are computed for the whole pooled cohort, averaging out subgroup-level differences.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2998" y="369907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dirty="0"/>
              <a:t>Misalignment with clinical practice: Clinicians judge children and adults against age-specific norms; pooled models give one generic boundary.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553" y="480226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dirty="0"/>
              <a:t>Lack of explainable deployment: Trained models are rarely wired into a system that supports patient-level explanation or structured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2898487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7</a:t>
            </a:fld>
            <a:endParaRPr lang="en-MY" dirty="0"/>
          </a:p>
        </p:txBody>
      </p:sp>
      <p:sp>
        <p:nvSpPr>
          <p:cNvPr id="3" name="TextBox 2"/>
          <p:cNvSpPr txBox="1"/>
          <p:nvPr/>
        </p:nvSpPr>
        <p:spPr>
          <a:xfrm>
            <a:off x="962024" y="1685925"/>
            <a:ext cx="6810375" cy="219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5565">
              <a:lnSpc>
                <a:spcPct val="150000"/>
              </a:lnSpc>
              <a:spcBef>
                <a:spcPts val="95"/>
              </a:spcBef>
            </a:pPr>
            <a:r>
              <a:rPr lang="en-US" b="1" spc="-50" dirty="0">
                <a:solidFill>
                  <a:srgbClr val="065B06"/>
                </a:solidFill>
                <a:cs typeface="Times New Roman"/>
              </a:rPr>
              <a:t>1. </a:t>
            </a:r>
            <a:r>
              <a:rPr lang="en-US" spc="-50" dirty="0">
                <a:cs typeface="Times New Roman"/>
              </a:rPr>
              <a:t>Develop pediatric, adult, and pooled ML models for severe-dengue prediction using classifiers.</a:t>
            </a:r>
          </a:p>
          <a:p>
            <a:pPr marL="75565">
              <a:lnSpc>
                <a:spcPct val="150000"/>
              </a:lnSpc>
              <a:spcBef>
                <a:spcPts val="95"/>
              </a:spcBef>
            </a:pPr>
            <a:r>
              <a:rPr lang="en-US" b="1" spc="-50" dirty="0">
                <a:solidFill>
                  <a:srgbClr val="065B06"/>
                </a:solidFill>
                <a:cs typeface="Times New Roman"/>
              </a:rPr>
              <a:t>2. </a:t>
            </a:r>
            <a:r>
              <a:rPr lang="en-US" spc="-50" dirty="0">
                <a:cs typeface="Times New Roman"/>
              </a:rPr>
              <a:t>Generate subgroup-specific SHAP explanations, identify model-derived feature splits</a:t>
            </a:r>
          </a:p>
          <a:p>
            <a:pPr marL="75565">
              <a:lnSpc>
                <a:spcPct val="150000"/>
              </a:lnSpc>
              <a:spcBef>
                <a:spcPts val="95"/>
              </a:spcBef>
            </a:pPr>
            <a:r>
              <a:rPr lang="en-US" b="1" spc="-50" dirty="0">
                <a:solidFill>
                  <a:srgbClr val="065B06"/>
                </a:solidFill>
                <a:cs typeface="Times New Roman"/>
              </a:rPr>
              <a:t>3. </a:t>
            </a:r>
            <a:r>
              <a:rPr lang="en-US" spc="-50" dirty="0">
                <a:cs typeface="Times New Roman"/>
              </a:rPr>
              <a:t>An explainable web dashboard for longitudinal data collection.</a:t>
            </a:r>
            <a:endParaRPr lang="en-US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429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5100"/>
            <a:ext cx="10515600" cy="108267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Works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8</a:t>
            </a:fld>
            <a:endParaRPr lang="en-MY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503624"/>
              </p:ext>
            </p:extLst>
          </p:nvPr>
        </p:nvGraphicFramePr>
        <p:xfrm>
          <a:off x="180974" y="1447801"/>
          <a:ext cx="11858628" cy="496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Focus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Gaps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[1]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4455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Early-phase dengue 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Decision-tree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Diagnosis + outcome(early illness)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Diagnosis + outcome(early illness)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Age-aware but pre-SHAP; no subgroup specific explain-ability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[2]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4455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Pediatric severity using early 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Thailand, pediatric 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Logistic ML (misclassification cost ratio 1:10)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Dengue severity from early 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Pediatric only; no adult comparison subgroup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[3]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4455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Clinical pattern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Brazil, n=527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K-means+hierarchical</a:t>
                      </a:r>
                      <a:r>
                        <a:rPr lang="en-US" dirty="0"/>
                        <a:t>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Clinical phenotypes (not WHO severity)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 identified as top discriminator; no subgroup specific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45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101"/>
            <a:ext cx="10515600" cy="8636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Works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9</a:t>
            </a:fld>
            <a:endParaRPr lang="en-MY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479638"/>
              </p:ext>
            </p:extLst>
          </p:nvPr>
        </p:nvGraphicFramePr>
        <p:xfrm>
          <a:off x="180974" y="1447801"/>
          <a:ext cx="11858628" cy="496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Focus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Gaps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[12]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Demographics + lab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Taiwan, n=798 (138 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ANN, RF,GBM,SVM,LR+SHAP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Severe dengue (binary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 AUC ~ 0.83; pooled cohort, global SHAP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[14]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Stacking ensemble +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Mixed, 17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 ML models + Staking + SMOTE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Severe dengue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77% baseline / 83% post-SMOTE accuracy; global SHAP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[15]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Stacked ensemble + dual XAI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Bangladesh, n=1523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Stacked ensemble + SMOTEENN + SHAP/LIME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Dengue severity (multiclass)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96.38% accuracy; global explanation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945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193676"/>
            <a:ext cx="10515600" cy="84454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Works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10</a:t>
            </a:fld>
            <a:endParaRPr lang="en-MY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16752"/>
              </p:ext>
            </p:extLst>
          </p:nvPr>
        </p:nvGraphicFramePr>
        <p:xfrm>
          <a:off x="180974" y="1447801"/>
          <a:ext cx="11858628" cy="496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Focus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Methods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Outcome Definition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Gaps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[13]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SHAP-based factor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Vietnam+Bangladesh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XGBoost+SHAP</a:t>
                      </a:r>
                      <a:r>
                        <a:rPr lang="en-US" dirty="0"/>
                        <a:t> plots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severity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SHAP only; no age-conditioned 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Hematology driven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 dataset n=1450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LR,RF,SVM, </a:t>
                      </a:r>
                      <a:r>
                        <a:rPr lang="en-US" dirty="0" err="1"/>
                        <a:t>CGBoost</a:t>
                      </a:r>
                      <a:r>
                        <a:rPr lang="en-US" dirty="0"/>
                        <a:t> +SHAP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severity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macro-F1 = 0.59; global SHAP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0631">
                <a:tc>
                  <a:txBody>
                    <a:bodyPr/>
                    <a:lstStyle/>
                    <a:p>
                      <a:r>
                        <a:rPr lang="en-US" dirty="0"/>
                        <a:t>[28]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Optimized feature diagnosis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5725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Mixed, RFE selected features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5725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RF + RFE + SHAP +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LIME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5725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345"/>
                        </a:spcAft>
                        <a:tabLst>
                          <a:tab pos="905510" algn="r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Dengue 	diagnosis/severity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5725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RF 99.67% accuracy; global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a:t>XAI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78740" marR="78105" marT="857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600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/>
          <a:lstStyle/>
          <a:p>
            <a:r>
              <a:rPr lang="en-US" dirty="0"/>
              <a:t>                       </a:t>
            </a:r>
            <a:r>
              <a:rPr lang="en-US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11</a:t>
            </a:fld>
            <a:endParaRPr lang="en-MY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808" y="1419225"/>
            <a:ext cx="7984467" cy="4530543"/>
          </a:xfrm>
        </p:spPr>
      </p:pic>
      <p:sp>
        <p:nvSpPr>
          <p:cNvPr id="8" name="TextBox 7"/>
          <p:cNvSpPr txBox="1"/>
          <p:nvPr/>
        </p:nvSpPr>
        <p:spPr>
          <a:xfrm>
            <a:off x="4333875" y="5958959"/>
            <a:ext cx="2752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Figure: Workflow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7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184150"/>
            <a:ext cx="10515600" cy="96837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Methodology: Dataset &amp; Split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12</a:t>
            </a:fld>
            <a:endParaRPr lang="en-MY"/>
          </a:p>
        </p:txBody>
      </p:sp>
      <p:sp>
        <p:nvSpPr>
          <p:cNvPr id="4" name="Rectangle 3"/>
          <p:cNvSpPr/>
          <p:nvPr/>
        </p:nvSpPr>
        <p:spPr>
          <a:xfrm>
            <a:off x="652492" y="1810613"/>
            <a:ext cx="52434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en-US" dirty="0"/>
              <a:t>972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Total NS1-positive records (from 1,329 raw records)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dirty="0"/>
              <a:t>158 / 814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Pediatric (≤18y) / Adult (&gt;18y) split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dirty="0"/>
              <a:t>80:20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Stratified train/test split, </a:t>
            </a:r>
            <a:r>
              <a:rPr lang="en-US" dirty="0" err="1"/>
              <a:t>random_state</a:t>
            </a:r>
            <a:r>
              <a:rPr lang="en-US" dirty="0"/>
              <a:t> = 42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dirty="0"/>
              <a:t>9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Core clinical/demographic predictors (WBC, HCT, RBC, Lymph %, </a:t>
            </a:r>
            <a:r>
              <a:rPr lang="en-US" dirty="0" err="1"/>
              <a:t>Neut</a:t>
            </a:r>
            <a:r>
              <a:rPr lang="en-US" dirty="0"/>
              <a:t> %, AST, ALT, Age, Gender) plus engineered features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975" y="1711326"/>
            <a:ext cx="6018183" cy="336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8712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Result - Model Performance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13</a:t>
            </a:fld>
            <a:endParaRPr lang="en-MY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E3381A-EC5C-4789-82C0-F83BD1AE9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394387"/>
              </p:ext>
            </p:extLst>
          </p:nvPr>
        </p:nvGraphicFramePr>
        <p:xfrm>
          <a:off x="132521" y="1444485"/>
          <a:ext cx="11847444" cy="38298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4574">
                  <a:extLst>
                    <a:ext uri="{9D8B030D-6E8A-4147-A177-3AD203B41FA5}">
                      <a16:colId xmlns:a16="http://schemas.microsoft.com/office/drawing/2014/main" val="1950644823"/>
                    </a:ext>
                  </a:extLst>
                </a:gridCol>
                <a:gridCol w="1974574">
                  <a:extLst>
                    <a:ext uri="{9D8B030D-6E8A-4147-A177-3AD203B41FA5}">
                      <a16:colId xmlns:a16="http://schemas.microsoft.com/office/drawing/2014/main" val="3125938585"/>
                    </a:ext>
                  </a:extLst>
                </a:gridCol>
                <a:gridCol w="1974574">
                  <a:extLst>
                    <a:ext uri="{9D8B030D-6E8A-4147-A177-3AD203B41FA5}">
                      <a16:colId xmlns:a16="http://schemas.microsoft.com/office/drawing/2014/main" val="1886478577"/>
                    </a:ext>
                  </a:extLst>
                </a:gridCol>
                <a:gridCol w="1974574">
                  <a:extLst>
                    <a:ext uri="{9D8B030D-6E8A-4147-A177-3AD203B41FA5}">
                      <a16:colId xmlns:a16="http://schemas.microsoft.com/office/drawing/2014/main" val="1486604856"/>
                    </a:ext>
                  </a:extLst>
                </a:gridCol>
                <a:gridCol w="1974574">
                  <a:extLst>
                    <a:ext uri="{9D8B030D-6E8A-4147-A177-3AD203B41FA5}">
                      <a16:colId xmlns:a16="http://schemas.microsoft.com/office/drawing/2014/main" val="1733624880"/>
                    </a:ext>
                  </a:extLst>
                </a:gridCol>
                <a:gridCol w="1974574">
                  <a:extLst>
                    <a:ext uri="{9D8B030D-6E8A-4147-A177-3AD203B41FA5}">
                      <a16:colId xmlns:a16="http://schemas.microsoft.com/office/drawing/2014/main" val="202364231"/>
                    </a:ext>
                  </a:extLst>
                </a:gridCol>
              </a:tblGrid>
              <a:tr h="9972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Cohort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Best Model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Accuracy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AUC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MCC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1706013239"/>
                  </a:ext>
                </a:extLst>
              </a:tr>
              <a:tr h="94420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Pediatric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Stacking / Random Forest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90.6%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0.947 / 0.961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0.800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0.768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extLst>
                  <a:ext uri="{0D108BD9-81ED-4DB2-BD59-A6C34878D82A}">
                    <a16:rowId xmlns:a16="http://schemas.microsoft.com/office/drawing/2014/main" val="2832561809"/>
                  </a:ext>
                </a:extLst>
              </a:tr>
              <a:tr h="94420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Adult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Random Forest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84.7%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0.892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0.820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0.690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extLst>
                  <a:ext uri="{0D108BD9-81ED-4DB2-BD59-A6C34878D82A}">
                    <a16:rowId xmlns:a16="http://schemas.microsoft.com/office/drawing/2014/main" val="4027869932"/>
                  </a:ext>
                </a:extLst>
              </a:tr>
              <a:tr h="94420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Pooled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Random Forest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79.0%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0.860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0.739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0.566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4450" marB="44450"/>
                </a:tc>
                <a:extLst>
                  <a:ext uri="{0D108BD9-81ED-4DB2-BD59-A6C34878D82A}">
                    <a16:rowId xmlns:a16="http://schemas.microsoft.com/office/drawing/2014/main" val="42594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08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          Result - SHAP Feature Attribution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14</a:t>
            </a:fld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46D83-8E0D-4E3C-85F3-335F6FA2A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860" y="1618270"/>
            <a:ext cx="6506824" cy="447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93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    Result- Model-Derived SHAP Feature Splits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15</a:t>
            </a:fld>
            <a:endParaRPr lang="en-M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DFFA6-256A-4AB7-9521-0C414526943F}"/>
              </a:ext>
            </a:extLst>
          </p:cNvPr>
          <p:cNvSpPr txBox="1"/>
          <p:nvPr/>
        </p:nvSpPr>
        <p:spPr>
          <a:xfrm>
            <a:off x="1033670" y="1457740"/>
            <a:ext cx="9939130" cy="296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800"/>
              </a:spcBef>
              <a:spcAft>
                <a:spcPts val="200"/>
              </a:spcAft>
            </a:pPr>
            <a:r>
              <a:rPr lang="en-US" sz="1600" b="1" cap="all" dirty="0">
                <a:solidFill>
                  <a:srgbClr val="2E7D3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Two-column comparison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800"/>
              </a:spcBef>
              <a:spcAft>
                <a:spcPts val="200"/>
              </a:spcAft>
            </a:pPr>
            <a:r>
              <a:rPr lang="en-US" sz="1600" b="1" cap="all" dirty="0">
                <a:solidFill>
                  <a:srgbClr val="2E7D3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Pediatric splits (SHAP &gt; 0)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Lymphocyte % - split at &gt; 44.50%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Neutrophil % - split at ≤ 48.00%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WBC - split at ≤ 4.34 × 10³/µL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800"/>
              </a:spcBef>
              <a:spcAft>
                <a:spcPts val="200"/>
              </a:spcAft>
            </a:pPr>
            <a:r>
              <a:rPr lang="en-US" sz="1600" b="1" cap="all" dirty="0">
                <a:solidFill>
                  <a:srgbClr val="2E7D3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Adult splits (SHAP &gt; 0)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Lymphocyte % - split at &gt; 24.99%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HCT - split at &gt; 40.65%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Age - split at &gt; 31.00 years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              Result-Web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16</a:t>
            </a:fld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ABEAF-AB65-4B4D-8D85-915615BF54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83" y="1467346"/>
            <a:ext cx="4850295" cy="4775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40F98-D122-4C8D-8C91-A4D432E15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278" y="1467345"/>
            <a:ext cx="5953728" cy="47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7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              Result-Web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17</a:t>
            </a:fld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C2BB3-57C5-4720-BF0C-25EA2FB9D6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47" y="1474803"/>
            <a:ext cx="4406673" cy="4760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B01621-2C12-4B50-8DFD-39466A0E8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671" y="1696278"/>
            <a:ext cx="7248213" cy="306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77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Conclusion &amp;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18</a:t>
            </a:fld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6C046-1ABF-41A3-86BE-AB13D8429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Age-stratified models outperformed the pooled baseline (pediatric: 90.6% accuracy / AUC 0.947 Stacking; adult: 84.7% accuracy / AUC 0.892 Random Forest). SHAP rankings were highly correlated across age groups (τ-b = 0.900), yet model-derived feature-split thresholds differed meaningfully by age — confirming that pooled models can mask clinically relevant, age-specific decision behavior.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800" b="1" cap="all" dirty="0">
                <a:solidFill>
                  <a:srgbClr val="2E7D3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Future Work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External, prospective validation on independent, geographically distinct datasets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Larger pediatric cohort to strengthen subgroup robustness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WHO-adjudicated severity labels in place of the PLT-derived proxy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Dashboard-driven longitudinal data collection enabling future temporal/sequential modeling (e.g., RNNs)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874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19</a:t>
            </a:fld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65E0B-DE28-44A6-AE82-262E4134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[1] L. B. Tanner et al., ”Decision Tree Algorithms Predict the Diagnosis and Outcome of Dengue Fever in the Early Phase of Illness,” PLOS Neglected Tropical Diseases, 2008. </a:t>
            </a:r>
          </a:p>
          <a:p>
            <a:r>
              <a:rPr lang="en-US" sz="1800" dirty="0"/>
              <a:t>[2] J. A. Potts et al., ”Prediction of Dengue Disease Severity among Pediatric Thai Patients Using Early Clinical Laboratory Indicators,” PLOS Neglected Tropical Dis eases, vol. 4, no. 8, p. e769, 2010. </a:t>
            </a:r>
          </a:p>
          <a:p>
            <a:r>
              <a:rPr lang="en-US" sz="1800" dirty="0"/>
              <a:t>[3] S. Rajapakse et al., ”Clinical features of dengue in adults and children: A </a:t>
            </a:r>
            <a:r>
              <a:rPr lang="en-US" sz="1800" dirty="0" err="1"/>
              <a:t>compar</a:t>
            </a:r>
            <a:r>
              <a:rPr lang="en-US" sz="1800" dirty="0"/>
              <a:t> </a:t>
            </a:r>
            <a:r>
              <a:rPr lang="en-US" sz="1800" dirty="0" err="1"/>
              <a:t>ative</a:t>
            </a:r>
            <a:r>
              <a:rPr lang="en-US" sz="1800" dirty="0"/>
              <a:t> study,” Transactions of the Royal Society of Tropical Medicine and Hygiene, vol. 108, no. 1, pp. 24-29, 2014</a:t>
            </a:r>
          </a:p>
          <a:p>
            <a:r>
              <a:rPr lang="en-US" sz="1800" dirty="0"/>
              <a:t>[6] M. </a:t>
            </a:r>
            <a:r>
              <a:rPr lang="en-US" sz="1800" dirty="0" err="1"/>
              <a:t>Niazi</a:t>
            </a:r>
            <a:r>
              <a:rPr lang="en-US" sz="1800" dirty="0"/>
              <a:t> and S. </a:t>
            </a:r>
            <a:r>
              <a:rPr lang="en-US" sz="1800" dirty="0" err="1"/>
              <a:t>Momand</a:t>
            </a:r>
            <a:r>
              <a:rPr lang="en-US" sz="1800" dirty="0"/>
              <a:t>, ”Dengue Severity Level Prediction Using Hematology Driven Machine Learning Models,” Scientific Journal of Engineering, and Technol </a:t>
            </a:r>
            <a:r>
              <a:rPr lang="en-US" sz="1800" dirty="0" err="1"/>
              <a:t>ogy</a:t>
            </a:r>
            <a:r>
              <a:rPr lang="en-US" sz="1800" dirty="0"/>
              <a:t>, vol. 3, no. 1, 2026.</a:t>
            </a:r>
          </a:p>
          <a:p>
            <a:r>
              <a:rPr lang="en-US" sz="1800" dirty="0"/>
              <a:t>[12] S.-W. Huang et al., ”Assessing the risk of dengue severity using demographic </a:t>
            </a:r>
            <a:r>
              <a:rPr lang="en-US" sz="1800" dirty="0" err="1"/>
              <a:t>infor</a:t>
            </a:r>
            <a:r>
              <a:rPr lang="en-US" sz="1800" dirty="0"/>
              <a:t> </a:t>
            </a:r>
            <a:r>
              <a:rPr lang="en-US" sz="1800" dirty="0" err="1"/>
              <a:t>mation</a:t>
            </a:r>
            <a:r>
              <a:rPr lang="en-US" sz="1800" dirty="0"/>
              <a:t> and laboratory test results with machine learning,” PLOS Neglected Tropical Diseases, vol. 14, no. 12, p. e0008960, 2020. </a:t>
            </a:r>
          </a:p>
          <a:p>
            <a:r>
              <a:rPr lang="en-US" sz="1800" dirty="0"/>
              <a:t>[13] S. U. Chowdhury et al., ”Shapley-Additive-Explanations-Based Factor Analysis for Dengue Severity Prediction,” Journal of Imaging, vol. 8, no. 9, p. 229, 2022.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14258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20</a:t>
            </a:fld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65E0B-DE28-44A6-AE82-262E4134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[14] A. K. M. Masum et al., ”Enhancing Dengue Fever Diagnosis: A Machine Learning Framework with Stacking Ensemble and SHAP </a:t>
            </a:r>
            <a:r>
              <a:rPr lang="en-US" sz="18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Explainability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,” IEEE QPAIN, 2025. [15] I. A. </a:t>
            </a:r>
            <a:r>
              <a:rPr lang="en-US" sz="18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Tuhin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et al., ”An interpretable machine learning model for dengue detection with clinical hematological data,” Healthcare Analytics, 2025.</a:t>
            </a:r>
          </a:p>
          <a:p>
            <a:r>
              <a:rPr lang="en-US" sz="1800" dirty="0"/>
              <a:t>[15] I. A. </a:t>
            </a:r>
            <a:r>
              <a:rPr lang="en-US" sz="1800" dirty="0" err="1"/>
              <a:t>Tuhin</a:t>
            </a:r>
            <a:r>
              <a:rPr lang="en-US" sz="1800" dirty="0"/>
              <a:t> et al., ”An interpretable machine learning model for dengue detection with clinical hematological data,” Healthcare Analytics, 2025.</a:t>
            </a:r>
            <a:endParaRPr lang="en-US" sz="1800" kern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800" dirty="0"/>
              <a:t>[28] K. Das et al., ”Optimized Feature-Driven Dengue Diagnosis Using Explainable Ma chine Learning Approaches,” IEEE QPAIN,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41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2136</TotalTime>
  <Words>1488</Words>
  <Application>Microsoft Office PowerPoint</Application>
  <PresentationFormat>Widescreen</PresentationFormat>
  <Paragraphs>212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                                 Overview</vt:lpstr>
      <vt:lpstr>Background</vt:lpstr>
      <vt:lpstr>                               Introduction</vt:lpstr>
      <vt:lpstr> Introduction</vt:lpstr>
      <vt:lpstr>                                Problem Statement</vt:lpstr>
      <vt:lpstr>Objectives</vt:lpstr>
      <vt:lpstr> Related Works</vt:lpstr>
      <vt:lpstr> Related Works</vt:lpstr>
      <vt:lpstr> Related Works</vt:lpstr>
      <vt:lpstr>                       Proposed Methodology</vt:lpstr>
      <vt:lpstr>Methodology: Dataset &amp; Split</vt:lpstr>
      <vt:lpstr> Result - Model Performance Comparison</vt:lpstr>
      <vt:lpstr>                 Result - SHAP Feature Attribution</vt:lpstr>
      <vt:lpstr>           Result- Model-Derived SHAP Feature Splits </vt:lpstr>
      <vt:lpstr>                     Result-Web Application</vt:lpstr>
      <vt:lpstr>                     Result-Web Application</vt:lpstr>
      <vt:lpstr>                    Conclusion &amp; Future Work</vt:lpstr>
      <vt:lpstr>                                 References</vt:lpstr>
      <vt:lpstr>                                 References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Sarowar Morshed Shawon</dc:creator>
  <cp:lastModifiedBy>Mazharul alam</cp:lastModifiedBy>
  <cp:revision>117</cp:revision>
  <dcterms:created xsi:type="dcterms:W3CDTF">2022-05-25T09:47:59Z</dcterms:created>
  <dcterms:modified xsi:type="dcterms:W3CDTF">2026-08-15T11:00:25Z</dcterms:modified>
</cp:coreProperties>
</file>