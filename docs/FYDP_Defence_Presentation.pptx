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6"/>
    <p:sldId id="263" r:id="rId5"/>
    <p:sldId id="264" r:id="rId4"/>
    <p:sldId id="265" r:id="rId3"/>
    <p:sldId id="266" r:id="rId2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>
        <p:scale>
          <a:sx n="63" d="100"/>
          <a:sy n="63" d="100"/>
        </p:scale>
        <p:origin x="9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EED6E-231D-4599-9BF0-AD4755C5A42D}" type="datetimeFigureOut">
              <a:rPr lang="en-MY" smtClean="0"/>
              <a:t>11/8/2026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A7A50-3D51-42A1-BE0A-70CD8280A9E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6168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F48F-E7EE-441F-81D3-9996CC1DB580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58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88634-2032-4A45-8375-F9F55CAB3A55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4181" y="6456217"/>
            <a:ext cx="554183" cy="248083"/>
          </a:xfrm>
          <a:solidFill>
            <a:schemeClr val="accent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F1FAD3BF-C100-4A2D-9AA6-6A94C5A9EA2E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6637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7E2E-7E70-4792-9487-6E701984B8FE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9680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8147-6220-479A-9297-7F78F73ECD0F}" type="datetime1">
              <a:rPr lang="en-MY" smtClean="0"/>
              <a:t>11/8/2026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4446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F4DDD-3935-456B-8777-3112D28E934A}" type="datetime1">
              <a:rPr lang="en-MY" smtClean="0"/>
              <a:t>11/8/2026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542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2E57-8A11-4CD0-8C76-16A535F486D9}" type="datetime1">
              <a:rPr lang="en-MY" smtClean="0"/>
              <a:t>11/8/2026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0447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186EF-C83D-4ADB-86A8-1CDF471AA4B5}" type="datetime1">
              <a:rPr lang="en-MY" smtClean="0"/>
              <a:t>11/8/2026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0763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1E33B-06F4-4209-9247-C0158FE06D8C}" type="datetime1">
              <a:rPr lang="en-MY" smtClean="0"/>
              <a:t>11/8/2026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0240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4C00-B652-4D03-BE57-F6D4BFA206D8}" type="datetime1">
              <a:rPr lang="en-MY" smtClean="0"/>
              <a:t>11/8/2026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312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9975-83A4-479E-9019-BD77F6FC0740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5946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BEB4-7216-4523-A4C9-CE6851CDC80A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4182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75EC6-96D3-4277-B962-B7DD5EBF3368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45056" y="63119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598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9148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20116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31520"/>
            <a:ext cx="101800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DD8E6"/>
                </a:solidFill>
                <a:latin typeface="Calibri"/>
              </a:defRPr>
            </a:pPr>
            <a:r>
              <a:t>FINAL YEAR DESIGN PROJECT (FYDP) DEFENCE</a:t>
            </a:r>
          </a:p>
          <a:p>
            <a:pPr>
              <a:spcBef>
                <a:spcPts val="800"/>
              </a:spcBef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Pediatric vs Adult Dengue Severity Prediction with Subgroup-Specific SHAP Explanations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120640" cy="2468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99"/>
                </a:solidFill>
                <a:latin typeface="Calibri"/>
              </a:defRPr>
            </a:pPr>
            <a:r>
              <a:t>SUBMITTED BY</a:t>
            </a:r>
          </a:p>
          <a:p>
            <a:pPr>
              <a:spcBef>
                <a:spcPts val="600"/>
              </a:spcBef>
              <a:defRPr sz="1300" b="1">
                <a:solidFill>
                  <a:srgbClr val="222222"/>
                </a:solidFill>
                <a:latin typeface="Calibri"/>
              </a:defRPr>
            </a:pPr>
            <a:r>
              <a:t>• Md. Aftabul Islam</a:t>
            </a:r>
          </a:p>
          <a:p>
            <a:pPr>
              <a:defRPr sz="1100">
                <a:solidFill>
                  <a:srgbClr val="646464"/>
                </a:solidFill>
                <a:latin typeface="Calibri"/>
              </a:defRPr>
            </a:pPr>
            <a:r>
              <a:t>   ID: 22070103</a:t>
            </a:r>
          </a:p>
          <a:p>
            <a:pPr>
              <a:spcBef>
                <a:spcPts val="600"/>
              </a:spcBef>
              <a:defRPr sz="1300" b="1">
                <a:solidFill>
                  <a:srgbClr val="222222"/>
                </a:solidFill>
                <a:latin typeface="Calibri"/>
              </a:defRPr>
            </a:pPr>
            <a:r>
              <a:t>• Mohammad Mazharul Alam</a:t>
            </a:r>
          </a:p>
          <a:p>
            <a:pPr>
              <a:defRPr sz="1100">
                <a:solidFill>
                  <a:srgbClr val="646464"/>
                </a:solidFill>
                <a:latin typeface="Calibri"/>
              </a:defRPr>
            </a:pPr>
            <a:r>
              <a:t>   ID: 22070116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5242255" cy="2468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8803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99"/>
                </a:solidFill>
                <a:latin typeface="Calibri"/>
              </a:defRPr>
            </a:pPr>
            <a:r>
              <a:t>SUPERVISED BY</a:t>
            </a:r>
          </a:p>
          <a:p>
            <a:pPr>
              <a:spcBef>
                <a:spcPts val="600"/>
              </a:spcBef>
              <a:defRPr sz="1400" b="1">
                <a:solidFill>
                  <a:srgbClr val="222222"/>
                </a:solidFill>
                <a:latin typeface="Calibri"/>
              </a:defRPr>
            </a:pPr>
            <a:r>
              <a:t>Mohammad Arif Hasan Chowdhury</a:t>
            </a:r>
          </a:p>
          <a:p>
            <a:pPr>
              <a:spcBef>
                <a:spcPts val="300"/>
              </a:spcBef>
              <a:defRPr sz="1100">
                <a:solidFill>
                  <a:srgbClr val="646464"/>
                </a:solidFill>
                <a:latin typeface="Calibri"/>
              </a:defRPr>
            </a:pPr>
            <a:r>
              <a:t>Assistant Professor</a:t>
            </a:r>
            <a:br/>
            <a:r>
              <a:t>Department of Computer Science and Engineering (CSE)</a:t>
            </a:r>
            <a:br/>
            <a:r>
              <a:t>Faculty of Science, Engineering &amp; Technology (FSET)</a:t>
            </a:r>
            <a:br/>
            <a:r>
              <a:t>University of Science and Technology Chittagong (USTC)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Department of Computer Science &amp; Engineering (CSE)  |  University of Science and Technology Chittagong (USTC)</a:t>
            </a:r>
            <a:br/>
            <a:r>
              <a:t>Foy's Lake, Khulshi, Chattogram-4202, Bangladesh  •  July /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Presentation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01. Introduction &amp; Background</a:t>
            </a:r>
          </a:p>
          <a:p>
            <a:pPr>
              <a:spcBef>
                <a:spcPts val="4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Dengue clinical burden, pediatric vs adult physiological divergence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02. Problem Statement &amp; Gaps</a:t>
            </a:r>
          </a:p>
          <a:p>
            <a:pPr>
              <a:spcBef>
                <a:spcPts val="4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Age-pooled ML limits, global SHAP aggregation, missing longitudinal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29000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5448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03. Research Objectives &amp; Questions</a:t>
            </a:r>
          </a:p>
          <a:p>
            <a:pPr>
              <a:spcBef>
                <a:spcPts val="4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Four specific objectives (SO1-SO4) and research questions (RQ1-RQ4)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3429000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04. Literature Review &amp; Benchmark</a:t>
            </a:r>
          </a:p>
          <a:p>
            <a:pPr>
              <a:spcBef>
                <a:spcPts val="4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Review of state-of-the-art dengue ML models and age stratification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017520"/>
            <a:ext cx="3429000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15468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05. Methodology &amp; Architecture</a:t>
            </a:r>
          </a:p>
          <a:p>
            <a:pPr>
              <a:spcBef>
                <a:spcPts val="4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Analytical pipeline, NS1 cohorting, leakage prevention &amp; feature engineering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017520"/>
            <a:ext cx="3429000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315468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06. Model Evaluation &amp; Results</a:t>
            </a:r>
          </a:p>
          <a:p>
            <a:pPr>
              <a:spcBef>
                <a:spcPts val="4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Pooled, pediatric, and adult classifier performance (15 models benchmarked)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3429000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5488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07. Subgroup-Specific SHAP &amp; Splits</a:t>
            </a:r>
          </a:p>
          <a:p>
            <a:pPr>
              <a:spcBef>
                <a:spcPts val="4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SHAP TreeExplainer, Kendall's tau-b rank agreement, depth-1 tree splits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617720"/>
            <a:ext cx="3429000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75488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08. Explainable Dashboard Demo</a:t>
            </a:r>
          </a:p>
          <a:p>
            <a:pPr>
              <a:spcBef>
                <a:spcPts val="4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Interactive web application with snapshot routing, SHAP &amp; snapshot timeline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17720"/>
            <a:ext cx="3429000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754880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09. Discussion, Limits &amp; Future Scope</a:t>
            </a:r>
          </a:p>
          <a:p>
            <a:pPr>
              <a:spcBef>
                <a:spcPts val="400"/>
              </a:spcBef>
              <a:defRPr sz="1000">
                <a:solidFill>
                  <a:srgbClr val="646464"/>
                </a:solidFill>
                <a:latin typeface="Calibri"/>
              </a:defRPr>
            </a:pPr>
            <a:r>
              <a:t>Clinical interpretations, model caveats, prospective roadmap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BACKGROUND &amp; CONTEXT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Introduction &amp; Clinical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Dengue Infection Burden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  <a:latin typeface="Calibri"/>
              </a:rPr>
              <a:t>• Global Threat: </a:t>
            </a:r>
            <a:r>
              <a:rPr sz="1100">
                <a:solidFill>
                  <a:srgbClr val="222222"/>
                </a:solidFill>
                <a:latin typeface="Calibri"/>
              </a:rPr>
              <a:t>Transmitted by Aedes mosquitoes; poses severe epidemic threats in tropical regions like Bangladesh.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  <a:latin typeface="Calibri"/>
              </a:rPr>
              <a:t>• Clinical Progression: </a:t>
            </a:r>
            <a:r>
              <a:rPr sz="1100">
                <a:solidFill>
                  <a:srgbClr val="222222"/>
                </a:solidFill>
                <a:latin typeface="Calibri"/>
              </a:rPr>
              <a:t>Ranges from uncomplicated febrile illness to severe dengue (plasma leakage, hemorrhage, organ failure).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  <a:latin typeface="Calibri"/>
              </a:rPr>
              <a:t>• Early Triage Need: </a:t>
            </a:r>
            <a:r>
              <a:rPr sz="1100">
                <a:solidFill>
                  <a:srgbClr val="222222"/>
                </a:solidFill>
                <a:latin typeface="Calibri"/>
              </a:rPr>
              <a:t>Early prediction of critical-phase deterioration is vital for timely intravenous fluid management.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  <a:latin typeface="Calibri"/>
              </a:rPr>
              <a:t>• Current ML Approach: </a:t>
            </a:r>
            <a:r>
              <a:rPr sz="1100">
                <a:solidFill>
                  <a:srgbClr val="222222"/>
                </a:solidFill>
                <a:latin typeface="Calibri"/>
              </a:rPr>
              <a:t>Most supervised ML models pool children and adults into a single dataset, treating Age as just another continuous column.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The Pediatric vs. Adult Divergence</a:t>
            </a:r>
          </a:p>
          <a:p>
            <a:pPr>
              <a:spcBef>
                <a:spcPts val="1000"/>
              </a:spcBef>
              <a:defRPr b="1" sz="1200">
                <a:solidFill>
                  <a:srgbClr val="006699"/>
                </a:solidFill>
                <a:latin typeface="Calibri"/>
              </a:defRPr>
            </a:pPr>
            <a:r>
              <a:t>Pediatric Patients (≤ 18 years):</a:t>
            </a:r>
          </a:p>
          <a:p>
            <a:pPr>
              <a:spcBef>
                <a:spcPts val="3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   - Higher microvascular permeability &amp; baseline metabolic rate.</a:t>
            </a:r>
          </a:p>
          <a:p>
            <a:pPr>
              <a:spcBef>
                <a:spcPts val="3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   - Prone to rapid, profound plasma leakage &amp; Dengue Shock Syndrome (DSS).</a:t>
            </a:r>
          </a:p>
          <a:p>
            <a:pPr>
              <a:spcBef>
                <a:spcPts val="3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   - Distinct normal ranges for hematology (e.g. lymphocytes, baseline WBC).</a:t>
            </a:r>
          </a:p>
          <a:p>
            <a:pPr>
              <a:spcBef>
                <a:spcPts val="1000"/>
              </a:spcBef>
              <a:defRPr b="1" sz="1200">
                <a:solidFill>
                  <a:srgbClr val="006699"/>
                </a:solidFill>
                <a:latin typeface="Calibri"/>
              </a:defRPr>
            </a:pPr>
            <a:r>
              <a:t>Adult Patients (&gt; 18 years):</a:t>
            </a:r>
          </a:p>
          <a:p>
            <a:pPr>
              <a:spcBef>
                <a:spcPts val="3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   - Higher incidence of severe hemorrhagic manifestations and multi-organ impairment.</a:t>
            </a:r>
          </a:p>
          <a:p>
            <a:pPr>
              <a:spcBef>
                <a:spcPts val="3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   - Frequent confounding from chronic comorbidities (hypertension, diabetes).</a:t>
            </a:r>
          </a:p>
          <a:p>
            <a:pPr>
              <a:spcBef>
                <a:spcPts val="3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   - Different transaminase and hematocrit elevation dynamics.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Problem Statement &amp; Research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392B"/>
                </a:solidFill>
                <a:latin typeface="Times New Roman"/>
              </a:defRPr>
            </a:pPr>
            <a:r>
              <a:t>Key Problem Statements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1. Age-Pooled Model Bias: </a:t>
            </a:r>
            <a:r>
              <a:rPr sz="1050">
                <a:solidFill>
                  <a:srgbClr val="222222"/>
                </a:solidFill>
              </a:rPr>
              <a:t>Combining age cohorts assumes identical underlying mathematical relationships between clinical indicators and severity.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2. Global Feature Averaging: </a:t>
            </a:r>
            <a:r>
              <a:rPr sz="1050">
                <a:solidFill>
                  <a:srgbClr val="222222"/>
                </a:solidFill>
              </a:rPr>
              <a:t>Global SHAP explanations compute cohort-wide averages, obscuring age-specific biomarker dynamics.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3. Lack of Discrete Decision Splits: </a:t>
            </a:r>
            <a:r>
              <a:rPr sz="1050">
                <a:solidFill>
                  <a:srgbClr val="222222"/>
                </a:solidFill>
              </a:rPr>
              <a:t>Black-box SHAP values lack explicit, interpretable laboratory split thresholds for comparative inspection.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4. Disconnect from Clinical Tools: </a:t>
            </a:r>
            <a:r>
              <a:rPr sz="1050">
                <a:solidFill>
                  <a:srgbClr val="222222"/>
                </a:solidFill>
              </a:rPr>
              <a:t>Analytical ML models rarely translate into explainable tools supporting structured longitudinal data recording.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Research Questions (RQs)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6699"/>
                </a:solidFill>
              </a:rPr>
              <a:t>RQ1 (Predictive Performance): </a:t>
            </a:r>
            <a:r>
              <a:rPr sz="1050">
                <a:solidFill>
                  <a:srgbClr val="222222"/>
                </a:solidFill>
              </a:rPr>
              <a:t>How does the classification performance of age-stratified models compare to an age-pooled baseline across multiple ML architectures?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6699"/>
                </a:solidFill>
              </a:rPr>
              <a:t>RQ2 (Feature Attribution Divergence): </a:t>
            </a:r>
            <a:r>
              <a:rPr sz="1050">
                <a:solidFill>
                  <a:srgbClr val="222222"/>
                </a:solidFill>
              </a:rPr>
              <a:t>Do the primary clinical features driving severe dengue predictions differ between pediatric and adult subgroups?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6699"/>
                </a:solidFill>
              </a:rPr>
              <a:t>RQ3 (Model-Derived Decision Splits): </a:t>
            </a:r>
            <a:r>
              <a:rPr sz="1050">
                <a:solidFill>
                  <a:srgbClr val="222222"/>
                </a:solidFill>
              </a:rPr>
              <a:t>Can model-derived SHAP values identify distinct, age-specific feature thresholds associated with elevated severity risk?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6699"/>
                </a:solidFill>
              </a:rPr>
              <a:t>RQ4 (Interactive Explainable Translation): </a:t>
            </a:r>
            <a:r>
              <a:rPr sz="1050">
                <a:solidFill>
                  <a:srgbClr val="222222"/>
                </a:solidFill>
              </a:rPr>
              <a:t>How can trained age-specific models and SHAP explanations be integrated into a dashboard supporting structured snapshot data storage?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Objectives of the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DD8E6"/>
                </a:solidFill>
                <a:latin typeface="Calibri"/>
              </a:defRPr>
            </a:pPr>
            <a:r>
              <a:t>MAIN RESEARCH OBJECTIVE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Times New Roman"/>
              </a:defRPr>
            </a:pPr>
            <a:r>
              <a:t>To evaluate age-stratified machine learning models and subgroup-conditioned SHAP feature attributions for PLT-derived severe-dengue proxy prediction, programmatically extract age-specific decision splits, and integrate the framework into an explainable risk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5242255" cy="1691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87649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SO1: Model Development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Develop and tune supervised machine learning classifiers (Logistic Regression, Random Forest, XGBoost, LightGBM, and Stacking Ensemble) across pooled and age-stratified (pediatric vs. adult) cohorts.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51760"/>
            <a:ext cx="5242255" cy="1691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88920"/>
            <a:ext cx="487649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SO2: Comparative Evaluation &amp; SHAP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Perform rigorous comparative evaluation of classification performance and generate subgroup-conditioned SHAP feature attributions to quantify feature influence across cohorts.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26279"/>
            <a:ext cx="5242255" cy="1691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39"/>
            <a:ext cx="487649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SO3: Decision Split Extraction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Programmatically extract and compare age-specific clinical feature decision splits associated with positive severity risk using depth-1 decision trees and Kendall's tau-b rank correlation.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526279"/>
            <a:ext cx="5242255" cy="1691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39"/>
            <a:ext cx="487649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SO4: Explainable Dashboard Implementation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Design and deploy an early-stage explainable risk-assessment dashboard that integrates age-specific model routing, patient-level SHAP explanations, and structured longitudinal snapshot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Literature Review &amp; Research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2560320"/>
                <a:gridCol w="2194560"/>
                <a:gridCol w="2316175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Cohort / Dataset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Methods / Models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 Definition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Limitation / Gap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Tanner et al. (2008)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Singapore (Pediatric)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Decision Trees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Early phase outcome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Pre-SHAP; no adult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Potts et al. (2010)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Thailand (Pediatric)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Logistic ML (cost ratio)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Early lab severity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Pediatric-only; no adult comparison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Chowdhury et al.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Vietnam &amp; Bangladesh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XGBoost + SHAP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WHO severity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Pooled cohort; global SHAP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Huang et al. (2020)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Taiwan (n=798)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ANN, RF, GBM + SHAP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Severe dengue (binary)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Pooled cohort; no subgroup XAI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Masum / Tuhin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Bangladesh (n=1523)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Stacking + SHAP/LIME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Dengue 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Age used as standard feature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Niazi &amp; Momand (2026)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Public Hematology (n=1450)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LR, RF, SVM, XGB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PLT proxy severity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Global evaluation; no age stratification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Calibri"/>
              </a:defRPr>
            </a:pPr>
            <a:r>
              <a:t>KEY IDENTIFIED RESEARCH GAP:</a:t>
            </a:r>
          </a:p>
          <a:p>
            <a:pPr>
              <a:spcBef>
                <a:spcPts val="3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Prior works either train exclusively on a single cohort or pool all ages into one dataset, masking age-specific feature attributions and diagnostic thresholds. Furthermore, none translate age-stratified XAI into an interactive application capable of structured longitudinal snapshot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Proposed Methodology &amp;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7</a:t>
            </a:r>
          </a:p>
        </p:txBody>
      </p:sp>
      <p:pic>
        <p:nvPicPr>
          <p:cNvPr id="5" name="Picture 4" descr="methodology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925256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31920" y="1371600"/>
            <a:ext cx="7528255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554480"/>
            <a:ext cx="7132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Two-Layer Integrated Framework</a:t>
            </a:r>
          </a:p>
          <a:p>
            <a:pPr>
              <a:spcBef>
                <a:spcPts val="800"/>
              </a:spcBef>
              <a:defRPr b="1" sz="1200">
                <a:solidFill>
                  <a:srgbClr val="006699"/>
                </a:solidFill>
                <a:latin typeface="Calibri"/>
              </a:defRPr>
            </a:pPr>
            <a:r>
              <a:t>Layer 1: Analytical Machine Learning &amp; XAI Pipeline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 • Data Ingestion &amp; Filtering: Retrospective dataset (n=1,329) filtered for laboratory-confirmed Dengue NS1 positivity (n=972).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 • Cohort Stratification: Separated into Pediatric (≤ 18 yrs, n=158) and Adult (&gt; 18 yrs, n=814) plus Pooled baseline.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 • Target Leakage Elimination: Platelet count (PLT) strictly isolated for proxy target construction (&lt; 50,000/μL); excluded from predictors.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 • Stratified Training: 5 classifiers per cohort using stratified 80/20 train-test splitting with class weighting.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 • Subgroup XAI &amp; Split Mining: XGBoost TreeExplainer SHAP attribution + depth-1 decision trees for positive SHAP split extraction.</a:t>
            </a:r>
          </a:p>
          <a:p>
            <a:pPr>
              <a:spcBef>
                <a:spcPts val="800"/>
              </a:spcBef>
              <a:defRPr b="1" sz="1200">
                <a:solidFill>
                  <a:srgbClr val="006699"/>
                </a:solidFill>
                <a:latin typeface="Calibri"/>
              </a:defRPr>
            </a:pPr>
            <a:r>
              <a:t>Layer 2: Early-Stage Explainable Dashboard Application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 • Full-Stack Integration: React/Vite frontend + Python FastAPI inference engine + PostgreSQL relational/JSONB store.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 • Dynamic Age-Based Routing: Automated evaluation using cohort-specific trained models and patient-level SHAP explanation.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 • Structured Snapshot Tracking: Independent storage of repeated patient visits (Day 1, Day 2, etc.) for longitudinal research.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Dataset &amp; Clinically Grounded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Dataset &amp; Cohort Formulation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222222"/>
                </a:solidFill>
              </a:rPr>
              <a:t>• Source: </a:t>
            </a:r>
            <a:r>
              <a:rPr sz="1000">
                <a:solidFill>
                  <a:srgbClr val="222222"/>
                </a:solidFill>
              </a:rPr>
              <a:t>Mendeley Comprehensive Dengue Hematology Dataset (Bangladesh, 2026).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222222"/>
                </a:solidFill>
              </a:rPr>
              <a:t>• NS1 Filtering: </a:t>
            </a:r>
            <a:r>
              <a:rPr sz="1000">
                <a:solidFill>
                  <a:srgbClr val="222222"/>
                </a:solidFill>
              </a:rPr>
              <a:t>Filtered to 972 laboratory-confirmed NS1-positive cases (eliminating negative/missing cases).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222222"/>
                </a:solidFill>
              </a:rPr>
              <a:t>• Subgroups: </a:t>
            </a:r>
            <a:r>
              <a:rPr sz="1000">
                <a:solidFill>
                  <a:srgbClr val="222222"/>
                </a:solidFill>
              </a:rPr>
              <a:t>Pediatric (≤ 18 yrs: n=158, 16.3%) | Adult (&gt; 18 yrs: n=814, 83.7%).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222222"/>
                </a:solidFill>
              </a:rPr>
              <a:t>• Target Variable: </a:t>
            </a:r>
            <a:r>
              <a:rPr sz="1000">
                <a:solidFill>
                  <a:srgbClr val="222222"/>
                </a:solidFill>
              </a:rPr>
              <a:t>Binary Severe Proxy (PLT &lt; 50,000/μL) following Niazi &amp; Momand (2026).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222222"/>
                </a:solidFill>
              </a:rPr>
              <a:t>• Leakage Prevention: </a:t>
            </a:r>
            <a:r>
              <a:rPr sz="1000">
                <a:solidFill>
                  <a:srgbClr val="222222"/>
                </a:solidFill>
              </a:rPr>
              <a:t>PLT, PLT critical flags, and PLT/WBC ratios completely removed from predictor space to avoid artificial target inflation.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Clinically Engineered Features (WHO 2009 Grounded)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06699"/>
                </a:solidFill>
              </a:rPr>
              <a:t>• Leukopenia Flag (WBC &lt; 4.0 × 10³/μL): </a:t>
            </a:r>
            <a:r>
              <a:rPr sz="1000">
                <a:solidFill>
                  <a:srgbClr val="222222"/>
                </a:solidFill>
              </a:rPr>
              <a:t>Bone marrow suppression during early febrile phase; standard WHO 2009 diagnostic criterion.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06699"/>
                </a:solidFill>
              </a:rPr>
              <a:t>• Lymphopenia (&lt; 20%) &amp; Neutrophilia (&gt; 70%): </a:t>
            </a:r>
            <a:r>
              <a:rPr sz="1000">
                <a:solidFill>
                  <a:srgbClr val="222222"/>
                </a:solidFill>
              </a:rPr>
              <a:t>Captures the phase-dependent inflammatory leukocyte shift (Yap et al., 2011).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06699"/>
                </a:solidFill>
              </a:rPr>
              <a:t>• AST / ALT Ratio: </a:t>
            </a:r>
            <a:r>
              <a:rPr sz="1000">
                <a:solidFill>
                  <a:srgbClr val="222222"/>
                </a:solidFill>
              </a:rPr>
              <a:t>Encodes preferential AST elevation (AST &gt; ALT) characteristic of dengue-induced hepatic injury (Souza et al., 2004).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06699"/>
                </a:solidFill>
              </a:rPr>
              <a:t>• Transaminase Flag (AST or ALT &gt; 40 U/L): </a:t>
            </a:r>
            <a:r>
              <a:rPr sz="1000">
                <a:solidFill>
                  <a:srgbClr val="222222"/>
                </a:solidFill>
              </a:rPr>
              <a:t>Upper Limit of Normal (ULN) proxy indicating hepatic cellular damage and severe progression risk.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06699"/>
                </a:solidFill>
              </a:rPr>
              <a:t>• Age Decade &amp; Gender × Age Interaction: </a:t>
            </a:r>
            <a:r>
              <a:rPr sz="1000">
                <a:solidFill>
                  <a:srgbClr val="222222"/>
                </a:solidFill>
              </a:rPr>
              <a:t>Captures non-linear age-severity curves and demographic exposure variations.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Exploratory Data Analysis: Cohort Distributions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9</a:t>
            </a:r>
          </a:p>
        </p:txBody>
      </p:sp>
      <p:pic>
        <p:nvPicPr>
          <p:cNvPr id="5" name="Picture 4" descr="pediatric_vs_adult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602175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Key EDA Observations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• Lymphocyte % Disparity: </a:t>
            </a:r>
            <a:r>
              <a:rPr sz="1050">
                <a:solidFill>
                  <a:srgbClr val="222222"/>
                </a:solidFill>
              </a:rPr>
              <a:t>Pediatric cases exhibit significantly higher baseline median lymphocyte percentages compared to adults, reflecting differing baseline immune dynamics.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• WBC Distribution: </a:t>
            </a:r>
            <a:r>
              <a:rPr sz="1050">
                <a:solidFill>
                  <a:srgbClr val="222222"/>
                </a:solidFill>
              </a:rPr>
              <a:t>Both cohorts show high prevalence of leukopenia, but pediatric WBC distributions exhibit wider variance.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• Hematocrit &amp; Plasma Leakage: </a:t>
            </a:r>
            <a:r>
              <a:rPr sz="1050">
                <a:solidFill>
                  <a:srgbClr val="222222"/>
                </a:solidFill>
              </a:rPr>
              <a:t>Adults show elevated median hematocrit (HCT) values, while children demonstrate sharper hemoconcentration spikes during critical phases.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• Liver Transaminases: </a:t>
            </a:r>
            <a:r>
              <a:rPr sz="1050">
                <a:solidFill>
                  <a:srgbClr val="222222"/>
                </a:solidFill>
              </a:rPr>
              <a:t>AST levels consistently exceed ALT across both age groups, confirming hepatic involvement in both subgroups.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• Analytical Implication: </a:t>
            </a:r>
            <a:r>
              <a:rPr sz="1050">
                <a:solidFill>
                  <a:srgbClr val="222222"/>
                </a:solidFill>
              </a:rPr>
              <a:t>Distinct baseline distributions strongly support the necessity of evaluating age-stratified modeling over global pooling.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Machine Learning Framework &amp; 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42255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76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Classification Algorithms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Logistic Regression (LR): Linear baseline with class weighting.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Random Forest (RF): Bagging ensemble with 100 trees &amp; balanced class weights.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XGBoost (XGB): Gradient-boosted trees optimized with scale_pos_weight.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LightGBM (LGBM): Leaf-wise gradient boosting with balanced weights.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Stacking Classifier: Meta-ensemble combining all 4 base models with LR meta-learner.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42255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76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Evaluation Protocol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Dataset Split: Stratified 80/20 train-test partition per cohort.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Reproducibility: Random Seed = 42 fixed across all pipelines.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Subgroups Evaluated: Pooled (n=972), Pediatric (n=158), Adult (n=814).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Single-Split Validation: Explicitly acknowledged limitation due to pediatric sample size.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42255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876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Class Imbalance Handling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Target Severe Proportions: ~40% severe in dataset.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Balanced Class Weights: Applied across LR, RF, and LightGBM.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Scale Pos Weight: Applied to XGBoost (negative/positive ratio).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Prevents majority class dominance without synthetic artifact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86200"/>
            <a:ext cx="5242255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876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Comprehensive Metrics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Accuracy &amp; AUC-ROC: Overall discrimination &amp; ranking capability.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Sensitivity (Recall): Ability to detect high-risk severe cases.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Specificity: Minimizing false-positive severe triage.</a:t>
            </a:r>
          </a:p>
          <a:p>
            <a:pPr>
              <a:spcBef>
                <a:spcPts val="4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• F1-Score &amp; MCC: Harmonic mean &amp; Matthews Correlation Coefficient.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Results: Full Classification Performance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280160"/>
                <a:gridCol w="1280160"/>
                <a:gridCol w="1280160"/>
                <a:gridCol w="1280160"/>
                <a:gridCol w="1280160"/>
                <a:gridCol w="1493215"/>
              </a:tblGrid>
              <a:tr h="245745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Cohort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Pooled (n=972)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Pooled (n=972)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0.790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0.860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0.699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0.857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0.739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0.566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Pooled (n=972)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Pooled (n=972)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0.769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0.828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0.699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0.525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Pooled (n=972)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Stacking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Pediatric (n=158)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0.681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0.556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0.526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0.328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Pediatric (n=158)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0.906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0.961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0.667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0.800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0.768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Pediatric (n=158)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0.844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0.899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0.870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0.737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0.628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Pediatric (n=158)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Pediatric (n=158)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Stacking Ensemble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0.906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0.947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0.667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0.800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0.768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Adult (n=814)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Adult (n=814)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0.847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0.892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0.781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0.820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0.690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Adult (n=814)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Adult (n=814)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0.791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0.853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0.753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0.764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0.577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Adult (n=814)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Stacking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94960"/>
            <a:ext cx="10728655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365D"/>
                </a:solidFill>
                <a:latin typeface="Calibri"/>
              </a:defRPr>
            </a:pPr>
            <a:r>
              <a:t>Key Takeaway: Stacking &amp; Random Forest achieve 90.6% Accuracy &amp; 0.961 AUC in Pediatric cases (100% Specificity), and Random Forest achieves 84.7% Accuracy &amp; 0.892 AUC in Adults. Subgroup models adapt effectively to age-specific feature profiles.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Explainable AI: Subgroup-Conditioned SHAP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12</a:t>
            </a:r>
          </a:p>
        </p:txBody>
      </p:sp>
      <p:pic>
        <p:nvPicPr>
          <p:cNvPr id="5" name="Picture 4" descr="shap_summa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71600"/>
            <a:ext cx="4602175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SHAP Attribution &amp; Rank Agreement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22222"/>
                </a:solidFill>
              </a:rPr>
              <a:t>• Kendall's tau-b Correlation = 0.900: </a:t>
            </a:r>
            <a:r>
              <a:rPr sz="1000">
                <a:solidFill>
                  <a:srgbClr val="222222"/>
                </a:solidFill>
              </a:rPr>
              <a:t>High relative rank agreement between pediatric and adult SHAP rankings, showing shared fundamental clinical priorities rather than biological divergence.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22222"/>
                </a:solidFill>
              </a:rPr>
              <a:t>• Top Ranked Clinical Features: </a:t>
            </a:r>
            <a:r>
              <a:rPr sz="1000">
                <a:solidFill>
                  <a:srgbClr val="222222"/>
                </a:solidFill>
              </a:rPr>
              <a:t>Lymphocyte %, WBC count, AST, and Neutrophil % consistently dominate predictive importance across all cohorts.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22222"/>
                </a:solidFill>
              </a:rPr>
              <a:t>• Magnitude &amp; Spread Differences: </a:t>
            </a:r>
            <a:r>
              <a:rPr sz="1000">
                <a:solidFill>
                  <a:srgbClr val="222222"/>
                </a:solidFill>
              </a:rPr>
              <a:t>While relative ranks align, the absolute SHAP contribution magnitude and distribution densities vary markedly across age groups.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22222"/>
                </a:solidFill>
              </a:rPr>
              <a:t>• Subgroup-Conditioned Clarity: </a:t>
            </a:r>
            <a:r>
              <a:rPr sz="1000">
                <a:solidFill>
                  <a:srgbClr val="222222"/>
                </a:solidFill>
              </a:rPr>
              <a:t>Stratified SHAP reveals subtle feature influences (e.g., transaminase spikes and hematocrit shifts) that are blurred in pooled summaries.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Model-Derived SHAP Decision Splits (Depth-1 Trees)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926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Pediatric Decision Splits (SHAP &gt; 0)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6699"/>
                </a:solidFill>
              </a:rPr>
              <a:t>• Lymphocyte %:  &gt; 44.50%  </a:t>
            </a:r>
            <a:r>
              <a:rPr sz="950">
                <a:solidFill>
                  <a:srgbClr val="222222"/>
                </a:solidFill>
              </a:rPr>
              <a:t>(Markedly higher threshold than adults; prominent atypical reactive lymphocytosis.)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6699"/>
                </a:solidFill>
              </a:rPr>
              <a:t>• Neutrophil %:  ≤ 48.00%  </a:t>
            </a:r>
            <a:r>
              <a:rPr sz="950">
                <a:solidFill>
                  <a:srgbClr val="222222"/>
                </a:solidFill>
              </a:rPr>
              <a:t>(Early relative neutropenia corresponding with severe illness state.)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6699"/>
                </a:solidFill>
              </a:rPr>
              <a:t>• WBC Count:  ≤ 4.34 × 10³/μL  </a:t>
            </a:r>
            <a:r>
              <a:rPr sz="950">
                <a:solidFill>
                  <a:srgbClr val="222222"/>
                </a:solidFill>
              </a:rPr>
              <a:t>(Clear bone marrow suppression / leukopenic cutoff in children.)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2926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Adult Decision Splits (SHAP &gt; 0)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6699"/>
                </a:solidFill>
              </a:rPr>
              <a:t>• Lymphocyte %:  &gt; 24.99%  </a:t>
            </a:r>
            <a:r>
              <a:rPr sz="950">
                <a:solidFill>
                  <a:srgbClr val="222222"/>
                </a:solidFill>
              </a:rPr>
              <a:t>(Lower threshold sufficient to elevate predicted severity risk in adults.)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6699"/>
                </a:solidFill>
              </a:rPr>
              <a:t>• Hematocrit (HCT):  &gt; 40.65%  </a:t>
            </a:r>
            <a:r>
              <a:rPr sz="950">
                <a:solidFill>
                  <a:srgbClr val="222222"/>
                </a:solidFill>
              </a:rPr>
              <a:t>(Hemoconcentration threshold reflecting active plasma leakage.)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6699"/>
                </a:solidFill>
              </a:rPr>
              <a:t>• Age:  &gt; 31.00 years  </a:t>
            </a:r>
            <a:r>
              <a:rPr sz="950">
                <a:solidFill>
                  <a:srgbClr val="222222"/>
                </a:solidFill>
              </a:rPr>
              <a:t>(Older adults exhibit elevated risk contribution due to comorbidity factors.)</a:t>
            </a:r>
          </a:p>
        </p:txBody>
      </p:sp>
      <p:pic>
        <p:nvPicPr>
          <p:cNvPr id="9" name="Picture 8" descr="shap_dependence_WBC_Pedia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34840"/>
            <a:ext cx="2514600" cy="1910790"/>
          </a:xfrm>
          <a:prstGeom prst="rect">
            <a:avLst/>
          </a:prstGeom>
        </p:spPr>
      </p:pic>
      <p:pic>
        <p:nvPicPr>
          <p:cNvPr id="10" name="Picture 9" descr="shap_dependence_WBC_Ad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434840"/>
            <a:ext cx="2514600" cy="1902118"/>
          </a:xfrm>
          <a:prstGeom prst="rect">
            <a:avLst/>
          </a:prstGeom>
        </p:spPr>
      </p:pic>
      <p:pic>
        <p:nvPicPr>
          <p:cNvPr id="11" name="Picture 10" descr="shap_dependence_AST_Pediatr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34840"/>
            <a:ext cx="2514600" cy="1916616"/>
          </a:xfrm>
          <a:prstGeom prst="rect">
            <a:avLst/>
          </a:prstGeom>
        </p:spPr>
      </p:pic>
      <p:pic>
        <p:nvPicPr>
          <p:cNvPr id="12" name="Picture 11" descr="shap_dependence_AST_Ad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4434840"/>
            <a:ext cx="2514600" cy="19343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APPLICATION LAYER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Explainable Dashboard: Assessment &amp; Model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14</a:t>
            </a:r>
          </a:p>
        </p:txBody>
      </p:sp>
      <p:pic>
        <p:nvPicPr>
          <p:cNvPr id="5" name="Picture 4" descr="dashboard - 1 - formfill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50414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Times New Roman"/>
              </a:defRPr>
            </a:pPr>
            <a:r>
              <a:t>Automated Cohort Routing &amp; Inference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22222"/>
                </a:solidFill>
              </a:rPr>
              <a:t>• Automated Subgroup Selection: </a:t>
            </a:r>
            <a:r>
              <a:rPr sz="950">
                <a:solidFill>
                  <a:srgbClr val="222222"/>
                </a:solidFill>
              </a:rPr>
              <a:t>Entering patient age automatically routes data to the trained Pediatric (≤ 18) or Adult (&gt; 18) model.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22222"/>
                </a:solidFill>
              </a:rPr>
              <a:t>• Real-Time Risk Calculation: </a:t>
            </a:r>
            <a:r>
              <a:rPr sz="950">
                <a:solidFill>
                  <a:srgbClr val="222222"/>
                </a:solidFill>
              </a:rPr>
              <a:t>Delivers calibrated snapshot probability of PLT-derived severe risk class.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22222"/>
                </a:solidFill>
              </a:rPr>
              <a:t>• Dual-Model Comparison: </a:t>
            </a:r>
            <a:r>
              <a:rPr sz="950">
                <a:solidFill>
                  <a:srgbClr val="222222"/>
                </a:solidFill>
              </a:rPr>
              <a:t>Allows comparative side-by-side execution of both cohort models on the same input vector.</a:t>
            </a:r>
          </a:p>
        </p:txBody>
      </p:sp>
      <p:pic>
        <p:nvPicPr>
          <p:cNvPr id="8" name="Picture 7" descr="dashboard - 4 - cohort 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49039"/>
            <a:ext cx="4846320" cy="20484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APPLICATION LAYER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Explainable Dashboard: Longitudinal Tracking &amp; SHAP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15</a:t>
            </a:r>
          </a:p>
        </p:txBody>
      </p:sp>
      <p:pic>
        <p:nvPicPr>
          <p:cNvPr id="5" name="Picture 4" descr="dashboard - 2 - temporal 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091233"/>
          </a:xfrm>
          <a:prstGeom prst="rect">
            <a:avLst/>
          </a:prstGeom>
        </p:spPr>
      </p:pic>
      <p:pic>
        <p:nvPicPr>
          <p:cNvPr id="6" name="Picture 5" descr="dashboard - 3 - shap 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42255" cy="5663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Discussion &amp; Practical Significance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54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Times New Roman"/>
              </a:defRPr>
            </a:pPr>
            <a:r>
              <a:t>Subgroup Modeling vs. Global Pooling</a:t>
            </a:r>
          </a:p>
          <a:p>
            <a:pPr>
              <a:spcBef>
                <a:spcPts val="800"/>
              </a:spcBef>
              <a:defRPr sz="1000">
                <a:solidFill>
                  <a:srgbClr val="222222"/>
                </a:solidFill>
                <a:latin typeface="Calibri"/>
              </a:defRPr>
            </a:pPr>
            <a:r>
              <a:t>• Age-stratified models demonstrate superior adaptation to subgroup-specific clinical distributions.</a:t>
            </a:r>
          </a:p>
          <a:p>
            <a:pPr>
              <a:spcBef>
                <a:spcPts val="800"/>
              </a:spcBef>
              <a:defRPr sz="1000">
                <a:solidFill>
                  <a:srgbClr val="222222"/>
                </a:solidFill>
                <a:latin typeface="Calibri"/>
              </a:defRPr>
            </a:pPr>
            <a:r>
              <a:t>• Ensemble classifiers (RF &amp; Stacking) excel in both cohorts, maintaining 100% specificity in pediatric testing.</a:t>
            </a:r>
          </a:p>
          <a:p>
            <a:pPr>
              <a:spcBef>
                <a:spcPts val="800"/>
              </a:spcBef>
              <a:defRPr sz="1000">
                <a:solidFill>
                  <a:srgbClr val="222222"/>
                </a:solidFill>
                <a:latin typeface="Calibri"/>
              </a:defRPr>
            </a:pPr>
            <a:r>
              <a:t>• Confirms that collapsing pediatric cases into large adult datasets masks critical early risk indicators.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54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Times New Roman"/>
              </a:defRPr>
            </a:pPr>
            <a:r>
              <a:t>Clinical Interpretation of SHAP Splits</a:t>
            </a:r>
          </a:p>
          <a:p>
            <a:pPr>
              <a:spcBef>
                <a:spcPts val="800"/>
              </a:spcBef>
              <a:defRPr sz="1000">
                <a:solidFill>
                  <a:srgbClr val="222222"/>
                </a:solidFill>
                <a:latin typeface="Calibri"/>
              </a:defRPr>
            </a:pPr>
            <a:r>
              <a:t>• Lymphocyte thresholds (&gt; 44.5% ped vs &gt; 25.0% adult) align with pediatric atypical reactive lymphocytosis literature.</a:t>
            </a:r>
          </a:p>
          <a:p>
            <a:pPr>
              <a:spcBef>
                <a:spcPts val="800"/>
              </a:spcBef>
              <a:defRPr sz="1000">
                <a:solidFill>
                  <a:srgbClr val="222222"/>
                </a:solidFill>
                <a:latin typeface="Calibri"/>
              </a:defRPr>
            </a:pPr>
            <a:r>
              <a:t>• Decision splits represent programmatic model-derived behaviors, not definitive medical treatment rules.</a:t>
            </a:r>
          </a:p>
          <a:p>
            <a:pPr>
              <a:spcBef>
                <a:spcPts val="800"/>
              </a:spcBef>
              <a:defRPr sz="1000">
                <a:solidFill>
                  <a:srgbClr val="222222"/>
                </a:solidFill>
                <a:latin typeface="Calibri"/>
              </a:defRPr>
            </a:pPr>
            <a:r>
              <a:t>• Provides transparent, interpretable guidance for clinicians reviewing AI risk assessments.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2900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154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Times New Roman"/>
              </a:defRPr>
            </a:pPr>
            <a:r>
              <a:t>Bridging the Retrospective-Prospective Gap</a:t>
            </a:r>
          </a:p>
          <a:p>
            <a:pPr>
              <a:spcBef>
                <a:spcPts val="800"/>
              </a:spcBef>
              <a:defRPr sz="1000">
                <a:solidFill>
                  <a:srgbClr val="222222"/>
                </a:solidFill>
                <a:latin typeface="Calibri"/>
              </a:defRPr>
            </a:pPr>
            <a:r>
              <a:t>• Addresses the literature's common shortfall by providing a working software translation layer.</a:t>
            </a:r>
          </a:p>
          <a:p>
            <a:pPr>
              <a:spcBef>
                <a:spcPts val="800"/>
              </a:spcBef>
              <a:defRPr sz="1000">
                <a:solidFill>
                  <a:srgbClr val="222222"/>
                </a:solidFill>
                <a:latin typeface="Calibri"/>
              </a:defRPr>
            </a:pPr>
            <a:r>
              <a:t>• Enables structured collection of repeated patient laboratory assessments for future temporal modeling.</a:t>
            </a:r>
          </a:p>
          <a:p>
            <a:pPr>
              <a:spcBef>
                <a:spcPts val="800"/>
              </a:spcBef>
              <a:defRPr sz="1000">
                <a:solidFill>
                  <a:srgbClr val="222222"/>
                </a:solidFill>
                <a:latin typeface="Calibri"/>
              </a:defRPr>
            </a:pPr>
            <a:r>
              <a:t>• Emphasizes transparent disclaimers: early-stage research prototype requiring prospective validation.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Limitations &amp; Future Research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392B"/>
                </a:solidFill>
                <a:latin typeface="Times New Roman"/>
              </a:defRPr>
            </a:pPr>
            <a:r>
              <a:t>Current Study Limitations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• Retrospective Single-Center Dataset: </a:t>
            </a:r>
            <a:r>
              <a:rPr sz="1000">
                <a:solidFill>
                  <a:srgbClr val="222222"/>
                </a:solidFill>
              </a:rPr>
              <a:t>Analysis based on historical records from Bangladesh without external geographic cross-validation.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• Platelet-Derived Severity Proxy: </a:t>
            </a:r>
            <a:r>
              <a:rPr sz="1000">
                <a:solidFill>
                  <a:srgbClr val="222222"/>
                </a:solidFill>
              </a:rPr>
              <a:t>Severity defined via PLT &lt; 50,000/μL rather than independently adjudicated WHO clinical outcome labels.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• Constrained Pediatric Sample (n=158): </a:t>
            </a:r>
            <a:r>
              <a:rPr sz="1000">
                <a:solidFill>
                  <a:srgbClr val="222222"/>
                </a:solidFill>
              </a:rPr>
              <a:t>Limits complex deep architectures and necessitates reliance on single stratified 80/20 train-test splits.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22222"/>
                </a:solidFill>
              </a:rPr>
              <a:t>• Snapshot Inference Scope: </a:t>
            </a:r>
            <a:r>
              <a:rPr sz="1000">
                <a:solidFill>
                  <a:srgbClr val="222222"/>
                </a:solidFill>
              </a:rPr>
              <a:t>Current ML models evaluate isolated time snapshots; longitudinal visualization is descriptive, not sequential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Times New Roman"/>
              </a:defRPr>
            </a:pPr>
            <a:r>
              <a:t>Future Research Roadmap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6699"/>
                </a:solidFill>
              </a:rPr>
              <a:t>1. Multi-Center Prospective Validation: </a:t>
            </a:r>
            <a:r>
              <a:rPr sz="1000">
                <a:solidFill>
                  <a:srgbClr val="222222"/>
                </a:solidFill>
              </a:rPr>
              <a:t>Validate age-stratified models and SHAP thresholds on independent prospective cohorts across diverse clinical centers.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6699"/>
                </a:solidFill>
              </a:rPr>
              <a:t>2. WHO-Adjudicated Clinical Outcomes: </a:t>
            </a:r>
            <a:r>
              <a:rPr sz="1000">
                <a:solidFill>
                  <a:srgbClr val="222222"/>
                </a:solidFill>
              </a:rPr>
              <a:t>Incorporate definitive clinical severity endpoints (plasma leakage grade, shock, severe hemorrhage) beyond laboratory proxies.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6699"/>
                </a:solidFill>
              </a:rPr>
              <a:t>3. Sequential / Temporal Deep Learning: </a:t>
            </a:r>
            <a:r>
              <a:rPr sz="1000">
                <a:solidFill>
                  <a:srgbClr val="222222"/>
                </a:solidFill>
              </a:rPr>
              <a:t>Leverage structured longitudinal assessment storage in the dashboard to train Recurrent Neural Networks (LSTMs / Transformers) for true trajectory forecasting.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6699"/>
                </a:solidFill>
              </a:rPr>
              <a:t>4. Clinical Workflow Integration: </a:t>
            </a:r>
            <a:r>
              <a:rPr sz="1000">
                <a:solidFill>
                  <a:srgbClr val="222222"/>
                </a:solidFill>
              </a:rPr>
              <a:t>Perform usability and decision-support impact trials with pediatric and adult clinicians in hospital emergency departments.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Conclusion &amp; Key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42255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76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Contribution 1: Age-Stratified Dengue ML Framework</a:t>
            </a:r>
          </a:p>
          <a:p>
            <a:pPr>
              <a:spcBef>
                <a:spcPts val="6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Demonstrated that training age-stratified models (Pediatric Stacking Acc 90.6%, AUC 0.947; Adult RF Acc 84.7%, AUC 0.892) captures subgroup-specific patterns obscured by global pooling.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42255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76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Contribution 2: Subgroup-Specific SHAP &amp; Rank Agreement</a:t>
            </a:r>
          </a:p>
          <a:p>
            <a:pPr>
              <a:spcBef>
                <a:spcPts val="6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Established high relative feature ranking similarity (Kendall's tau-b = 0.900) while revealing distinct absolute contribution magnitudes and feature densities across age cohorts.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42255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876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Contribution 3: Programmatic Decision Split Mining</a:t>
            </a:r>
          </a:p>
          <a:p>
            <a:pPr>
              <a:spcBef>
                <a:spcPts val="6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Extracted explicit, interpretable clinical split points using depth-1 decision trees (e.g. Lymphocyte &gt; 44.5% in pediatric vs &gt; 25.0% in adults), providing actionable insight into model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86200"/>
            <a:ext cx="5242255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876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Contribution 4: Operational Explainable Risk Dashboard</a:t>
            </a:r>
          </a:p>
          <a:p>
            <a:pPr>
              <a:spcBef>
                <a:spcPts val="600"/>
              </a:spcBef>
              <a:defRPr sz="1050">
                <a:solidFill>
                  <a:srgbClr val="222222"/>
                </a:solidFill>
                <a:latin typeface="Calibri"/>
              </a:defRPr>
            </a:pPr>
            <a:r>
              <a:t>Designed and deployed a full-stack dashboard featuring automated age routing, real-time SHAP explanations, descriptive change analysis, and structured repeated assessment storage for future longitudinal research.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  <a:latin typeface="Calibri"/>
              </a:defRPr>
            </a:pPr>
            <a:r>
              <a:t>FYDP FINAL DEFENCE</a:t>
            </a:r>
          </a:p>
          <a:p>
            <a:pPr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Key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698480" cy="22860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Department of CSE, USTC  |  Pediatric vs Adult Dengue Severity Prediction with SHAP  |  Slide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1. World Health Organization (WHO), "Dengue: Guidelines for Diagnosis, Treatment, Prevention and Control," Geneva, 2009.</a:t>
            </a:r>
          </a:p>
          <a:p>
            <a:pPr>
              <a:spcBef>
                <a:spcPts val="3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2. S. B. Halstead, "Dengue," The Lancet, vol. 370, no. 9599, pp. 1644-1652, 2007.</a:t>
            </a:r>
          </a:p>
          <a:p>
            <a:pPr>
              <a:spcBef>
                <a:spcPts val="3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3. S. M. Lundberg and S. I. Lee, "A unified approach to interpreting model predictions," in Advances in Neural Information Processing Systems (NeurIPS), vol. 30, 2017.</a:t>
            </a:r>
          </a:p>
          <a:p>
            <a:pPr>
              <a:spcBef>
                <a:spcPts val="3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4. J. A. Potts et al., "Prediction of Dengue Disease Severity among Pediatric Thai Patients Using Early Clinical Laboratory Indicators," PLOS Neglected Tropical Diseases, vol. 4, no. 8, p. e769, 2010.</a:t>
            </a:r>
          </a:p>
          <a:p>
            <a:pPr>
              <a:spcBef>
                <a:spcPts val="3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5. L. B. Tanner et al., "Decision Tree Algorithms Predict Diagnosis and Outcome of Dengue in Early Phase," PLOS NTD, 2008.</a:t>
            </a:r>
          </a:p>
          <a:p>
            <a:pPr>
              <a:spcBef>
                <a:spcPts val="3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6. M. Niazi and S. Momand, "Dengue Severity Level Prediction Using Hematology-Driven Machine Learning Models," Scientific Journal of Engineering and Technology, vol. 3, no. 1, 2026.</a:t>
            </a:r>
          </a:p>
          <a:p>
            <a:pPr>
              <a:spcBef>
                <a:spcPts val="3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7. S. U. Chowdhury et al., "Shapley-Additive-Explanations-Based Factor Analysis for Dengue Severity Prediction," Journal of Imaging, vol. 8, no. 9, p. 229, 2022.</a:t>
            </a:r>
          </a:p>
          <a:p>
            <a:pPr>
              <a:spcBef>
                <a:spcPts val="3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8. A. K. M. Masum et al., "Enhancing Dengue Fever Diagnosis: Machine Learning with Stacking Ensemble and SHAP," IEEE QPAIN, 2025.</a:t>
            </a:r>
          </a:p>
          <a:p>
            <a:pPr>
              <a:spcBef>
                <a:spcPts val="3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9. G. Yap et al., "Lymphopenia as a predictor of dengue fever," PLOS Neglected Tropical Diseases, vol. 5, no. 1, e988, 2011.</a:t>
            </a:r>
          </a:p>
          <a:p>
            <a:pPr>
              <a:spcBef>
                <a:spcPts val="300"/>
              </a:spcBef>
              <a:defRPr sz="950">
                <a:solidFill>
                  <a:srgbClr val="222222"/>
                </a:solidFill>
                <a:latin typeface="Calibri"/>
              </a:defRPr>
            </a:pPr>
            <a:r>
              <a:t>10. L. J. Souza et al., "Aminotransferase changes and acute hepatitis in patients with dengue fever," Rev. Inst. Med. Trop. São Paulo, 2004.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0728655" cy="53035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Times New Roman"/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ADD8E6"/>
                </a:solidFill>
                <a:latin typeface="Calibri"/>
              </a:defRPr>
            </a:pPr>
            <a:r>
              <a:t>Pediatric vs Adult Dengue Severity Prediction with Subgroup-Specific SHAP Explanations</a:t>
            </a:r>
          </a:p>
          <a:p>
            <a:pPr algn="ctr">
              <a:spcBef>
                <a:spcPts val="2000"/>
              </a:spcBef>
              <a:defRPr sz="2400" b="1">
                <a:solidFill>
                  <a:srgbClr val="FFD700"/>
                </a:solidFill>
                <a:latin typeface="Times New Roman"/>
              </a:defRPr>
            </a:pPr>
            <a:r>
              <a:t>Questions &amp; Discussion</a:t>
            </a:r>
          </a:p>
          <a:p>
            <a:pPr algn="ctr">
              <a:spcBef>
                <a:spcPts val="18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Md. Aftabul Islam (ID: 22070103)  |  Mohammad Mazharul Alam (ID: 22070116)</a:t>
            </a:r>
            <a:br/>
            <a:r>
              <a:t>Supervised by: Mohammad Arif Hasan Chowdhury, Assistant Professor</a:t>
            </a:r>
            <a:br/>
            <a:r>
              <a:t>Department of CSE, FSET, USTC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1882</TotalTime>
  <Words>121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PowerPoint Presentation</vt:lpstr>
      <vt:lpstr>                                 Overview</vt:lpstr>
      <vt:lpstr>                               Introduction</vt:lpstr>
      <vt:lpstr>                               Objectives</vt:lpstr>
      <vt:lpstr>                           Problem Statement</vt:lpstr>
      <vt:lpstr>                             Related Works</vt:lpstr>
      <vt:lpstr>                       Proposed Methodology</vt:lpstr>
      <vt:lpstr>                                     Result</vt:lpstr>
      <vt:lpstr>                    Conclusion &amp; Future Work</vt:lpstr>
      <vt:lpstr>                                 References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Sarowar Morshed Shawon</dc:creator>
  <cp:lastModifiedBy>Kazi Rifah Noor</cp:lastModifiedBy>
  <cp:revision>79</cp:revision>
  <dcterms:created xsi:type="dcterms:W3CDTF">2022-05-25T09:47:59Z</dcterms:created>
  <dcterms:modified xsi:type="dcterms:W3CDTF">2026-08-11T04:49:16Z</dcterms:modified>
</cp:coreProperties>
</file>