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10" r:id="rId1"/>
  </p:sldMasterIdLst>
  <p:notesMasterIdLst>
    <p:notesMasterId r:id="rId18"/>
  </p:notesMasterIdLst>
  <p:sldIdLst>
    <p:sldId id="256" r:id="rId2"/>
    <p:sldId id="281" r:id="rId3"/>
    <p:sldId id="267" r:id="rId4"/>
    <p:sldId id="282" r:id="rId5"/>
    <p:sldId id="283" r:id="rId6"/>
    <p:sldId id="284" r:id="rId7"/>
    <p:sldId id="288" r:id="rId8"/>
    <p:sldId id="289" r:id="rId9"/>
    <p:sldId id="292" r:id="rId10"/>
    <p:sldId id="293" r:id="rId11"/>
    <p:sldId id="294" r:id="rId12"/>
    <p:sldId id="295" r:id="rId13"/>
    <p:sldId id="285" r:id="rId14"/>
    <p:sldId id="286" r:id="rId15"/>
    <p:sldId id="287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51"/>
    <a:srgbClr val="065D9E"/>
    <a:srgbClr val="003E6C"/>
    <a:srgbClr val="CD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610" autoAdjust="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816-4B3A-884D-67CBBE4B35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816-4B3A-884D-67CBBE4B356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816-4B3A-884D-67CBBE4B356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816-4B3A-884D-67CBBE4B356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A816-4B3A-884D-67CBBE4B356E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Literature review</c:v>
                </c:pt>
                <c:pt idx="1">
                  <c:v>Traning Model </c:v>
                </c:pt>
                <c:pt idx="2">
                  <c:v>Data Collection</c:v>
                </c:pt>
                <c:pt idx="3">
                  <c:v>Research on methodology</c:v>
                </c:pt>
                <c:pt idx="4">
                  <c:v>Work Left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0.8</c:v>
                </c:pt>
                <c:pt idx="2">
                  <c:v>2</c:v>
                </c:pt>
                <c:pt idx="3">
                  <c:v>1.2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6C-4CF2-9FBB-371E7CBB2807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265649-DEF5-4758-8AA4-2DB2A7EB1157}" type="doc">
      <dgm:prSet loTypeId="urn:microsoft.com/office/officeart/2009/3/layout/Descending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FFBA62-26C1-4D01-9660-AEEB83495614}">
      <dgm:prSet custT="1"/>
      <dgm:spPr/>
      <dgm:t>
        <a:bodyPr/>
        <a:lstStyle/>
        <a:p>
          <a:r>
            <a:rPr lang="en-US" sz="1800" dirty="0"/>
            <a:t>1- Introduction &amp; Background</a:t>
          </a:r>
        </a:p>
      </dgm:t>
    </dgm:pt>
    <dgm:pt modelId="{C5870814-24EC-49C0-8D11-AF2880970A7B}" type="parTrans" cxnId="{1E122836-EF8D-4F78-964D-D29CB2232DDF}">
      <dgm:prSet/>
      <dgm:spPr/>
      <dgm:t>
        <a:bodyPr/>
        <a:lstStyle/>
        <a:p>
          <a:endParaRPr lang="en-US"/>
        </a:p>
      </dgm:t>
    </dgm:pt>
    <dgm:pt modelId="{AB9B62D0-072B-429C-B724-D6E4A5C51915}" type="sibTrans" cxnId="{1E122836-EF8D-4F78-964D-D29CB2232DDF}">
      <dgm:prSet/>
      <dgm:spPr/>
      <dgm:t>
        <a:bodyPr/>
        <a:lstStyle/>
        <a:p>
          <a:endParaRPr lang="en-US"/>
        </a:p>
      </dgm:t>
    </dgm:pt>
    <dgm:pt modelId="{649F5A10-610F-4F12-AD0B-633D0749B56A}">
      <dgm:prSet custT="1"/>
      <dgm:spPr/>
      <dgm:t>
        <a:bodyPr/>
        <a:lstStyle/>
        <a:p>
          <a:pPr algn="ctr">
            <a:lnSpc>
              <a:spcPct val="70000"/>
            </a:lnSpc>
            <a:spcAft>
              <a:spcPts val="0"/>
            </a:spcAft>
          </a:pPr>
          <a:r>
            <a:rPr lang="en-US" sz="1800" dirty="0"/>
            <a:t>2-</a:t>
          </a:r>
          <a:r>
            <a:rPr lang="en-US" sz="2000" dirty="0"/>
            <a:t> </a:t>
          </a:r>
          <a:r>
            <a:rPr lang="en-US" sz="1800" dirty="0"/>
            <a:t>Research Objectives</a:t>
          </a:r>
        </a:p>
      </dgm:t>
    </dgm:pt>
    <dgm:pt modelId="{DD1694D3-B517-4DF9-9808-2F67C8EE9A6A}" type="parTrans" cxnId="{7D57EE3F-2F81-42D8-9D55-049C23555CCB}">
      <dgm:prSet/>
      <dgm:spPr/>
      <dgm:t>
        <a:bodyPr/>
        <a:lstStyle/>
        <a:p>
          <a:endParaRPr lang="en-US"/>
        </a:p>
      </dgm:t>
    </dgm:pt>
    <dgm:pt modelId="{C1FB3BEC-89D0-465B-9D6E-A837AE784C5D}" type="sibTrans" cxnId="{7D57EE3F-2F81-42D8-9D55-049C23555CCB}">
      <dgm:prSet/>
      <dgm:spPr/>
      <dgm:t>
        <a:bodyPr/>
        <a:lstStyle/>
        <a:p>
          <a:endParaRPr lang="en-US"/>
        </a:p>
      </dgm:t>
    </dgm:pt>
    <dgm:pt modelId="{5236F1B5-FB0B-4551-B925-7CE6F00B9F07}">
      <dgm:prSet custT="1"/>
      <dgm:spPr/>
      <dgm:t>
        <a:bodyPr/>
        <a:lstStyle/>
        <a:p>
          <a:pPr algn="ctr"/>
          <a:r>
            <a:rPr lang="en-US" sz="1800" dirty="0"/>
            <a:t>3- Methodology</a:t>
          </a:r>
        </a:p>
      </dgm:t>
    </dgm:pt>
    <dgm:pt modelId="{1631D105-D1E2-4FBA-A840-6239E9F4BA68}" type="parTrans" cxnId="{2EFE004D-4D3D-4E32-998E-AA2CCC9FDC81}">
      <dgm:prSet/>
      <dgm:spPr/>
      <dgm:t>
        <a:bodyPr/>
        <a:lstStyle/>
        <a:p>
          <a:endParaRPr lang="en-US"/>
        </a:p>
      </dgm:t>
    </dgm:pt>
    <dgm:pt modelId="{99F8FA00-E56B-4F13-88BA-EDF0FAE59C33}" type="sibTrans" cxnId="{2EFE004D-4D3D-4E32-998E-AA2CCC9FDC81}">
      <dgm:prSet/>
      <dgm:spPr/>
      <dgm:t>
        <a:bodyPr/>
        <a:lstStyle/>
        <a:p>
          <a:endParaRPr lang="en-US"/>
        </a:p>
      </dgm:t>
    </dgm:pt>
    <dgm:pt modelId="{F03891AC-A831-4791-8AA8-7150B7457752}">
      <dgm:prSet custT="1"/>
      <dgm:spPr/>
      <dgm:t>
        <a:bodyPr/>
        <a:lstStyle/>
        <a:p>
          <a:pPr algn="r"/>
          <a:r>
            <a:rPr lang="en-US" sz="1800" dirty="0"/>
            <a:t>4- Work Done</a:t>
          </a:r>
        </a:p>
      </dgm:t>
    </dgm:pt>
    <dgm:pt modelId="{BFD7D358-E4E7-4500-B9BC-B316AA654875}" type="parTrans" cxnId="{14B83FDC-E1EE-4D00-9B3F-9FF357A5D20B}">
      <dgm:prSet/>
      <dgm:spPr/>
      <dgm:t>
        <a:bodyPr/>
        <a:lstStyle/>
        <a:p>
          <a:endParaRPr lang="en-US"/>
        </a:p>
      </dgm:t>
    </dgm:pt>
    <dgm:pt modelId="{5BAFA965-25A6-43E1-86D6-EE5506FEB6CA}" type="sibTrans" cxnId="{14B83FDC-E1EE-4D00-9B3F-9FF357A5D20B}">
      <dgm:prSet/>
      <dgm:spPr/>
      <dgm:t>
        <a:bodyPr/>
        <a:lstStyle/>
        <a:p>
          <a:endParaRPr lang="en-US"/>
        </a:p>
      </dgm:t>
    </dgm:pt>
    <dgm:pt modelId="{23DAA24C-231E-4BA0-A5DC-9655220B80FF}">
      <dgm:prSet custT="1"/>
      <dgm:spPr/>
      <dgm:t>
        <a:bodyPr/>
        <a:lstStyle/>
        <a:p>
          <a:pPr algn="r"/>
          <a:r>
            <a:rPr lang="en-US" sz="1800" dirty="0"/>
            <a:t>6-  Research Schedule</a:t>
          </a:r>
        </a:p>
      </dgm:t>
    </dgm:pt>
    <dgm:pt modelId="{138F314B-7901-4622-B6A6-84B113C09C3D}" type="parTrans" cxnId="{05499384-D9CB-4CAB-8943-9F59070C5437}">
      <dgm:prSet/>
      <dgm:spPr/>
      <dgm:t>
        <a:bodyPr/>
        <a:lstStyle/>
        <a:p>
          <a:endParaRPr lang="en-US"/>
        </a:p>
      </dgm:t>
    </dgm:pt>
    <dgm:pt modelId="{65A3D2F3-CE21-41E3-A95C-AB44CC601F10}" type="sibTrans" cxnId="{05499384-D9CB-4CAB-8943-9F59070C5437}">
      <dgm:prSet/>
      <dgm:spPr/>
      <dgm:t>
        <a:bodyPr/>
        <a:lstStyle/>
        <a:p>
          <a:endParaRPr lang="en-US"/>
        </a:p>
      </dgm:t>
    </dgm:pt>
    <dgm:pt modelId="{E3D57D59-A92F-437B-8878-315EFC649FA9}">
      <dgm:prSet custT="1"/>
      <dgm:spPr/>
      <dgm:t>
        <a:bodyPr/>
        <a:lstStyle/>
        <a:p>
          <a:pPr algn="r"/>
          <a:r>
            <a:rPr lang="en-US" sz="1800" dirty="0"/>
            <a:t>5 -Work Planned</a:t>
          </a:r>
        </a:p>
      </dgm:t>
    </dgm:pt>
    <dgm:pt modelId="{9C9101A4-4D75-4F84-96BE-3EF72066DE7B}" type="parTrans" cxnId="{930E3A4D-3E3F-4E0B-AF14-25C2ECB02435}">
      <dgm:prSet/>
      <dgm:spPr/>
      <dgm:t>
        <a:bodyPr/>
        <a:lstStyle/>
        <a:p>
          <a:endParaRPr lang="en-US"/>
        </a:p>
      </dgm:t>
    </dgm:pt>
    <dgm:pt modelId="{F09E90AE-FBF9-4836-8312-1A2F0EB7111C}" type="sibTrans" cxnId="{930E3A4D-3E3F-4E0B-AF14-25C2ECB02435}">
      <dgm:prSet/>
      <dgm:spPr/>
      <dgm:t>
        <a:bodyPr/>
        <a:lstStyle/>
        <a:p>
          <a:endParaRPr lang="en-US"/>
        </a:p>
      </dgm:t>
    </dgm:pt>
    <dgm:pt modelId="{C66559B4-AF81-4F81-98F3-75C60459028D}" type="pres">
      <dgm:prSet presAssocID="{D1265649-DEF5-4758-8AA4-2DB2A7EB1157}" presName="Name0" presStyleCnt="0">
        <dgm:presLayoutVars>
          <dgm:chMax val="7"/>
          <dgm:chPref val="5"/>
        </dgm:presLayoutVars>
      </dgm:prSet>
      <dgm:spPr/>
    </dgm:pt>
    <dgm:pt modelId="{EFE94B98-D546-43D9-8053-FA5F095EDE04}" type="pres">
      <dgm:prSet presAssocID="{D1265649-DEF5-4758-8AA4-2DB2A7EB1157}" presName="arrowNode" presStyleLbl="node1" presStyleIdx="0" presStyleCnt="1"/>
      <dgm:spPr/>
    </dgm:pt>
    <dgm:pt modelId="{5651ADB9-53E8-438C-AC40-F53F0C6F6C54}" type="pres">
      <dgm:prSet presAssocID="{30FFBA62-26C1-4D01-9660-AEEB83495614}" presName="txNode1" presStyleLbl="revTx" presStyleIdx="0" presStyleCnt="6" custScaleX="184245">
        <dgm:presLayoutVars>
          <dgm:bulletEnabled val="1"/>
        </dgm:presLayoutVars>
      </dgm:prSet>
      <dgm:spPr/>
    </dgm:pt>
    <dgm:pt modelId="{2AB4385E-C53E-4586-AE49-FF8FC55FB588}" type="pres">
      <dgm:prSet presAssocID="{649F5A10-610F-4F12-AD0B-633D0749B56A}" presName="txNode2" presStyleLbl="revTx" presStyleIdx="1" presStyleCnt="6" custScaleX="108012" custScaleY="132107">
        <dgm:presLayoutVars>
          <dgm:bulletEnabled val="1"/>
        </dgm:presLayoutVars>
      </dgm:prSet>
      <dgm:spPr/>
    </dgm:pt>
    <dgm:pt modelId="{F4D5751D-8443-4B7B-9C23-4772DE373FFB}" type="pres">
      <dgm:prSet presAssocID="{C1FB3BEC-89D0-465B-9D6E-A837AE784C5D}" presName="dotNode2" presStyleCnt="0"/>
      <dgm:spPr/>
    </dgm:pt>
    <dgm:pt modelId="{45D7318A-BDD1-4569-A12E-8803CC1FA592}" type="pres">
      <dgm:prSet presAssocID="{C1FB3BEC-89D0-465B-9D6E-A837AE784C5D}" presName="dotRepeatNode" presStyleLbl="fgShp" presStyleIdx="0" presStyleCnt="4"/>
      <dgm:spPr/>
    </dgm:pt>
    <dgm:pt modelId="{E8CFD69B-7F5E-4634-A7CE-F09A58DF734F}" type="pres">
      <dgm:prSet presAssocID="{5236F1B5-FB0B-4551-B925-7CE6F00B9F07}" presName="txNode3" presStyleLbl="revTx" presStyleIdx="2" presStyleCnt="6" custScaleX="152536">
        <dgm:presLayoutVars>
          <dgm:bulletEnabled val="1"/>
        </dgm:presLayoutVars>
      </dgm:prSet>
      <dgm:spPr/>
    </dgm:pt>
    <dgm:pt modelId="{4BC4E457-E7BD-4C90-9B83-3443EFF6AB92}" type="pres">
      <dgm:prSet presAssocID="{99F8FA00-E56B-4F13-88BA-EDF0FAE59C33}" presName="dotNode3" presStyleCnt="0"/>
      <dgm:spPr/>
    </dgm:pt>
    <dgm:pt modelId="{54379A2E-2282-4D0B-808E-0F4857082214}" type="pres">
      <dgm:prSet presAssocID="{99F8FA00-E56B-4F13-88BA-EDF0FAE59C33}" presName="dotRepeatNode" presStyleLbl="fgShp" presStyleIdx="1" presStyleCnt="4"/>
      <dgm:spPr/>
    </dgm:pt>
    <dgm:pt modelId="{31C5B7BF-E196-4FB9-AB79-E38924ABF84E}" type="pres">
      <dgm:prSet presAssocID="{F03891AC-A831-4791-8AA8-7150B7457752}" presName="txNode4" presStyleLbl="revTx" presStyleIdx="3" presStyleCnt="6">
        <dgm:presLayoutVars>
          <dgm:bulletEnabled val="1"/>
        </dgm:presLayoutVars>
      </dgm:prSet>
      <dgm:spPr/>
    </dgm:pt>
    <dgm:pt modelId="{EDE58920-5E18-4EAD-9D23-781A8B3FF94E}" type="pres">
      <dgm:prSet presAssocID="{5BAFA965-25A6-43E1-86D6-EE5506FEB6CA}" presName="dotNode4" presStyleCnt="0"/>
      <dgm:spPr/>
    </dgm:pt>
    <dgm:pt modelId="{8A165434-217A-4493-936C-65115EFA205C}" type="pres">
      <dgm:prSet presAssocID="{5BAFA965-25A6-43E1-86D6-EE5506FEB6CA}" presName="dotRepeatNode" presStyleLbl="fgShp" presStyleIdx="2" presStyleCnt="4"/>
      <dgm:spPr/>
    </dgm:pt>
    <dgm:pt modelId="{3A6CF9E8-B84E-4AC9-8430-F7E0664C0404}" type="pres">
      <dgm:prSet presAssocID="{E3D57D59-A92F-437B-8878-315EFC649FA9}" presName="txNode5" presStyleLbl="revTx" presStyleIdx="4" presStyleCnt="6">
        <dgm:presLayoutVars>
          <dgm:bulletEnabled val="1"/>
        </dgm:presLayoutVars>
      </dgm:prSet>
      <dgm:spPr/>
    </dgm:pt>
    <dgm:pt modelId="{ECAA84BE-7C8B-4AC1-BB04-0FC64B1BD541}" type="pres">
      <dgm:prSet presAssocID="{F09E90AE-FBF9-4836-8312-1A2F0EB7111C}" presName="dotNode5" presStyleCnt="0"/>
      <dgm:spPr/>
    </dgm:pt>
    <dgm:pt modelId="{0A842384-B9A0-4FBD-9F37-49FE5B557C2F}" type="pres">
      <dgm:prSet presAssocID="{F09E90AE-FBF9-4836-8312-1A2F0EB7111C}" presName="dotRepeatNode" presStyleLbl="fgShp" presStyleIdx="3" presStyleCnt="4"/>
      <dgm:spPr/>
    </dgm:pt>
    <dgm:pt modelId="{86ACD4E8-0F87-4EDD-86D3-E8B171763934}" type="pres">
      <dgm:prSet presAssocID="{23DAA24C-231E-4BA0-A5DC-9655220B80FF}" presName="txNode6" presStyleLbl="revTx" presStyleIdx="5" presStyleCnt="6" custScaleX="225866">
        <dgm:presLayoutVars>
          <dgm:bulletEnabled val="1"/>
        </dgm:presLayoutVars>
      </dgm:prSet>
      <dgm:spPr/>
    </dgm:pt>
  </dgm:ptLst>
  <dgm:cxnLst>
    <dgm:cxn modelId="{EB1CBC03-4B14-4CD8-8D9E-9CA982531B6C}" type="presOf" srcId="{23DAA24C-231E-4BA0-A5DC-9655220B80FF}" destId="{86ACD4E8-0F87-4EDD-86D3-E8B171763934}" srcOrd="0" destOrd="0" presId="urn:microsoft.com/office/officeart/2009/3/layout/DescendingProcess"/>
    <dgm:cxn modelId="{80085104-0544-46E0-9569-D9E60C080264}" type="presOf" srcId="{30FFBA62-26C1-4D01-9660-AEEB83495614}" destId="{5651ADB9-53E8-438C-AC40-F53F0C6F6C54}" srcOrd="0" destOrd="0" presId="urn:microsoft.com/office/officeart/2009/3/layout/DescendingProcess"/>
    <dgm:cxn modelId="{7846E61C-056B-4AFC-B3EB-9BF1EB228AB1}" type="presOf" srcId="{99F8FA00-E56B-4F13-88BA-EDF0FAE59C33}" destId="{54379A2E-2282-4D0B-808E-0F4857082214}" srcOrd="0" destOrd="0" presId="urn:microsoft.com/office/officeart/2009/3/layout/DescendingProcess"/>
    <dgm:cxn modelId="{10ABC621-EED2-47F8-B7F6-BA48C83F6485}" type="presOf" srcId="{E3D57D59-A92F-437B-8878-315EFC649FA9}" destId="{3A6CF9E8-B84E-4AC9-8430-F7E0664C0404}" srcOrd="0" destOrd="0" presId="urn:microsoft.com/office/officeart/2009/3/layout/DescendingProcess"/>
    <dgm:cxn modelId="{1E122836-EF8D-4F78-964D-D29CB2232DDF}" srcId="{D1265649-DEF5-4758-8AA4-2DB2A7EB1157}" destId="{30FFBA62-26C1-4D01-9660-AEEB83495614}" srcOrd="0" destOrd="0" parTransId="{C5870814-24EC-49C0-8D11-AF2880970A7B}" sibTransId="{AB9B62D0-072B-429C-B724-D6E4A5C51915}"/>
    <dgm:cxn modelId="{7D57EE3F-2F81-42D8-9D55-049C23555CCB}" srcId="{D1265649-DEF5-4758-8AA4-2DB2A7EB1157}" destId="{649F5A10-610F-4F12-AD0B-633D0749B56A}" srcOrd="1" destOrd="0" parTransId="{DD1694D3-B517-4DF9-9808-2F67C8EE9A6A}" sibTransId="{C1FB3BEC-89D0-465B-9D6E-A837AE784C5D}"/>
    <dgm:cxn modelId="{9774FC5F-A097-40A3-9501-86D204028134}" type="presOf" srcId="{C1FB3BEC-89D0-465B-9D6E-A837AE784C5D}" destId="{45D7318A-BDD1-4569-A12E-8803CC1FA592}" srcOrd="0" destOrd="0" presId="urn:microsoft.com/office/officeart/2009/3/layout/DescendingProcess"/>
    <dgm:cxn modelId="{2EFE004D-4D3D-4E32-998E-AA2CCC9FDC81}" srcId="{D1265649-DEF5-4758-8AA4-2DB2A7EB1157}" destId="{5236F1B5-FB0B-4551-B925-7CE6F00B9F07}" srcOrd="2" destOrd="0" parTransId="{1631D105-D1E2-4FBA-A840-6239E9F4BA68}" sibTransId="{99F8FA00-E56B-4F13-88BA-EDF0FAE59C33}"/>
    <dgm:cxn modelId="{930E3A4D-3E3F-4E0B-AF14-25C2ECB02435}" srcId="{D1265649-DEF5-4758-8AA4-2DB2A7EB1157}" destId="{E3D57D59-A92F-437B-8878-315EFC649FA9}" srcOrd="4" destOrd="0" parTransId="{9C9101A4-4D75-4F84-96BE-3EF72066DE7B}" sibTransId="{F09E90AE-FBF9-4836-8312-1A2F0EB7111C}"/>
    <dgm:cxn modelId="{0D25E157-5D27-4A7C-B1FC-89C8BBA753E2}" type="presOf" srcId="{D1265649-DEF5-4758-8AA4-2DB2A7EB1157}" destId="{C66559B4-AF81-4F81-98F3-75C60459028D}" srcOrd="0" destOrd="0" presId="urn:microsoft.com/office/officeart/2009/3/layout/DescendingProcess"/>
    <dgm:cxn modelId="{05499384-D9CB-4CAB-8943-9F59070C5437}" srcId="{D1265649-DEF5-4758-8AA4-2DB2A7EB1157}" destId="{23DAA24C-231E-4BA0-A5DC-9655220B80FF}" srcOrd="5" destOrd="0" parTransId="{138F314B-7901-4622-B6A6-84B113C09C3D}" sibTransId="{65A3D2F3-CE21-41E3-A95C-AB44CC601F10}"/>
    <dgm:cxn modelId="{37A8AC93-0A47-4C48-9D7E-FC8AAE591958}" type="presOf" srcId="{5BAFA965-25A6-43E1-86D6-EE5506FEB6CA}" destId="{8A165434-217A-4493-936C-65115EFA205C}" srcOrd="0" destOrd="0" presId="urn:microsoft.com/office/officeart/2009/3/layout/DescendingProcess"/>
    <dgm:cxn modelId="{FBE5CA9B-976A-4B63-BA74-69767F33C46E}" type="presOf" srcId="{5236F1B5-FB0B-4551-B925-7CE6F00B9F07}" destId="{E8CFD69B-7F5E-4634-A7CE-F09A58DF734F}" srcOrd="0" destOrd="0" presId="urn:microsoft.com/office/officeart/2009/3/layout/DescendingProcess"/>
    <dgm:cxn modelId="{7846B8A3-F66B-4C6A-92EB-CE912BCDAFE5}" type="presOf" srcId="{F09E90AE-FBF9-4836-8312-1A2F0EB7111C}" destId="{0A842384-B9A0-4FBD-9F37-49FE5B557C2F}" srcOrd="0" destOrd="0" presId="urn:microsoft.com/office/officeart/2009/3/layout/DescendingProcess"/>
    <dgm:cxn modelId="{14B83FDC-E1EE-4D00-9B3F-9FF357A5D20B}" srcId="{D1265649-DEF5-4758-8AA4-2DB2A7EB1157}" destId="{F03891AC-A831-4791-8AA8-7150B7457752}" srcOrd="3" destOrd="0" parTransId="{BFD7D358-E4E7-4500-B9BC-B316AA654875}" sibTransId="{5BAFA965-25A6-43E1-86D6-EE5506FEB6CA}"/>
    <dgm:cxn modelId="{811B06EC-EF52-467A-83EC-BA54A1B17A04}" type="presOf" srcId="{F03891AC-A831-4791-8AA8-7150B7457752}" destId="{31C5B7BF-E196-4FB9-AB79-E38924ABF84E}" srcOrd="0" destOrd="0" presId="urn:microsoft.com/office/officeart/2009/3/layout/DescendingProcess"/>
    <dgm:cxn modelId="{606728F3-1527-4196-BBDC-E972C938CEEB}" type="presOf" srcId="{649F5A10-610F-4F12-AD0B-633D0749B56A}" destId="{2AB4385E-C53E-4586-AE49-FF8FC55FB588}" srcOrd="0" destOrd="0" presId="urn:microsoft.com/office/officeart/2009/3/layout/DescendingProcess"/>
    <dgm:cxn modelId="{74E49A89-AD2E-458F-920A-939BE52477AA}" type="presParOf" srcId="{C66559B4-AF81-4F81-98F3-75C60459028D}" destId="{EFE94B98-D546-43D9-8053-FA5F095EDE04}" srcOrd="0" destOrd="0" presId="urn:microsoft.com/office/officeart/2009/3/layout/DescendingProcess"/>
    <dgm:cxn modelId="{9945E0EA-1CB5-48E4-9ACB-93E7DA8014C1}" type="presParOf" srcId="{C66559B4-AF81-4F81-98F3-75C60459028D}" destId="{5651ADB9-53E8-438C-AC40-F53F0C6F6C54}" srcOrd="1" destOrd="0" presId="urn:microsoft.com/office/officeart/2009/3/layout/DescendingProcess"/>
    <dgm:cxn modelId="{F1F1733B-3AD7-42C4-A127-D1E73441A408}" type="presParOf" srcId="{C66559B4-AF81-4F81-98F3-75C60459028D}" destId="{2AB4385E-C53E-4586-AE49-FF8FC55FB588}" srcOrd="2" destOrd="0" presId="urn:microsoft.com/office/officeart/2009/3/layout/DescendingProcess"/>
    <dgm:cxn modelId="{EFA37913-F942-4BD2-8D7B-2868CDCC2410}" type="presParOf" srcId="{C66559B4-AF81-4F81-98F3-75C60459028D}" destId="{F4D5751D-8443-4B7B-9C23-4772DE373FFB}" srcOrd="3" destOrd="0" presId="urn:microsoft.com/office/officeart/2009/3/layout/DescendingProcess"/>
    <dgm:cxn modelId="{44C2F03D-8D54-4481-A4C5-35B967BD3085}" type="presParOf" srcId="{F4D5751D-8443-4B7B-9C23-4772DE373FFB}" destId="{45D7318A-BDD1-4569-A12E-8803CC1FA592}" srcOrd="0" destOrd="0" presId="urn:microsoft.com/office/officeart/2009/3/layout/DescendingProcess"/>
    <dgm:cxn modelId="{55538F8C-750D-4D8E-8C9B-9C175667A503}" type="presParOf" srcId="{C66559B4-AF81-4F81-98F3-75C60459028D}" destId="{E8CFD69B-7F5E-4634-A7CE-F09A58DF734F}" srcOrd="4" destOrd="0" presId="urn:microsoft.com/office/officeart/2009/3/layout/DescendingProcess"/>
    <dgm:cxn modelId="{0F9D700D-2061-413F-8188-0A31E250E128}" type="presParOf" srcId="{C66559B4-AF81-4F81-98F3-75C60459028D}" destId="{4BC4E457-E7BD-4C90-9B83-3443EFF6AB92}" srcOrd="5" destOrd="0" presId="urn:microsoft.com/office/officeart/2009/3/layout/DescendingProcess"/>
    <dgm:cxn modelId="{C9EE0457-05A5-445B-B18D-8BB0A781F692}" type="presParOf" srcId="{4BC4E457-E7BD-4C90-9B83-3443EFF6AB92}" destId="{54379A2E-2282-4D0B-808E-0F4857082214}" srcOrd="0" destOrd="0" presId="urn:microsoft.com/office/officeart/2009/3/layout/DescendingProcess"/>
    <dgm:cxn modelId="{9AAF3353-B69E-435D-A4C5-4EB7E7F34B4F}" type="presParOf" srcId="{C66559B4-AF81-4F81-98F3-75C60459028D}" destId="{31C5B7BF-E196-4FB9-AB79-E38924ABF84E}" srcOrd="6" destOrd="0" presId="urn:microsoft.com/office/officeart/2009/3/layout/DescendingProcess"/>
    <dgm:cxn modelId="{F25413AF-9513-4435-9A0E-18BB48F96BD7}" type="presParOf" srcId="{C66559B4-AF81-4F81-98F3-75C60459028D}" destId="{EDE58920-5E18-4EAD-9D23-781A8B3FF94E}" srcOrd="7" destOrd="0" presId="urn:microsoft.com/office/officeart/2009/3/layout/DescendingProcess"/>
    <dgm:cxn modelId="{7B45EC39-CDA8-4174-B9D3-4E0ED5B3DB97}" type="presParOf" srcId="{EDE58920-5E18-4EAD-9D23-781A8B3FF94E}" destId="{8A165434-217A-4493-936C-65115EFA205C}" srcOrd="0" destOrd="0" presId="urn:microsoft.com/office/officeart/2009/3/layout/DescendingProcess"/>
    <dgm:cxn modelId="{C12A8EE7-5E71-4CFB-9F43-4F2BF8300AE9}" type="presParOf" srcId="{C66559B4-AF81-4F81-98F3-75C60459028D}" destId="{3A6CF9E8-B84E-4AC9-8430-F7E0664C0404}" srcOrd="8" destOrd="0" presId="urn:microsoft.com/office/officeart/2009/3/layout/DescendingProcess"/>
    <dgm:cxn modelId="{3999C312-6DFA-466F-B140-6FCF0F4060C3}" type="presParOf" srcId="{C66559B4-AF81-4F81-98F3-75C60459028D}" destId="{ECAA84BE-7C8B-4AC1-BB04-0FC64B1BD541}" srcOrd="9" destOrd="0" presId="urn:microsoft.com/office/officeart/2009/3/layout/DescendingProcess"/>
    <dgm:cxn modelId="{D6DB6F40-83CB-4C2F-806E-88DA63D68437}" type="presParOf" srcId="{ECAA84BE-7C8B-4AC1-BB04-0FC64B1BD541}" destId="{0A842384-B9A0-4FBD-9F37-49FE5B557C2F}" srcOrd="0" destOrd="0" presId="urn:microsoft.com/office/officeart/2009/3/layout/DescendingProcess"/>
    <dgm:cxn modelId="{C9F0FBD4-1182-474A-824F-A71028ECE791}" type="presParOf" srcId="{C66559B4-AF81-4F81-98F3-75C60459028D}" destId="{86ACD4E8-0F87-4EDD-86D3-E8B171763934}" srcOrd="10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E94B98-D546-43D9-8053-FA5F095EDE04}">
      <dsp:nvSpPr>
        <dsp:cNvPr id="0" name=""/>
        <dsp:cNvSpPr/>
      </dsp:nvSpPr>
      <dsp:spPr>
        <a:xfrm rot="4396374">
          <a:off x="2106581" y="998869"/>
          <a:ext cx="4333255" cy="3021905"/>
        </a:xfrm>
        <a:prstGeom prst="swooshArrow">
          <a:avLst>
            <a:gd name="adj1" fmla="val 16310"/>
            <a:gd name="adj2" fmla="val 313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D7318A-BDD1-4569-A12E-8803CC1FA592}">
      <dsp:nvSpPr>
        <dsp:cNvPr id="0" name=""/>
        <dsp:cNvSpPr/>
      </dsp:nvSpPr>
      <dsp:spPr>
        <a:xfrm>
          <a:off x="3583509" y="1297076"/>
          <a:ext cx="109428" cy="109428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4379A2E-2282-4D0B-808E-0F4857082214}">
      <dsp:nvSpPr>
        <dsp:cNvPr id="0" name=""/>
        <dsp:cNvSpPr/>
      </dsp:nvSpPr>
      <dsp:spPr>
        <a:xfrm>
          <a:off x="4201377" y="1771432"/>
          <a:ext cx="109428" cy="109428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A165434-217A-4493-936C-65115EFA205C}">
      <dsp:nvSpPr>
        <dsp:cNvPr id="0" name=""/>
        <dsp:cNvSpPr/>
      </dsp:nvSpPr>
      <dsp:spPr>
        <a:xfrm>
          <a:off x="4756851" y="2326605"/>
          <a:ext cx="109428" cy="109428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651ADB9-53E8-438C-AC40-F53F0C6F6C54}">
      <dsp:nvSpPr>
        <dsp:cNvPr id="0" name=""/>
        <dsp:cNvSpPr/>
      </dsp:nvSpPr>
      <dsp:spPr>
        <a:xfrm>
          <a:off x="955531" y="0"/>
          <a:ext cx="3764117" cy="80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1- Introduction &amp; Background</a:t>
          </a:r>
        </a:p>
      </dsp:txBody>
      <dsp:txXfrm>
        <a:off x="955531" y="0"/>
        <a:ext cx="3764117" cy="803143"/>
      </dsp:txXfrm>
    </dsp:sp>
    <dsp:sp modelId="{2AB4385E-C53E-4586-AE49-FF8FC55FB588}">
      <dsp:nvSpPr>
        <dsp:cNvPr id="0" name=""/>
        <dsp:cNvSpPr/>
      </dsp:nvSpPr>
      <dsp:spPr>
        <a:xfrm>
          <a:off x="4179159" y="821286"/>
          <a:ext cx="3280200" cy="1061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7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2-</a:t>
          </a:r>
          <a:r>
            <a:rPr lang="en-US" sz="2000" kern="1200" dirty="0"/>
            <a:t> </a:t>
          </a:r>
          <a:r>
            <a:rPr lang="en-US" sz="1800" kern="1200" dirty="0"/>
            <a:t>Research Objectives</a:t>
          </a:r>
        </a:p>
      </dsp:txBody>
      <dsp:txXfrm>
        <a:off x="4179159" y="821286"/>
        <a:ext cx="3280200" cy="1061008"/>
      </dsp:txXfrm>
    </dsp:sp>
    <dsp:sp modelId="{E8CFD69B-7F5E-4634-A7CE-F09A58DF734F}">
      <dsp:nvSpPr>
        <dsp:cNvPr id="0" name=""/>
        <dsp:cNvSpPr/>
      </dsp:nvSpPr>
      <dsp:spPr>
        <a:xfrm>
          <a:off x="1279438" y="1424575"/>
          <a:ext cx="3116303" cy="80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3- Methodology</a:t>
          </a:r>
        </a:p>
      </dsp:txBody>
      <dsp:txXfrm>
        <a:off x="1279438" y="1424575"/>
        <a:ext cx="3116303" cy="803143"/>
      </dsp:txXfrm>
    </dsp:sp>
    <dsp:sp modelId="{0A842384-B9A0-4FBD-9F37-49FE5B557C2F}">
      <dsp:nvSpPr>
        <dsp:cNvPr id="0" name=""/>
        <dsp:cNvSpPr/>
      </dsp:nvSpPr>
      <dsp:spPr>
        <a:xfrm>
          <a:off x="5158824" y="2937496"/>
          <a:ext cx="109428" cy="109428"/>
        </a:xfrm>
        <a:prstGeom prst="ellipse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1C5B7BF-E196-4FB9-AB79-E38924ABF84E}">
      <dsp:nvSpPr>
        <dsp:cNvPr id="0" name=""/>
        <dsp:cNvSpPr/>
      </dsp:nvSpPr>
      <dsp:spPr>
        <a:xfrm>
          <a:off x="5294706" y="1979747"/>
          <a:ext cx="2042995" cy="80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4- Work Done</a:t>
          </a:r>
        </a:p>
      </dsp:txBody>
      <dsp:txXfrm>
        <a:off x="5294706" y="1979747"/>
        <a:ext cx="2042995" cy="803143"/>
      </dsp:txXfrm>
    </dsp:sp>
    <dsp:sp modelId="{3A6CF9E8-B84E-4AC9-8430-F7E0664C0404}">
      <dsp:nvSpPr>
        <dsp:cNvPr id="0" name=""/>
        <dsp:cNvSpPr/>
      </dsp:nvSpPr>
      <dsp:spPr>
        <a:xfrm>
          <a:off x="1816092" y="2590638"/>
          <a:ext cx="3036885" cy="80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5 -Work Planned</a:t>
          </a:r>
        </a:p>
      </dsp:txBody>
      <dsp:txXfrm>
        <a:off x="1816092" y="2590638"/>
        <a:ext cx="3036885" cy="803143"/>
      </dsp:txXfrm>
    </dsp:sp>
    <dsp:sp modelId="{86ACD4E8-0F87-4EDD-86D3-E8B171763934}">
      <dsp:nvSpPr>
        <dsp:cNvPr id="0" name=""/>
        <dsp:cNvSpPr/>
      </dsp:nvSpPr>
      <dsp:spPr>
        <a:xfrm>
          <a:off x="2839440" y="4216501"/>
          <a:ext cx="6235719" cy="803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6-  Research Schedule</a:t>
          </a:r>
        </a:p>
      </dsp:txBody>
      <dsp:txXfrm>
        <a:off x="2839440" y="4216501"/>
        <a:ext cx="6235719" cy="803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CBBFD-4E3C-4E9B-A1D9-F255326F9DB5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E2CB-FA0B-4ABA-A1EA-CD7205E728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7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90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37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37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26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59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9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86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E2CB-FA0B-4ABA-A1EA-CD7205E728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30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818D-0F53-4D54-8791-BEC2A14D9F3D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C5E19-61EB-47A3-9FF9-BE70B4642F62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9514A-5AEE-4DED-BDA8-50402D14581F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174EA-BAD6-47D5-88B6-CD9B3871D5D4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2BCB-0123-4FD6-987B-601E7AADF466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35517-0C13-4474-B4C9-6E302BBF4C38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0A28-0983-46AE-9BAF-1D13FB78C21A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2FF1-C67E-49B0-93CF-D0EE91CB3421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B0F9-991A-4B7B-967C-D43C0AB2F02C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70D4B-CDF5-4D57-B6C8-3731635B7CAA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5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5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C6A5-7E5C-40E4-BE62-7823640DA2B4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3BCE-BF7A-428C-ABD2-974C69687518}" type="datetime1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AE108-8B8F-42B2-835C-18883C56945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0041" y="4033601"/>
            <a:ext cx="5071917" cy="20447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Supervisor: </a:t>
            </a:r>
            <a:r>
              <a:rPr lang="en-US" sz="1600" dirty="0">
                <a:solidFill>
                  <a:schemeClr val="tx1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Mohammad </a:t>
            </a:r>
            <a:r>
              <a:rPr lang="en-US" sz="1600" dirty="0" err="1">
                <a:solidFill>
                  <a:schemeClr val="tx1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Arif</a:t>
            </a:r>
            <a:r>
              <a:rPr lang="en-US" sz="1600" dirty="0">
                <a:solidFill>
                  <a:schemeClr val="tx1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 Hasan Chowdhury</a:t>
            </a: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, </a:t>
            </a:r>
            <a:r>
              <a:rPr lang="en-US" sz="1600" dirty="0">
                <a:solidFill>
                  <a:schemeClr val="tx1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Assistant Professor</a:t>
            </a:r>
            <a:endParaRPr lang="en-US" sz="1600" dirty="0">
              <a:solidFill>
                <a:schemeClr val="tx1"/>
              </a:solidFill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Students: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Md. </a:t>
            </a:r>
            <a:r>
              <a:rPr lang="en-US" sz="1600" dirty="0" err="1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Aftabul</a:t>
            </a: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 Islam – 22070103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Mohammad Mazharul Alam - 22070116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Year &amp; Semester: 4</a:t>
            </a:r>
            <a:r>
              <a:rPr lang="en-US" sz="1600" baseline="300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th</a:t>
            </a: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 Year 8</a:t>
            </a:r>
            <a:r>
              <a:rPr lang="en-US" sz="1600" baseline="300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st</a:t>
            </a:r>
            <a:r>
              <a:rPr lang="en-US" sz="1600" dirty="0">
                <a:solidFill>
                  <a:schemeClr val="tx1"/>
                </a:solidFill>
                <a:latin typeface="Adobe Arabic" panose="02040503050201020203" pitchFamily="18" charset="-78"/>
                <a:cs typeface="Adobe Arabic" panose="02040503050201020203" pitchFamily="18" charset="-78"/>
              </a:rPr>
              <a:t> Semester</a:t>
            </a:r>
            <a:endParaRPr lang="en-US" dirty="0">
              <a:solidFill>
                <a:schemeClr val="tx1"/>
              </a:solidFill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575249" y="1782148"/>
            <a:ext cx="6941975" cy="112900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Research Progress Monitoring-October 2023</a:t>
            </a:r>
          </a:p>
          <a:p>
            <a:r>
              <a:rPr lang="en-US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Title: Explainable AI-Based Early Severe Dengue Prediction using Hematological and Clinical Data</a:t>
            </a:r>
          </a:p>
          <a:p>
            <a:endParaRPr lang="en-US" sz="1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50283-E2E8-0ABA-19EC-B7DB4EABBA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49" y="227277"/>
            <a:ext cx="951717" cy="122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98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Presentation Outline</a:t>
            </a:r>
          </a:p>
        </p:txBody>
      </p:sp>
      <p:graphicFrame>
        <p:nvGraphicFramePr>
          <p:cNvPr id="41" name="Diagram 40"/>
          <p:cNvGraphicFramePr/>
          <p:nvPr>
            <p:extLst>
              <p:ext uri="{D42A27DB-BD31-4B8C-83A1-F6EECF244321}">
                <p14:modId xmlns:p14="http://schemas.microsoft.com/office/powerpoint/2010/main" val="2402931571"/>
              </p:ext>
            </p:extLst>
          </p:nvPr>
        </p:nvGraphicFramePr>
        <p:xfrm>
          <a:off x="729673" y="1671788"/>
          <a:ext cx="10030691" cy="5019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28897" y="5555908"/>
            <a:ext cx="206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Estimated Presentation Time: </a:t>
            </a:r>
          </a:p>
          <a:p>
            <a:pPr algn="ctr"/>
            <a:r>
              <a:rPr lang="en-US" sz="1200" dirty="0"/>
              <a:t>10 </a:t>
            </a:r>
            <a:r>
              <a:rPr lang="en-US" sz="1200"/>
              <a:t>- 12 </a:t>
            </a:r>
            <a:r>
              <a:rPr lang="en-US" sz="1200" dirty="0"/>
              <a:t>minutes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00" y="4691055"/>
            <a:ext cx="741049" cy="841402"/>
          </a:xfrm>
          <a:prstGeom prst="rect">
            <a:avLst/>
          </a:prstGeom>
        </p:spPr>
      </p:pic>
      <p:sp>
        <p:nvSpPr>
          <p:cNvPr id="4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</p:spPr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49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3800" y="609602"/>
            <a:ext cx="10353761" cy="505097"/>
          </a:xfrm>
        </p:spPr>
        <p:txBody>
          <a:bodyPr>
            <a:normAutofit fontScale="90000"/>
          </a:bodyPr>
          <a:lstStyle/>
          <a:p>
            <a:r>
              <a:rPr lang="en-US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&amp; Background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FF1D61F-B611-E2B9-F0BD-6B0E18E8D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3927"/>
            <a:ext cx="11169650" cy="4966393"/>
          </a:xfrm>
        </p:spPr>
        <p:txBody>
          <a:bodyPr>
            <a:normAutofit/>
          </a:bodyPr>
          <a:lstStyle/>
          <a:p>
            <a:r>
              <a:rPr lang="en-US" sz="1800" dirty="0"/>
              <a:t>Dengue fever remains a critical global health threat, often progressing to severe stages like shock if not detected through early diagnostic indicators.</a:t>
            </a:r>
          </a:p>
          <a:p>
            <a:r>
              <a:rPr lang="en-US" sz="1800" dirty="0"/>
              <a:t>Traditional clinical triage relies on static parameters, creating a need for intelligent predictive systems that can interpret complex hematological shifts.</a:t>
            </a:r>
          </a:p>
          <a:p>
            <a:r>
              <a:rPr lang="en-US" sz="1800" dirty="0"/>
              <a:t>This research presents an explainable machine learning approach to bridge the gap between black-box AI and clinical diagnostic trust for severe cases.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834B469B-D12E-4177-AE0D-4314AF2A0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780" y="3429000"/>
            <a:ext cx="4495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491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3800" y="609602"/>
            <a:ext cx="10353761" cy="505097"/>
          </a:xfrm>
        </p:spPr>
        <p:txBody>
          <a:bodyPr>
            <a:normAutofit fontScale="90000"/>
          </a:bodyPr>
          <a:lstStyle/>
          <a:p>
            <a:r>
              <a:rPr lang="en-US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Objectives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4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D5D89D6-2B2E-7231-2D90-8B697AF1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3927"/>
            <a:ext cx="11169650" cy="4966393"/>
          </a:xfrm>
        </p:spPr>
        <p:txBody>
          <a:bodyPr>
            <a:normAutofit/>
          </a:bodyPr>
          <a:lstStyle/>
          <a:p>
            <a:pPr>
              <a:spcAft>
                <a:spcPts val="3000"/>
              </a:spcAft>
            </a:pPr>
            <a:r>
              <a:rPr lang="en-US" sz="2400" dirty="0"/>
              <a:t>To develop a robust ensemble-based predictive model that identifies patients at high risk of dengue shock syndrome using baseline clinical and lab data.</a:t>
            </a:r>
          </a:p>
          <a:p>
            <a:pPr>
              <a:spcAft>
                <a:spcPts val="3000"/>
              </a:spcAft>
            </a:pPr>
            <a:r>
              <a:rPr lang="en-US" sz="2400" dirty="0"/>
              <a:t>To implement Explainable AI (XAI) using SHAP, providing clinicians with interpretable visual insights into the key symptoms driving specific patient risk scores.</a:t>
            </a:r>
          </a:p>
          <a:p>
            <a:pPr>
              <a:spcAft>
                <a:spcPts val="3000"/>
              </a:spcAft>
            </a:pPr>
            <a:r>
              <a:rPr lang="en-US" sz="2400" dirty="0"/>
              <a:t>To create an interactive real-time dashboard that forecasts platelet nadir and severity risk, enabling early intervention and optimized hospital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419861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3800" y="609602"/>
            <a:ext cx="10353761" cy="505097"/>
          </a:xfrm>
        </p:spPr>
        <p:txBody>
          <a:bodyPr>
            <a:normAutofit fontScale="90000"/>
          </a:bodyPr>
          <a:lstStyle/>
          <a:p>
            <a:r>
              <a:rPr lang="en-US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5</a:t>
            </a:fld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C450DEB-34F6-486C-959B-0C09F9CC8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53" y="1281109"/>
            <a:ext cx="9472037" cy="5328021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9D35C1-3ED2-4237-AB19-652917CAD336}"/>
              </a:ext>
            </a:extLst>
          </p:cNvPr>
          <p:cNvSpPr/>
          <p:nvPr/>
        </p:nvSpPr>
        <p:spPr>
          <a:xfrm>
            <a:off x="4972595" y="2582204"/>
            <a:ext cx="2508068" cy="3874414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92621-0F4A-4BFE-A79E-FC2C328B472B}"/>
              </a:ext>
            </a:extLst>
          </p:cNvPr>
          <p:cNvSpPr/>
          <p:nvPr/>
        </p:nvSpPr>
        <p:spPr>
          <a:xfrm>
            <a:off x="7725576" y="2623312"/>
            <a:ext cx="2508068" cy="4139278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08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17544" y="249382"/>
            <a:ext cx="10353761" cy="729674"/>
          </a:xfrm>
        </p:spPr>
        <p:txBody>
          <a:bodyPr>
            <a:normAutofit fontScale="90000"/>
          </a:bodyPr>
          <a:lstStyle/>
          <a:p>
            <a:r>
              <a:rPr lang="en-US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 (Work Done)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6</a:t>
            </a:fld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DE96AE5-C09D-4DF6-A7B9-148E9E0E7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925094"/>
              </p:ext>
            </p:extLst>
          </p:nvPr>
        </p:nvGraphicFramePr>
        <p:xfrm>
          <a:off x="2032000" y="97905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520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4E76-ECB8-4801-B6DC-263BB9C5B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/>
              <a:t>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7FB1E-440D-4D8B-9D4B-AA8FDA8B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 I run 3 of this model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Decision Tree</a:t>
            </a:r>
          </a:p>
          <a:p>
            <a:r>
              <a:rPr lang="en-US" dirty="0"/>
              <a:t>Random Forest</a:t>
            </a:r>
          </a:p>
          <a:p>
            <a:r>
              <a:rPr lang="en-US" altLang="en-US" dirty="0"/>
              <a:t>K-Nearest-Neighbors</a:t>
            </a:r>
            <a:r>
              <a:rPr lang="en-US" altLang="en-US" sz="2400" dirty="0"/>
              <a:t> </a:t>
            </a:r>
            <a:endParaRPr lang="en-US" altLang="en-US" sz="6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2811C-A256-48A7-A56A-ABC0AF93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8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BA25-961A-49AC-8AF5-5D44AFC6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37AE60-286A-4AA0-B427-FB9748518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91902"/>
            <a:ext cx="11185055" cy="47823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2BD2-DCAD-4D73-B33E-CB743195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2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3727-25AD-41BC-B6C8-5EC067FF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E214F-9B56-4B50-B22A-6125301C6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Train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9CA64F-6771-429E-A4A8-6471BA4ED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16543"/>
            <a:ext cx="5386388" cy="286795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3C3B7-6D2A-4D2B-85A2-00F2455B1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35CAD61-7431-4896-A412-BF0C0BB9F8F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73" y="2174875"/>
            <a:ext cx="4810891" cy="395128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CD279-CEF3-45D1-B01D-207D9419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38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B37A-5ED4-4FCE-89E5-4C6647F5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K-Nearest-Neighbors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AA847-52D0-452D-9BBC-33918ACA2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Train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6B70D88-21C0-491A-AF59-BEBCBAF35D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83669"/>
            <a:ext cx="5386388" cy="2919971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5EAA4-47C3-4291-8537-FF5EC3716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0AB48F-2D4B-4CBE-BE23-BBADDEF683B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773" y="2174875"/>
            <a:ext cx="4933691" cy="395128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39503-46F9-4DB7-A92C-E7E6E963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5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8F3F-446F-4342-9933-1A4EB137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5EEE9-7E28-422C-BAF1-B223CDFBC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Train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60280E-9DC2-4F6C-A979-CF96AC4517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35357"/>
            <a:ext cx="5386388" cy="3630324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E683C-8501-49E9-A34C-03517195D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0101D0-CB92-4A6C-BFDD-A867934053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773" y="2174875"/>
            <a:ext cx="4933691" cy="395128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115F9-0504-4747-862D-6E0340FB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72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4A9E-E6B4-4CFC-8956-534CEBD5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A2A7B-5B50-4CBD-BF01-E2CFB00DE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Comparison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646B3B-3D18-4B8B-ABC9-5880426A3E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38" y="2174875"/>
            <a:ext cx="4923912" cy="39512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901C0-F603-43B7-B554-A54EDCA60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Performance Comparison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FAB1D45-7BFB-4795-87D4-4D6BFBFD5C0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416" y="2174875"/>
            <a:ext cx="5296406" cy="3951288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05560-6FFA-4EF1-857F-08D85CFDD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97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17544" y="249382"/>
            <a:ext cx="10353761" cy="729674"/>
          </a:xfrm>
        </p:spPr>
        <p:txBody>
          <a:bodyPr>
            <a:normAutofit fontScale="90000"/>
          </a:bodyPr>
          <a:lstStyle/>
          <a:p>
            <a:r>
              <a:rPr lang="en-US" b="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Thesis Completion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13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D5D89D6-2B2E-7231-2D90-8B697AF1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3927"/>
            <a:ext cx="11169650" cy="4966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dirty="0"/>
              <a:t>1) How much have been achieved?</a:t>
            </a:r>
          </a:p>
          <a:p>
            <a:r>
              <a:rPr lang="en-US" sz="1800" dirty="0"/>
              <a:t>After studying various research papers and works of literature review, I learned about Various Models of machine learning.</a:t>
            </a:r>
          </a:p>
          <a:p>
            <a:r>
              <a:rPr lang="en-US" sz="1800" dirty="0"/>
              <a:t>Collect the dataset from GitHub </a:t>
            </a:r>
          </a:p>
          <a:p>
            <a:r>
              <a:rPr lang="en-US" sz="1900" dirty="0"/>
              <a:t>Completed training dataset using Decision Tree, K-Nearest-Neighbors , Random Forest algorithm.</a:t>
            </a:r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2) What are the obstacles or difficulties faced?</a:t>
            </a:r>
          </a:p>
          <a:p>
            <a:r>
              <a:rPr lang="en-US" altLang="en-US" sz="1800" dirty="0"/>
              <a:t>Data collection and paper downloading,  because many of the dataset and papers are paid versions so I just have a problem collecting a recent dataset and papers.</a:t>
            </a:r>
          </a:p>
          <a:p>
            <a:r>
              <a:rPr lang="en-US" altLang="en-US" sz="1800" dirty="0"/>
              <a:t>Increasing accuracy, here I just trained 3 model decision tree, K-Nearest-Neighbors and the random forest they didn't give me a better output so I tried to find the best </a:t>
            </a:r>
            <a:r>
              <a:rPr lang="en-US" altLang="en-US" sz="1800"/>
              <a:t>one  </a:t>
            </a:r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  <a:p>
            <a:pPr marL="0" indent="0">
              <a:buNone/>
            </a:pPr>
            <a:r>
              <a:rPr lang="en-US" altLang="en-US" sz="1800" dirty="0"/>
              <a:t>3) Earliest possible completion date?</a:t>
            </a:r>
          </a:p>
          <a:p>
            <a:r>
              <a:rPr lang="en-US" sz="1800" dirty="0">
                <a:cs typeface="Times New Roman" pitchFamily="18" charset="0"/>
              </a:rPr>
              <a:t>The rate we are going, we can possibly finish our thesis and others within December , 2023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6655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38060" y="4771397"/>
            <a:ext cx="2844800" cy="365125"/>
          </a:xfrm>
        </p:spPr>
        <p:txBody>
          <a:bodyPr/>
          <a:lstStyle/>
          <a:p>
            <a:fld id="{EEBAE108-8B8F-42B2-835C-18883C569451}" type="slidenum">
              <a:rPr lang="en-US" sz="1400" smtClean="0">
                <a:solidFill>
                  <a:schemeClr val="tx1"/>
                </a:solidFill>
              </a:rPr>
              <a:pPr/>
              <a:t>14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71BEDB-5498-45C8-B135-6207B8E519AF}"/>
              </a:ext>
            </a:extLst>
          </p:cNvPr>
          <p:cNvSpPr txBox="1">
            <a:spLocks/>
          </p:cNvSpPr>
          <p:nvPr/>
        </p:nvSpPr>
        <p:spPr>
          <a:xfrm>
            <a:off x="998191" y="118120"/>
            <a:ext cx="10161477" cy="701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 Planned</a:t>
            </a:r>
          </a:p>
        </p:txBody>
      </p:sp>
      <p:graphicFrame>
        <p:nvGraphicFramePr>
          <p:cNvPr id="10" name="Table 12">
            <a:extLst>
              <a:ext uri="{FF2B5EF4-FFF2-40B4-BE49-F238E27FC236}">
                <a16:creationId xmlns:a16="http://schemas.microsoft.com/office/drawing/2014/main" id="{63FA276A-E797-4684-A045-39D781B586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9827450"/>
              </p:ext>
            </p:extLst>
          </p:nvPr>
        </p:nvGraphicFramePr>
        <p:xfrm>
          <a:off x="113210" y="866249"/>
          <a:ext cx="11965580" cy="5863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3153">
                  <a:extLst>
                    <a:ext uri="{9D8B030D-6E8A-4147-A177-3AD203B41FA5}">
                      <a16:colId xmlns:a16="http://schemas.microsoft.com/office/drawing/2014/main" val="426860131"/>
                    </a:ext>
                  </a:extLst>
                </a:gridCol>
                <a:gridCol w="611953">
                  <a:extLst>
                    <a:ext uri="{9D8B030D-6E8A-4147-A177-3AD203B41FA5}">
                      <a16:colId xmlns:a16="http://schemas.microsoft.com/office/drawing/2014/main" val="1398143997"/>
                    </a:ext>
                  </a:extLst>
                </a:gridCol>
                <a:gridCol w="722105">
                  <a:extLst>
                    <a:ext uri="{9D8B030D-6E8A-4147-A177-3AD203B41FA5}">
                      <a16:colId xmlns:a16="http://schemas.microsoft.com/office/drawing/2014/main" val="2526087979"/>
                    </a:ext>
                  </a:extLst>
                </a:gridCol>
                <a:gridCol w="607930">
                  <a:extLst>
                    <a:ext uri="{9D8B030D-6E8A-4147-A177-3AD203B41FA5}">
                      <a16:colId xmlns:a16="http://schemas.microsoft.com/office/drawing/2014/main" val="1138794089"/>
                    </a:ext>
                  </a:extLst>
                </a:gridCol>
                <a:gridCol w="704410">
                  <a:extLst>
                    <a:ext uri="{9D8B030D-6E8A-4147-A177-3AD203B41FA5}">
                      <a16:colId xmlns:a16="http://schemas.microsoft.com/office/drawing/2014/main" val="4047708459"/>
                    </a:ext>
                  </a:extLst>
                </a:gridCol>
                <a:gridCol w="590738">
                  <a:extLst>
                    <a:ext uri="{9D8B030D-6E8A-4147-A177-3AD203B41FA5}">
                      <a16:colId xmlns:a16="http://schemas.microsoft.com/office/drawing/2014/main" val="86907167"/>
                    </a:ext>
                  </a:extLst>
                </a:gridCol>
                <a:gridCol w="631985">
                  <a:extLst>
                    <a:ext uri="{9D8B030D-6E8A-4147-A177-3AD203B41FA5}">
                      <a16:colId xmlns:a16="http://schemas.microsoft.com/office/drawing/2014/main" val="389158604"/>
                    </a:ext>
                  </a:extLst>
                </a:gridCol>
                <a:gridCol w="657264">
                  <a:extLst>
                    <a:ext uri="{9D8B030D-6E8A-4147-A177-3AD203B41FA5}">
                      <a16:colId xmlns:a16="http://schemas.microsoft.com/office/drawing/2014/main" val="1284011225"/>
                    </a:ext>
                  </a:extLst>
                </a:gridCol>
                <a:gridCol w="771022">
                  <a:extLst>
                    <a:ext uri="{9D8B030D-6E8A-4147-A177-3AD203B41FA5}">
                      <a16:colId xmlns:a16="http://schemas.microsoft.com/office/drawing/2014/main" val="2385690599"/>
                    </a:ext>
                  </a:extLst>
                </a:gridCol>
                <a:gridCol w="841737">
                  <a:extLst>
                    <a:ext uri="{9D8B030D-6E8A-4147-A177-3AD203B41FA5}">
                      <a16:colId xmlns:a16="http://schemas.microsoft.com/office/drawing/2014/main" val="352163879"/>
                    </a:ext>
                  </a:extLst>
                </a:gridCol>
                <a:gridCol w="799478">
                  <a:extLst>
                    <a:ext uri="{9D8B030D-6E8A-4147-A177-3AD203B41FA5}">
                      <a16:colId xmlns:a16="http://schemas.microsoft.com/office/drawing/2014/main" val="2473835060"/>
                    </a:ext>
                  </a:extLst>
                </a:gridCol>
                <a:gridCol w="741985">
                  <a:extLst>
                    <a:ext uri="{9D8B030D-6E8A-4147-A177-3AD203B41FA5}">
                      <a16:colId xmlns:a16="http://schemas.microsoft.com/office/drawing/2014/main" val="237220168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1176067429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3183109767"/>
                    </a:ext>
                  </a:extLst>
                </a:gridCol>
                <a:gridCol w="742955">
                  <a:extLst>
                    <a:ext uri="{9D8B030D-6E8A-4147-A177-3AD203B41FA5}">
                      <a16:colId xmlns:a16="http://schemas.microsoft.com/office/drawing/2014/main" val="3722793356"/>
                    </a:ext>
                  </a:extLst>
                </a:gridCol>
              </a:tblGrid>
              <a:tr h="71775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Title Time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Oct 2022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Nov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Dec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Jan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Feb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Mar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Apr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2022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May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Jun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Jul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Aug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Sep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Oct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Nov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Dec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558010"/>
                  </a:ext>
                </a:extLst>
              </a:tr>
              <a:tr h="5084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Thesis topic selection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219785"/>
                  </a:ext>
                </a:extLst>
              </a:tr>
              <a:tr h="5084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Literature</a:t>
                      </a:r>
                      <a:r>
                        <a:rPr lang="en-US" sz="1400" baseline="0" dirty="0">
                          <a:latin typeface="+mn-lt"/>
                          <a:cs typeface="Times New Roman" panose="02020603050405020304" pitchFamily="18" charset="0"/>
                        </a:rPr>
                        <a:t> Review</a:t>
                      </a:r>
                      <a:endParaRPr lang="en-US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710645"/>
                  </a:ext>
                </a:extLst>
              </a:tr>
              <a:tr h="5084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Research</a:t>
                      </a:r>
                      <a:r>
                        <a:rPr lang="en-US" sz="1400" baseline="0" dirty="0">
                          <a:latin typeface="+mn-lt"/>
                          <a:cs typeface="Times New Roman" panose="02020603050405020304" pitchFamily="18" charset="0"/>
                        </a:rPr>
                        <a:t> on Methodology</a:t>
                      </a:r>
                      <a:endParaRPr lang="en-US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797136"/>
                  </a:ext>
                </a:extLst>
              </a:tr>
              <a:tr h="35675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Data Collection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bg1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16019"/>
                  </a:ext>
                </a:extLst>
              </a:tr>
              <a:tr h="5084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1400" baseline="0" dirty="0">
                          <a:latin typeface="+mn-lt"/>
                          <a:cs typeface="Times New Roman" panose="02020603050405020304" pitchFamily="18" charset="0"/>
                        </a:rPr>
                        <a:t>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1946"/>
                  </a:ext>
                </a:extLst>
              </a:tr>
              <a:tr h="5084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Train Model</a:t>
                      </a:r>
                    </a:p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(running)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213830"/>
                  </a:ext>
                </a:extLst>
              </a:tr>
              <a:tr h="717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Model</a:t>
                      </a:r>
                      <a:r>
                        <a:rPr lang="en-US" sz="1400" baseline="0" dirty="0">
                          <a:latin typeface="+mn-lt"/>
                          <a:cs typeface="Times New Roman" panose="02020603050405020304" pitchFamily="18" charset="0"/>
                        </a:rPr>
                        <a:t> Optimization </a:t>
                      </a:r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(running)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197153"/>
                  </a:ext>
                </a:extLst>
              </a:tr>
              <a:tr h="7177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System Development (Pending)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775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anose="02020603050405020304" pitchFamily="18" charset="0"/>
                        </a:rPr>
                        <a:t>Thesis Writing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Times New Roman" panose="02020603050405020304" pitchFamily="18" charset="0"/>
                        </a:rPr>
                        <a:t>(Pending) </a:t>
                      </a:r>
                      <a:endParaRPr lang="en-US" sz="1400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Chapter 1&amp;2</a:t>
                      </a:r>
                    </a:p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  <a:cs typeface="Times New Roman" pitchFamily="18" charset="0"/>
                        </a:rPr>
                        <a:t>Chapter 1&amp;2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n-lt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033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508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AE6A-E80D-4B18-A384-9DA9F314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28CDA-EC40-4ED6-9577-D6627FA83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900" dirty="0">
                <a:solidFill>
                  <a:srgbClr val="333333"/>
                </a:solidFill>
                <a:cs typeface="+mn-lt"/>
                <a:sym typeface="+mn-ea"/>
              </a:rPr>
              <a:t>[1]</a:t>
            </a:r>
            <a:r>
              <a:rPr lang="en-US" sz="1900" b="1" dirty="0">
                <a:solidFill>
                  <a:srgbClr val="000000"/>
                </a:solidFill>
                <a:cs typeface="+mn-lt"/>
                <a:sym typeface="+mn-ea"/>
              </a:rPr>
              <a:t> 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Metaheuristics With Deep Learning Model For Cybersecurity And Android Malware Detection And Classification</a:t>
            </a:r>
            <a:r>
              <a:rPr lang="en-US" sz="1900" b="1" dirty="0">
                <a:solidFill>
                  <a:srgbClr val="000000"/>
                </a:solidFill>
                <a:cs typeface="+mn-lt"/>
                <a:sym typeface="+mn-ea"/>
              </a:rPr>
              <a:t>,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Ashwag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Albakri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</a:t>
            </a:r>
            <a:r>
              <a:rPr lang="en-US" sz="1900" b="1" dirty="0">
                <a:solidFill>
                  <a:srgbClr val="000000"/>
                </a:solidFill>
                <a:cs typeface="+mn-lt"/>
                <a:sym typeface="+mn-ea"/>
              </a:rPr>
              <a:t>, </a:t>
            </a: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Department Of Computer Science, College Of Computer Science &amp; Information Technology, </a:t>
            </a:r>
            <a:r>
              <a:rPr lang="en-US" sz="1900" dirty="0" err="1">
                <a:solidFill>
                  <a:srgbClr val="222222"/>
                </a:solidFill>
                <a:cs typeface="+mn-lt"/>
                <a:sym typeface="+mn-ea"/>
              </a:rPr>
              <a:t>Jazan</a:t>
            </a: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 University, </a:t>
            </a:r>
            <a:r>
              <a:rPr lang="en-US" sz="1900" dirty="0" err="1">
                <a:solidFill>
                  <a:srgbClr val="222222"/>
                </a:solidFill>
                <a:cs typeface="+mn-lt"/>
                <a:sym typeface="+mn-ea"/>
              </a:rPr>
              <a:t>Jazan</a:t>
            </a: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 45142, Saudi Arabia , Published : 8 February 2023.</a:t>
            </a:r>
            <a:b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</a:br>
            <a:b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</a:b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[2] 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Malware Detection Using Deep Learning And Correlation-based Feature Selection </a:t>
            </a:r>
            <a:r>
              <a:rPr lang="en-US" sz="1900" b="1" dirty="0">
                <a:solidFill>
                  <a:srgbClr val="000000"/>
                </a:solidFill>
                <a:cs typeface="+mn-lt"/>
                <a:sym typeface="+mn-ea"/>
              </a:rPr>
              <a:t>,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Esraa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Saleh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Alomari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 , Riyadh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Rahef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Nuiaa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 , </a:t>
            </a:r>
            <a:br>
              <a:rPr lang="en-US" sz="1900" dirty="0">
                <a:cs typeface="+mn-lt"/>
                <a:sym typeface="+mn-ea"/>
              </a:rPr>
            </a:b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College Of Education For Pure Sciences, </a:t>
            </a:r>
            <a:r>
              <a:rPr lang="en-US" sz="1900" dirty="0" err="1">
                <a:solidFill>
                  <a:srgbClr val="222222"/>
                </a:solidFill>
                <a:cs typeface="+mn-lt"/>
                <a:sym typeface="+mn-ea"/>
              </a:rPr>
              <a:t>Wasit</a:t>
            </a: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 University, Al-</a:t>
            </a:r>
            <a:r>
              <a:rPr lang="en-US" sz="1900" dirty="0" err="1">
                <a:solidFill>
                  <a:srgbClr val="222222"/>
                </a:solidFill>
                <a:cs typeface="+mn-lt"/>
                <a:sym typeface="+mn-ea"/>
              </a:rPr>
              <a:t>kut</a:t>
            </a: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 52001, Iraq , Published : 1 January 2023 .</a:t>
            </a:r>
            <a:b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</a:br>
            <a:b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</a:b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[3]</a:t>
            </a:r>
            <a:r>
              <a:rPr lang="en-US" sz="1900" b="1" dirty="0">
                <a:solidFill>
                  <a:srgbClr val="000000"/>
                </a:solidFill>
                <a:cs typeface="+mn-lt"/>
                <a:sym typeface="+mn-ea"/>
              </a:rPr>
              <a:t>,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Juan A. Herrera-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silva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, Myriam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Hernánddynamic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Feature Dataset For Ransomware Detection Using Machine Learning Algorithms </a:t>
            </a:r>
            <a:r>
              <a:rPr lang="en-US" sz="1900" dirty="0" err="1">
                <a:solidFill>
                  <a:srgbClr val="000000"/>
                </a:solidFill>
                <a:cs typeface="+mn-lt"/>
                <a:sym typeface="+mn-ea"/>
              </a:rPr>
              <a:t>Ez-álvarez</a:t>
            </a:r>
            <a:r>
              <a:rPr lang="en-US" sz="1900" dirty="0">
                <a:solidFill>
                  <a:srgbClr val="000000"/>
                </a:solidFill>
                <a:cs typeface="+mn-lt"/>
                <a:sym typeface="+mn-ea"/>
              </a:rPr>
              <a:t> </a:t>
            </a:r>
            <a:r>
              <a:rPr lang="en-US" sz="1900" b="1" dirty="0">
                <a:solidFill>
                  <a:srgbClr val="000000"/>
                </a:solidFill>
                <a:cs typeface="+mn-lt"/>
                <a:sym typeface="+mn-ea"/>
              </a:rPr>
              <a:t>,</a:t>
            </a:r>
            <a:r>
              <a:rPr lang="es-ES" sz="1900" dirty="0">
                <a:solidFill>
                  <a:srgbClr val="222222"/>
                </a:solidFill>
                <a:cs typeface="+mn-lt"/>
                <a:sym typeface="+mn-ea"/>
              </a:rPr>
              <a:t>  Ladrón De Guevara E11-25 Y Andalucía, Edificio De Sistemas, Quito 170525, Ecuador, </a:t>
            </a: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Published : 17 January 2023.</a:t>
            </a:r>
            <a:b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</a:br>
            <a:b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</a:br>
            <a:r>
              <a:rPr lang="en-US" sz="1900" dirty="0">
                <a:solidFill>
                  <a:srgbClr val="222222"/>
                </a:solidFill>
                <a:cs typeface="+mn-lt"/>
                <a:sym typeface="+mn-ea"/>
              </a:rPr>
              <a:t>[4]</a:t>
            </a:r>
            <a:r>
              <a:rPr lang="en-US" sz="1900" dirty="0">
                <a:cs typeface="+mn-lt"/>
                <a:sym typeface="+mn-ea"/>
              </a:rPr>
              <a:t> Malware Detection Using Machine Learning , Dragos¸ </a:t>
            </a:r>
            <a:r>
              <a:rPr lang="en-US" sz="1900" dirty="0" err="1">
                <a:cs typeface="+mn-lt"/>
                <a:sym typeface="+mn-ea"/>
              </a:rPr>
              <a:t>Gavrilut</a:t>
            </a:r>
            <a:r>
              <a:rPr lang="en-US" sz="1900" dirty="0">
                <a:cs typeface="+mn-lt"/>
                <a:sym typeface="+mn-ea"/>
              </a:rPr>
              <a:t> , Faculty Of Computer Science, “Al. I. </a:t>
            </a:r>
            <a:r>
              <a:rPr lang="en-US" sz="1900" dirty="0" err="1">
                <a:cs typeface="+mn-lt"/>
                <a:sym typeface="+mn-ea"/>
              </a:rPr>
              <a:t>Cuza</a:t>
            </a:r>
            <a:r>
              <a:rPr lang="en-US" sz="1900" dirty="0">
                <a:cs typeface="+mn-lt"/>
                <a:sym typeface="+mn-ea"/>
              </a:rPr>
              <a:t>” University Of </a:t>
            </a:r>
            <a:r>
              <a:rPr lang="en-US" sz="1900" dirty="0" err="1">
                <a:cs typeface="+mn-lt"/>
                <a:sym typeface="+mn-ea"/>
              </a:rPr>
              <a:t>Ias¸i</a:t>
            </a:r>
            <a:r>
              <a:rPr lang="en-US" sz="1900" dirty="0">
                <a:cs typeface="+mn-lt"/>
                <a:sym typeface="+mn-ea"/>
              </a:rPr>
              <a:t>, Romania, Published : 2 February 2023</a:t>
            </a:r>
            <a:br>
              <a:rPr lang="en-US" sz="1900" dirty="0">
                <a:cs typeface="+mn-lt"/>
                <a:sym typeface="+mn-ea"/>
              </a:rPr>
            </a:br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7DD68-3072-410E-8B42-DACD1F34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E108-8B8F-42B2-835C-18883C56945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32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981B91C-88F0-76A3-2719-313D68FB19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651">
                  <a:tint val="66000"/>
                  <a:satMod val="160000"/>
                </a:srgbClr>
              </a:gs>
              <a:gs pos="50000">
                <a:srgbClr val="00A651">
                  <a:tint val="44500"/>
                  <a:satMod val="160000"/>
                </a:srgbClr>
              </a:gs>
              <a:gs pos="100000">
                <a:srgbClr val="00A651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B212009-2EE2-A637-4178-4495A10F43E2}"/>
              </a:ext>
            </a:extLst>
          </p:cNvPr>
          <p:cNvSpPr txBox="1"/>
          <p:nvPr/>
        </p:nvSpPr>
        <p:spPr>
          <a:xfrm>
            <a:off x="4245970" y="2192717"/>
            <a:ext cx="3074492" cy="1754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lvl1pPr>
              <a:defRPr sz="3000">
                <a:solidFill>
                  <a:srgbClr val="FFFFFF"/>
                </a:solidFill>
                <a:latin typeface="ITC Avant Garde Std Md"/>
                <a:ea typeface="ITC Avant Garde Std Md"/>
                <a:cs typeface="ITC Avant Garde Std Md"/>
                <a:sym typeface="ITC Avant Garde Std Md"/>
              </a:defRPr>
            </a:lvl1pPr>
          </a:lstStyle>
          <a:p>
            <a:pPr algn="ctr"/>
            <a:r>
              <a:rPr lang="en-US" sz="5400" b="1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rPr>
              <a:t>Thank you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  <a:latin typeface="+mn-lt"/>
                <a:ea typeface="Verdana" panose="020B060403050404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19057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5185</TotalTime>
  <Words>689</Words>
  <Application>Microsoft Office PowerPoint</Application>
  <PresentationFormat>Widescreen</PresentationFormat>
  <Paragraphs>128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Adobe Arabic</vt:lpstr>
      <vt:lpstr>Arial</vt:lpstr>
      <vt:lpstr>Calibri</vt:lpstr>
      <vt:lpstr>Office Theme</vt:lpstr>
      <vt:lpstr>PowerPoint Presentation</vt:lpstr>
      <vt:lpstr>Presentation Outline</vt:lpstr>
      <vt:lpstr>Introduction &amp; Background</vt:lpstr>
      <vt:lpstr>Research Objectives</vt:lpstr>
      <vt:lpstr>Methodology</vt:lpstr>
      <vt:lpstr>Progress (Work Done)</vt:lpstr>
      <vt:lpstr>Model </vt:lpstr>
      <vt:lpstr>Dataset</vt:lpstr>
      <vt:lpstr>Decision Tree</vt:lpstr>
      <vt:lpstr>K-Nearest-Neighbors  </vt:lpstr>
      <vt:lpstr>Random Forest</vt:lpstr>
      <vt:lpstr>Performance Comparison </vt:lpstr>
      <vt:lpstr>Thesis Completion 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Attribute-driven Face Image Retrieval</dc:title>
  <dc:creator>SIFIR</dc:creator>
  <cp:lastModifiedBy>Mazharul alam</cp:lastModifiedBy>
  <cp:revision>326</cp:revision>
  <dcterms:created xsi:type="dcterms:W3CDTF">2016-03-21T07:49:48Z</dcterms:created>
  <dcterms:modified xsi:type="dcterms:W3CDTF">2026-02-23T19:09:27Z</dcterms:modified>
</cp:coreProperties>
</file>